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5143500" cx="9144000"/>
  <p:notesSz cx="6858000" cy="9144000"/>
  <p:embeddedFontLst>
    <p:embeddedFont>
      <p:font typeface="Nunito"/>
      <p:regular r:id="rId39"/>
      <p:bold r:id="rId40"/>
      <p:italic r:id="rId41"/>
      <p:boldItalic r:id="rId42"/>
    </p:embeddedFont>
    <p:embeddedFont>
      <p:font typeface="Maven Pro SemiBold"/>
      <p:regular r:id="rId43"/>
      <p:bold r:id="rId44"/>
    </p:embeddedFont>
    <p:embeddedFont>
      <p:font typeface="Maven Pro Black"/>
      <p:bold r:id="rId45"/>
    </p:embeddedFont>
    <p:embeddedFont>
      <p:font typeface="Maven Pro"/>
      <p:regular r:id="rId46"/>
      <p:bold r:id="rId47"/>
    </p:embeddedFont>
    <p:embeddedFont>
      <p:font typeface="Maven Pro Medium"/>
      <p:regular r:id="rId48"/>
      <p:bold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907">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907"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Nunito-bold.fntdata"/><Relationship Id="rId42" Type="http://schemas.openxmlformats.org/officeDocument/2006/relationships/font" Target="fonts/Nunito-boldItalic.fntdata"/><Relationship Id="rId41" Type="http://schemas.openxmlformats.org/officeDocument/2006/relationships/font" Target="fonts/Nunito-italic.fntdata"/><Relationship Id="rId44" Type="http://schemas.openxmlformats.org/officeDocument/2006/relationships/font" Target="fonts/MavenProSemiBold-bold.fntdata"/><Relationship Id="rId43" Type="http://schemas.openxmlformats.org/officeDocument/2006/relationships/font" Target="fonts/MavenProSemiBold-regular.fntdata"/><Relationship Id="rId46" Type="http://schemas.openxmlformats.org/officeDocument/2006/relationships/font" Target="fonts/MavenPro-regular.fntdata"/><Relationship Id="rId45" Type="http://schemas.openxmlformats.org/officeDocument/2006/relationships/font" Target="fonts/MavenProBlack-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MavenProMedium-regular.fntdata"/><Relationship Id="rId47" Type="http://schemas.openxmlformats.org/officeDocument/2006/relationships/font" Target="fonts/MavenPro-bold.fntdata"/><Relationship Id="rId49" Type="http://schemas.openxmlformats.org/officeDocument/2006/relationships/font" Target="fonts/MavenProMedium-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font" Target="fonts/Nunito-regular.fntdata"/><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5733a94491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5733a94491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53fb2d7fa8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53fb2d7fa8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53fb2d7fa8_0_1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53fb2d7fa8_0_1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53fb2d7fa8_0_13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53fb2d7fa8_0_1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53fb2d7fa8_0_13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53fb2d7fa8_0_13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53fb2d7fa8_0_1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53fb2d7fa8_0_1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53fb2d7fa8_0_1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53fb2d7fa8_0_1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53fb2d7fa8_0_13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53fb2d7fa8_0_1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53fb2d7fa8_3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53fb2d7fa8_3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53fb2d7fa8_0_1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53fb2d7fa8_0_1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53fb2d7fa8_0_14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53fb2d7fa8_0_14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53fb2d7fa8_3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53fb2d7fa8_3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53fb2d7fa8_0_1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353fb2d7fa8_0_1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53fb2d7fa8_3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353fb2d7fa8_3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53fb2d7fa8_0_14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53fb2d7fa8_0_14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53fb2d7fa8_0_14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53fb2d7fa8_0_1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53fb2d7fa8_3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353fb2d7fa8_3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53fb2d7fa8_0_14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53fb2d7fa8_0_14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53fb2d7fa8_0_1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353fb2d7fa8_0_14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54c896198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354c896198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54c896198a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354c896198a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54c896198a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354c896198a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54c896198a_1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54c896198a_1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5733a94491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35733a94491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54c896198a_1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354c896198a_1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54c896198a_1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354c896198a_1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54c896198a_1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354c896198a_1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5547613632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5547613632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5547613632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554761363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5547613632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35547613632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554ddba0d5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554ddba0d5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5733a94491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35733a94491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554ddba0d5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3554ddba0d5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hyperlink" Target="https://www.fibermall.com/es/blog/how-many-optical-transceivers-needed-for-gpu.htm"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0.png"/></Relationships>
</file>

<file path=ppt/slides/_rels/slide33.xml.rels><?xml version="1.0" encoding="UTF-8" standalone="yes"?><Relationships xmlns="http://schemas.openxmlformats.org/package/2006/relationships"><Relationship Id="rId20" Type="http://schemas.openxmlformats.org/officeDocument/2006/relationships/hyperlink" Target="https://www.businesswire.com/news/home/20250114920576/en/Ultra-Accelerator-Link-Consortium-UALink-Welcomes-Alibaba-Apple-and-Synopsys-to-Board-of-Directors" TargetMode="External"/><Relationship Id="rId22" Type="http://schemas.openxmlformats.org/officeDocument/2006/relationships/hyperlink" Target="https://forum-en.msi.com/index.php?threads/pci-express-on-crossfire-boards.134710/" TargetMode="External"/><Relationship Id="rId21" Type="http://schemas.openxmlformats.org/officeDocument/2006/relationships/hyperlink" Target="https://www.hpcwire.com/2024/05/30/everyone-except-nvidia-forms-ultra-accelerator-link-ualink-consortium/" TargetMode="External"/><Relationship Id="rId24" Type="http://schemas.openxmlformats.org/officeDocument/2006/relationships/hyperlink" Target="https://www.ecured.cu/PCI_Express" TargetMode="External"/><Relationship Id="rId23" Type="http://schemas.openxmlformats.org/officeDocument/2006/relationships/hyperlink" Target="https://docs.nvidia.com/gameworks/content/technologies/desktop/sli.htm" TargetMode="External"/><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hyperlink" Target="https://aulavirtual.sld.cu/pluginfile.php/6323/mod_imscp/content/1/tipos_de_buses_de_computadoras.html" TargetMode="External"/><Relationship Id="rId4" Type="http://schemas.openxmlformats.org/officeDocument/2006/relationships/hyperlink" Target="https://en.wikichip.org/wiki/amd/infinity_fabric" TargetMode="External"/><Relationship Id="rId9" Type="http://schemas.openxmlformats.org/officeDocument/2006/relationships/hyperlink" Target="https://hardwaresecrets.com/everything-you-need-to-know-about-the-quickpath-interconnect-qpi/" TargetMode="External"/><Relationship Id="rId26" Type="http://schemas.openxmlformats.org/officeDocument/2006/relationships/hyperlink" Target="https://hardzone.es/reportajes/que-es/pci-express-caracteristicas/" TargetMode="External"/><Relationship Id="rId25" Type="http://schemas.openxmlformats.org/officeDocument/2006/relationships/hyperlink" Target="https://www.engadget.com/pci-express-7-launching-in-2025-with-512-g-bs-speeds-090102752.html" TargetMode="External"/><Relationship Id="rId5" Type="http://schemas.openxmlformats.org/officeDocument/2006/relationships/hyperlink" Target="https://es.wikipedia.org/wiki/Intel_QuickPath_Interconnect" TargetMode="External"/><Relationship Id="rId6" Type="http://schemas.openxmlformats.org/officeDocument/2006/relationships/hyperlink" Target="https://www.intel.la/content/www/xl/es/io/quickpath-technology/quickpath-technology-general.html" TargetMode="External"/><Relationship Id="rId7" Type="http://schemas.openxmlformats.org/officeDocument/2006/relationships/hyperlink" Target="https://www.toolify.ai/es/hardwarees/el-intel-quickpath-interconnect-qpi-todo-lo-que-debes-saber-3188951" TargetMode="External"/><Relationship Id="rId8" Type="http://schemas.openxmlformats.org/officeDocument/2006/relationships/hyperlink" Target="https://www.intel.cn/content/dam/doc/white-paper/quick-path-interconnect-introduction-paper.pdf" TargetMode="External"/><Relationship Id="rId11" Type="http://schemas.openxmlformats.org/officeDocument/2006/relationships/hyperlink" Target="https://www.microway.com/knowledge-center-articles/detailed-specifications-of-the-skylake-sp-intel-xeon-processor-scalable-family-cpus/" TargetMode="External"/><Relationship Id="rId10" Type="http://schemas.openxmlformats.org/officeDocument/2006/relationships/hyperlink" Target="https://old.hotchips.org/wp-content/uploads/hc_archives/hc21/1_sun/HC21.23.1.SystemInterconnectTutorial-Epub/HC21.23.120.Safranek-Intel-QPI.pdf" TargetMode="External"/><Relationship Id="rId13" Type="http://schemas.openxmlformats.org/officeDocument/2006/relationships/hyperlink" Target="https://en.wikipedia.org/wiki/Skylake_(microarchitecture)#Skylake-SP_(14_nm)_Scalable_Performance" TargetMode="External"/><Relationship Id="rId12" Type="http://schemas.openxmlformats.org/officeDocument/2006/relationships/hyperlink" Target="https://dbpedia.org/page/Intel_Ultra_Path_Interconnect" TargetMode="External"/><Relationship Id="rId15" Type="http://schemas.openxmlformats.org/officeDocument/2006/relationships/hyperlink" Target="https://en.wikichip.org/wiki/nvidia/nvlink" TargetMode="External"/><Relationship Id="rId14" Type="http://schemas.openxmlformats.org/officeDocument/2006/relationships/hyperlink" Target="https://hc34.hotchips.org/assets/program/conference/day2/Network%20and%20Switches/NVSwitch%20HotChips%202022%20r5.pdf" TargetMode="External"/><Relationship Id="rId17" Type="http://schemas.openxmlformats.org/officeDocument/2006/relationships/hyperlink" Target="https://blogs.nvidia.com/blog/what-is-nvidia-nvlink/" TargetMode="External"/><Relationship Id="rId16" Type="http://schemas.openxmlformats.org/officeDocument/2006/relationships/hyperlink" Target="https://www.fs.com/blog/fs-an-overview-of-nvidia-nvlink-2899.html" TargetMode="External"/><Relationship Id="rId19" Type="http://schemas.openxmlformats.org/officeDocument/2006/relationships/hyperlink" Target="https://www.asteralabs.com/building-the-case-for-ualink-a-dedicated-scale-up-memory-semantic-fabric/" TargetMode="External"/><Relationship Id="rId18" Type="http://schemas.openxmlformats.org/officeDocument/2006/relationships/hyperlink" Target="https://www.fibermall.com/es/blog/what-is-nvidia-nvlink.ht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s"/>
              <a:t>Redes de interconexi</a:t>
            </a:r>
            <a:r>
              <a:rPr lang="es"/>
              <a:t>ón internas en sistemas multicore</a:t>
            </a:r>
            <a:endParaRPr/>
          </a:p>
        </p:txBody>
      </p:sp>
      <p:sp>
        <p:nvSpPr>
          <p:cNvPr id="278" name="Google Shape;278;p13"/>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Realizado por Daniel S</a:t>
            </a:r>
            <a:r>
              <a:rPr lang="es"/>
              <a:t>ánchez Gutiérrez e Ignacio Caballero Román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4"/>
          <p:cNvSpPr txBox="1"/>
          <p:nvPr>
            <p:ph idx="1" type="subTitle"/>
          </p:nvPr>
        </p:nvSpPr>
        <p:spPr>
          <a:xfrm>
            <a:off x="475375" y="401075"/>
            <a:ext cx="8198400" cy="695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sz="3200">
                <a:latin typeface="Maven Pro Black"/>
                <a:ea typeface="Maven Pro Black"/>
                <a:cs typeface="Maven Pro Black"/>
                <a:sym typeface="Maven Pro Black"/>
              </a:rPr>
              <a:t>Índice</a:t>
            </a:r>
            <a:endParaRPr sz="3200">
              <a:latin typeface="Maven Pro Black"/>
              <a:ea typeface="Maven Pro Black"/>
              <a:cs typeface="Maven Pro Black"/>
              <a:sym typeface="Maven Pro Black"/>
            </a:endParaRPr>
          </a:p>
        </p:txBody>
      </p:sp>
      <p:sp>
        <p:nvSpPr>
          <p:cNvPr id="284" name="Google Shape;284;p14"/>
          <p:cNvSpPr txBox="1"/>
          <p:nvPr/>
        </p:nvSpPr>
        <p:spPr>
          <a:xfrm>
            <a:off x="475375" y="1457325"/>
            <a:ext cx="8198400" cy="31797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lt1"/>
              </a:buClr>
              <a:buSzPts val="1600"/>
              <a:buFont typeface="Maven Pro Medium"/>
              <a:buAutoNum type="arabicPeriod"/>
            </a:pPr>
            <a:r>
              <a:rPr lang="es" sz="1600">
                <a:solidFill>
                  <a:schemeClr val="lt1"/>
                </a:solidFill>
                <a:latin typeface="Maven Pro Medium"/>
                <a:ea typeface="Maven Pro Medium"/>
                <a:cs typeface="Maven Pro Medium"/>
                <a:sym typeface="Maven Pro Medium"/>
              </a:rPr>
              <a:t>Introducción</a:t>
            </a:r>
            <a:endParaRPr sz="1600">
              <a:solidFill>
                <a:schemeClr val="lt1"/>
              </a:solidFill>
              <a:latin typeface="Maven Pro Medium"/>
              <a:ea typeface="Maven Pro Medium"/>
              <a:cs typeface="Maven Pro Medium"/>
              <a:sym typeface="Maven Pro Medium"/>
            </a:endParaRPr>
          </a:p>
          <a:p>
            <a:pPr indent="-330200" lvl="0" marL="457200" rtl="0" algn="l">
              <a:spcBef>
                <a:spcPts val="0"/>
              </a:spcBef>
              <a:spcAft>
                <a:spcPts val="0"/>
              </a:spcAft>
              <a:buClr>
                <a:schemeClr val="lt1"/>
              </a:buClr>
              <a:buSzPts val="1600"/>
              <a:buFont typeface="Maven Pro Medium"/>
              <a:buAutoNum type="arabicPeriod"/>
            </a:pPr>
            <a:r>
              <a:rPr lang="es" sz="1600">
                <a:solidFill>
                  <a:schemeClr val="lt1"/>
                </a:solidFill>
                <a:latin typeface="Maven Pro Medium"/>
                <a:ea typeface="Maven Pro Medium"/>
                <a:cs typeface="Maven Pro Medium"/>
                <a:sym typeface="Maven Pro Medium"/>
              </a:rPr>
              <a:t>Buses</a:t>
            </a:r>
            <a:endParaRPr sz="1600">
              <a:solidFill>
                <a:schemeClr val="lt1"/>
              </a:solidFill>
              <a:latin typeface="Maven Pro Medium"/>
              <a:ea typeface="Maven Pro Medium"/>
              <a:cs typeface="Maven Pro Medium"/>
              <a:sym typeface="Maven Pro Medium"/>
            </a:endParaRPr>
          </a:p>
          <a:p>
            <a:pPr indent="-330200" lvl="1" marL="914400" rtl="0" algn="l">
              <a:spcBef>
                <a:spcPts val="0"/>
              </a:spcBef>
              <a:spcAft>
                <a:spcPts val="0"/>
              </a:spcAft>
              <a:buClr>
                <a:schemeClr val="lt1"/>
              </a:buClr>
              <a:buSzPts val="1600"/>
              <a:buFont typeface="Maven Pro Medium"/>
              <a:buAutoNum type="arabicPeriod"/>
            </a:pPr>
            <a:r>
              <a:rPr lang="es" sz="1600">
                <a:solidFill>
                  <a:schemeClr val="lt1"/>
                </a:solidFill>
                <a:latin typeface="Maven Pro Medium"/>
                <a:ea typeface="Maven Pro Medium"/>
                <a:cs typeface="Maven Pro Medium"/>
                <a:sym typeface="Maven Pro Medium"/>
              </a:rPr>
              <a:t>Introducción a los Buses</a:t>
            </a:r>
            <a:endParaRPr sz="1600">
              <a:solidFill>
                <a:schemeClr val="lt1"/>
              </a:solidFill>
              <a:latin typeface="Maven Pro Medium"/>
              <a:ea typeface="Maven Pro Medium"/>
              <a:cs typeface="Maven Pro Medium"/>
              <a:sym typeface="Maven Pro Medium"/>
            </a:endParaRPr>
          </a:p>
          <a:p>
            <a:pPr indent="-330200" lvl="1" marL="914400" rtl="0" algn="l">
              <a:spcBef>
                <a:spcPts val="0"/>
              </a:spcBef>
              <a:spcAft>
                <a:spcPts val="0"/>
              </a:spcAft>
              <a:buClr>
                <a:schemeClr val="lt1"/>
              </a:buClr>
              <a:buSzPts val="1600"/>
              <a:buFont typeface="Maven Pro Medium"/>
              <a:buAutoNum type="arabicPeriod"/>
            </a:pPr>
            <a:r>
              <a:rPr lang="es" sz="1600">
                <a:solidFill>
                  <a:schemeClr val="lt1"/>
                </a:solidFill>
                <a:latin typeface="Maven Pro Medium"/>
                <a:ea typeface="Maven Pro Medium"/>
                <a:cs typeface="Maven Pro Medium"/>
                <a:sym typeface="Maven Pro Medium"/>
              </a:rPr>
              <a:t>Hypertransport</a:t>
            </a:r>
            <a:endParaRPr sz="1600">
              <a:solidFill>
                <a:schemeClr val="lt1"/>
              </a:solidFill>
              <a:latin typeface="Maven Pro Medium"/>
              <a:ea typeface="Maven Pro Medium"/>
              <a:cs typeface="Maven Pro Medium"/>
              <a:sym typeface="Maven Pro Medium"/>
            </a:endParaRPr>
          </a:p>
          <a:p>
            <a:pPr indent="-330200" lvl="1" marL="914400" rtl="0" algn="l">
              <a:spcBef>
                <a:spcPts val="0"/>
              </a:spcBef>
              <a:spcAft>
                <a:spcPts val="0"/>
              </a:spcAft>
              <a:buClr>
                <a:schemeClr val="lt1"/>
              </a:buClr>
              <a:buSzPts val="1600"/>
              <a:buFont typeface="Maven Pro Medium"/>
              <a:buAutoNum type="arabicPeriod"/>
            </a:pPr>
            <a:r>
              <a:rPr lang="es" sz="1600">
                <a:solidFill>
                  <a:schemeClr val="lt1"/>
                </a:solidFill>
                <a:latin typeface="Maven Pro Medium"/>
                <a:ea typeface="Maven Pro Medium"/>
                <a:cs typeface="Maven Pro Medium"/>
                <a:sym typeface="Maven Pro Medium"/>
              </a:rPr>
              <a:t>Intel QuickPath Interconnect</a:t>
            </a:r>
            <a:endParaRPr sz="1600">
              <a:solidFill>
                <a:schemeClr val="lt1"/>
              </a:solidFill>
              <a:latin typeface="Maven Pro Medium"/>
              <a:ea typeface="Maven Pro Medium"/>
              <a:cs typeface="Maven Pro Medium"/>
              <a:sym typeface="Maven Pro Medium"/>
            </a:endParaRPr>
          </a:p>
          <a:p>
            <a:pPr indent="-330200" lvl="1" marL="914400" rtl="0" algn="l">
              <a:spcBef>
                <a:spcPts val="0"/>
              </a:spcBef>
              <a:spcAft>
                <a:spcPts val="0"/>
              </a:spcAft>
              <a:buClr>
                <a:schemeClr val="lt1"/>
              </a:buClr>
              <a:buSzPts val="1600"/>
              <a:buFont typeface="Maven Pro Medium"/>
              <a:buAutoNum type="arabicPeriod"/>
            </a:pPr>
            <a:r>
              <a:rPr lang="es" sz="1600">
                <a:solidFill>
                  <a:schemeClr val="lt1"/>
                </a:solidFill>
                <a:latin typeface="Maven Pro Medium"/>
                <a:ea typeface="Maven Pro Medium"/>
                <a:cs typeface="Maven Pro Medium"/>
                <a:sym typeface="Maven Pro Medium"/>
              </a:rPr>
              <a:t>Intel UltraPath Interconnect</a:t>
            </a:r>
            <a:endParaRPr sz="1600">
              <a:solidFill>
                <a:schemeClr val="lt1"/>
              </a:solidFill>
              <a:latin typeface="Maven Pro Medium"/>
              <a:ea typeface="Maven Pro Medium"/>
              <a:cs typeface="Maven Pro Medium"/>
              <a:sym typeface="Maven Pro Medium"/>
            </a:endParaRPr>
          </a:p>
          <a:p>
            <a:pPr indent="-330200" lvl="1" marL="914400" rtl="0" algn="l">
              <a:spcBef>
                <a:spcPts val="0"/>
              </a:spcBef>
              <a:spcAft>
                <a:spcPts val="0"/>
              </a:spcAft>
              <a:buClr>
                <a:schemeClr val="lt1"/>
              </a:buClr>
              <a:buSzPts val="1600"/>
              <a:buFont typeface="Maven Pro Medium"/>
              <a:buAutoNum type="arabicPeriod"/>
            </a:pPr>
            <a:r>
              <a:rPr lang="es" sz="1600">
                <a:solidFill>
                  <a:schemeClr val="lt1"/>
                </a:solidFill>
                <a:latin typeface="Maven Pro Medium"/>
                <a:ea typeface="Maven Pro Medium"/>
                <a:cs typeface="Maven Pro Medium"/>
                <a:sym typeface="Maven Pro Medium"/>
              </a:rPr>
              <a:t>NVLink</a:t>
            </a:r>
            <a:endParaRPr sz="1600">
              <a:solidFill>
                <a:schemeClr val="lt1"/>
              </a:solidFill>
              <a:latin typeface="Maven Pro Medium"/>
              <a:ea typeface="Maven Pro Medium"/>
              <a:cs typeface="Maven Pro Medium"/>
              <a:sym typeface="Maven Pro Medium"/>
            </a:endParaRPr>
          </a:p>
          <a:p>
            <a:pPr indent="-330200" lvl="1" marL="914400" rtl="0" algn="l">
              <a:spcBef>
                <a:spcPts val="0"/>
              </a:spcBef>
              <a:spcAft>
                <a:spcPts val="0"/>
              </a:spcAft>
              <a:buClr>
                <a:schemeClr val="lt1"/>
              </a:buClr>
              <a:buSzPts val="1600"/>
              <a:buFont typeface="Maven Pro Medium"/>
              <a:buAutoNum type="arabicPeriod"/>
            </a:pPr>
            <a:r>
              <a:rPr lang="es" sz="1600">
                <a:solidFill>
                  <a:schemeClr val="lt1"/>
                </a:solidFill>
                <a:latin typeface="Maven Pro Medium"/>
                <a:ea typeface="Maven Pro Medium"/>
                <a:cs typeface="Maven Pro Medium"/>
                <a:sym typeface="Maven Pro Medium"/>
              </a:rPr>
              <a:t>UALink</a:t>
            </a:r>
            <a:endParaRPr sz="1600">
              <a:solidFill>
                <a:schemeClr val="lt1"/>
              </a:solidFill>
              <a:latin typeface="Maven Pro Medium"/>
              <a:ea typeface="Maven Pro Medium"/>
              <a:cs typeface="Maven Pro Medium"/>
              <a:sym typeface="Maven Pro Medium"/>
            </a:endParaRPr>
          </a:p>
          <a:p>
            <a:pPr indent="-330200" lvl="1" marL="914400" rtl="0" algn="l">
              <a:spcBef>
                <a:spcPts val="0"/>
              </a:spcBef>
              <a:spcAft>
                <a:spcPts val="0"/>
              </a:spcAft>
              <a:buClr>
                <a:schemeClr val="lt1"/>
              </a:buClr>
              <a:buSzPts val="1600"/>
              <a:buFont typeface="Maven Pro Medium"/>
              <a:buAutoNum type="arabicPeriod"/>
            </a:pPr>
            <a:r>
              <a:rPr lang="es" sz="1600">
                <a:solidFill>
                  <a:schemeClr val="lt1"/>
                </a:solidFill>
                <a:latin typeface="Maven Pro Medium"/>
                <a:ea typeface="Maven Pro Medium"/>
                <a:cs typeface="Maven Pro Medium"/>
                <a:sym typeface="Maven Pro Medium"/>
              </a:rPr>
              <a:t>PCI EXPRESS(PCIe)</a:t>
            </a:r>
            <a:endParaRPr sz="1600">
              <a:solidFill>
                <a:schemeClr val="lt1"/>
              </a:solidFill>
              <a:latin typeface="Maven Pro Medium"/>
              <a:ea typeface="Maven Pro Medium"/>
              <a:cs typeface="Maven Pro Medium"/>
              <a:sym typeface="Maven Pro Medium"/>
            </a:endParaRPr>
          </a:p>
          <a:p>
            <a:pPr indent="-330200" lvl="0" marL="457200" rtl="0" algn="l">
              <a:spcBef>
                <a:spcPts val="0"/>
              </a:spcBef>
              <a:spcAft>
                <a:spcPts val="0"/>
              </a:spcAft>
              <a:buClr>
                <a:schemeClr val="lt1"/>
              </a:buClr>
              <a:buSzPts val="1600"/>
              <a:buFont typeface="Maven Pro Medium"/>
              <a:buAutoNum type="arabicPeriod"/>
            </a:pPr>
            <a:r>
              <a:rPr lang="es" sz="1600">
                <a:solidFill>
                  <a:schemeClr val="lt1"/>
                </a:solidFill>
                <a:latin typeface="Maven Pro Medium"/>
                <a:ea typeface="Maven Pro Medium"/>
                <a:cs typeface="Maven Pro Medium"/>
                <a:sym typeface="Maven Pro Medium"/>
              </a:rPr>
              <a:t>Demostración práctica</a:t>
            </a:r>
            <a:endParaRPr sz="1600">
              <a:solidFill>
                <a:schemeClr val="lt1"/>
              </a:solidFill>
              <a:latin typeface="Maven Pro Medium"/>
              <a:ea typeface="Maven Pro Medium"/>
              <a:cs typeface="Maven Pro Medium"/>
              <a:sym typeface="Maven Pro Medium"/>
            </a:endParaRPr>
          </a:p>
          <a:p>
            <a:pPr indent="-330200" lvl="0" marL="457200" rtl="0" algn="l">
              <a:spcBef>
                <a:spcPts val="0"/>
              </a:spcBef>
              <a:spcAft>
                <a:spcPts val="0"/>
              </a:spcAft>
              <a:buClr>
                <a:schemeClr val="lt1"/>
              </a:buClr>
              <a:buSzPts val="1600"/>
              <a:buFont typeface="Maven Pro Medium"/>
              <a:buAutoNum type="arabicPeriod"/>
            </a:pPr>
            <a:r>
              <a:rPr lang="es" sz="1600">
                <a:solidFill>
                  <a:schemeClr val="lt1"/>
                </a:solidFill>
                <a:latin typeface="Maven Pro Medium"/>
                <a:ea typeface="Maven Pro Medium"/>
                <a:cs typeface="Maven Pro Medium"/>
                <a:sym typeface="Maven Pro Medium"/>
              </a:rPr>
              <a:t>Bibliografía</a:t>
            </a:r>
            <a:endParaRPr sz="1600">
              <a:solidFill>
                <a:schemeClr val="lt1"/>
              </a:solidFill>
              <a:latin typeface="Maven Pro Medium"/>
              <a:ea typeface="Maven Pro Medium"/>
              <a:cs typeface="Maven Pro Medium"/>
              <a:sym typeface="Maven Pro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5"/>
          <p:cNvSpPr txBox="1"/>
          <p:nvPr/>
        </p:nvSpPr>
        <p:spPr>
          <a:xfrm>
            <a:off x="882075" y="677675"/>
            <a:ext cx="3400500" cy="6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200">
                <a:solidFill>
                  <a:schemeClr val="lt1"/>
                </a:solidFill>
                <a:latin typeface="Maven Pro Black"/>
                <a:ea typeface="Maven Pro Black"/>
                <a:cs typeface="Maven Pro Black"/>
                <a:sym typeface="Maven Pro Black"/>
              </a:rPr>
              <a:t>Introducción</a:t>
            </a:r>
            <a:endParaRPr sz="3200">
              <a:solidFill>
                <a:schemeClr val="lt1"/>
              </a:solidFill>
              <a:latin typeface="Maven Pro Black"/>
              <a:ea typeface="Maven Pro Black"/>
              <a:cs typeface="Maven Pro Black"/>
              <a:sym typeface="Maven Pro Black"/>
            </a:endParaRPr>
          </a:p>
        </p:txBody>
      </p:sp>
      <p:sp>
        <p:nvSpPr>
          <p:cNvPr id="290" name="Google Shape;290;p15"/>
          <p:cNvSpPr txBox="1"/>
          <p:nvPr/>
        </p:nvSpPr>
        <p:spPr>
          <a:xfrm>
            <a:off x="4190175" y="1453100"/>
            <a:ext cx="3880800" cy="2693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s" sz="1500">
                <a:solidFill>
                  <a:schemeClr val="lt1"/>
                </a:solidFill>
                <a:latin typeface="Maven Pro Medium"/>
                <a:ea typeface="Maven Pro Medium"/>
                <a:cs typeface="Maven Pro Medium"/>
                <a:sym typeface="Maven Pro Medium"/>
              </a:rPr>
              <a:t>La integración de múltiples núcleos en un solo chip ha mejorado la eficiencia, pero plantea desafíos en la comunicación entre núcleos.</a:t>
            </a:r>
            <a:endParaRPr sz="1500">
              <a:solidFill>
                <a:schemeClr val="lt1"/>
              </a:solidFill>
              <a:latin typeface="Maven Pro Medium"/>
              <a:ea typeface="Maven Pro Medium"/>
              <a:cs typeface="Maven Pro Medium"/>
              <a:sym typeface="Maven Pro Medium"/>
            </a:endParaRPr>
          </a:p>
          <a:p>
            <a:pPr indent="0" lvl="0" marL="0" rtl="0" algn="l">
              <a:lnSpc>
                <a:spcPct val="115000"/>
              </a:lnSpc>
              <a:spcBef>
                <a:spcPts val="1200"/>
              </a:spcBef>
              <a:spcAft>
                <a:spcPts val="1200"/>
              </a:spcAft>
              <a:buNone/>
            </a:pPr>
            <a:r>
              <a:rPr lang="es" sz="1500">
                <a:solidFill>
                  <a:schemeClr val="lt1"/>
                </a:solidFill>
                <a:latin typeface="Maven Pro Medium"/>
                <a:ea typeface="Maven Pro Medium"/>
                <a:cs typeface="Maven Pro Medium"/>
                <a:sym typeface="Maven Pro Medium"/>
              </a:rPr>
              <a:t> Los buses tradicionales presentan limitaciones, por lo que han surgido alternativas más avanzadas para optimizar la comunicación en sistemas multicore.</a:t>
            </a:r>
            <a:endParaRPr sz="1500">
              <a:solidFill>
                <a:schemeClr val="lt1"/>
              </a:solidFill>
              <a:latin typeface="Maven Pro Medium"/>
              <a:ea typeface="Maven Pro Medium"/>
              <a:cs typeface="Maven Pro Medium"/>
              <a:sym typeface="Maven Pro Medium"/>
            </a:endParaRPr>
          </a:p>
        </p:txBody>
      </p:sp>
      <p:pic>
        <p:nvPicPr>
          <p:cNvPr id="291" name="Google Shape;291;p15"/>
          <p:cNvPicPr preferRelativeResize="0"/>
          <p:nvPr/>
        </p:nvPicPr>
        <p:blipFill>
          <a:blip r:embed="rId3">
            <a:alphaModFix/>
          </a:blip>
          <a:stretch>
            <a:fillRect/>
          </a:stretch>
        </p:blipFill>
        <p:spPr>
          <a:xfrm>
            <a:off x="1515150" y="1850650"/>
            <a:ext cx="2134346" cy="18985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16"/>
          <p:cNvSpPr txBox="1"/>
          <p:nvPr/>
        </p:nvSpPr>
        <p:spPr>
          <a:xfrm>
            <a:off x="882075" y="1371600"/>
            <a:ext cx="7404600" cy="329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500">
                <a:solidFill>
                  <a:schemeClr val="lt1"/>
                </a:solidFill>
                <a:latin typeface="Maven Pro Medium"/>
                <a:ea typeface="Maven Pro Medium"/>
                <a:cs typeface="Maven Pro Medium"/>
                <a:sym typeface="Maven Pro Medium"/>
              </a:rPr>
              <a:t>Son canales de comunicación que permiten el intercambio de datos, direcciones y señales de control entre los diferentes componentes de un sistema informático.</a:t>
            </a:r>
            <a:endParaRPr sz="1500">
              <a:solidFill>
                <a:schemeClr val="lt1"/>
              </a:solidFill>
              <a:latin typeface="Maven Pro Medium"/>
              <a:ea typeface="Maven Pro Medium"/>
              <a:cs typeface="Maven Pro Medium"/>
              <a:sym typeface="Maven Pro Medium"/>
            </a:endParaRPr>
          </a:p>
          <a:p>
            <a:pPr indent="0" lvl="0" marL="0" rtl="0" algn="l">
              <a:spcBef>
                <a:spcPts val="0"/>
              </a:spcBef>
              <a:spcAft>
                <a:spcPts val="0"/>
              </a:spcAft>
              <a:buNone/>
            </a:pPr>
            <a:r>
              <a:t/>
            </a:r>
            <a:endParaRPr sz="1500">
              <a:solidFill>
                <a:schemeClr val="lt1"/>
              </a:solidFill>
              <a:latin typeface="Maven Pro Medium"/>
              <a:ea typeface="Maven Pro Medium"/>
              <a:cs typeface="Maven Pro Medium"/>
              <a:sym typeface="Maven Pro Medium"/>
            </a:endParaRPr>
          </a:p>
          <a:p>
            <a:pPr indent="0" lvl="0" marL="0" rtl="0" algn="l">
              <a:spcBef>
                <a:spcPts val="0"/>
              </a:spcBef>
              <a:spcAft>
                <a:spcPts val="0"/>
              </a:spcAft>
              <a:buNone/>
            </a:pPr>
            <a:r>
              <a:rPr lang="es" sz="1500" u="sng">
                <a:solidFill>
                  <a:schemeClr val="lt1"/>
                </a:solidFill>
                <a:latin typeface="Maven Pro SemiBold"/>
                <a:ea typeface="Maven Pro SemiBold"/>
                <a:cs typeface="Maven Pro SemiBold"/>
                <a:sym typeface="Maven Pro SemiBold"/>
              </a:rPr>
              <a:t>Funcionalidades:</a:t>
            </a:r>
            <a:endParaRPr sz="1500" u="sng">
              <a:solidFill>
                <a:schemeClr val="lt1"/>
              </a:solidFill>
              <a:latin typeface="Maven Pro SemiBold"/>
              <a:ea typeface="Maven Pro SemiBold"/>
              <a:cs typeface="Maven Pro SemiBold"/>
              <a:sym typeface="Maven Pro SemiBold"/>
            </a:endParaRPr>
          </a:p>
          <a:p>
            <a:pPr indent="-323850" lvl="0" marL="457200" rtl="0" algn="l">
              <a:spcBef>
                <a:spcPts val="0"/>
              </a:spcBef>
              <a:spcAft>
                <a:spcPts val="0"/>
              </a:spcAft>
              <a:buClr>
                <a:schemeClr val="lt1"/>
              </a:buClr>
              <a:buSzPts val="1500"/>
              <a:buFont typeface="Maven Pro Medium"/>
              <a:buChar char="●"/>
            </a:pPr>
            <a:r>
              <a:rPr lang="es" sz="1500">
                <a:solidFill>
                  <a:schemeClr val="lt1"/>
                </a:solidFill>
                <a:latin typeface="Maven Pro Medium"/>
                <a:ea typeface="Maven Pro Medium"/>
                <a:cs typeface="Maven Pro Medium"/>
                <a:sym typeface="Maven Pro Medium"/>
              </a:rPr>
              <a:t>Transferencia de datos.</a:t>
            </a:r>
            <a:endParaRPr sz="1500">
              <a:solidFill>
                <a:schemeClr val="lt1"/>
              </a:solidFill>
              <a:latin typeface="Maven Pro Medium"/>
              <a:ea typeface="Maven Pro Medium"/>
              <a:cs typeface="Maven Pro Medium"/>
              <a:sym typeface="Maven Pro Medium"/>
            </a:endParaRPr>
          </a:p>
          <a:p>
            <a:pPr indent="-323850" lvl="0" marL="457200" rtl="0" algn="l">
              <a:spcBef>
                <a:spcPts val="0"/>
              </a:spcBef>
              <a:spcAft>
                <a:spcPts val="0"/>
              </a:spcAft>
              <a:buClr>
                <a:schemeClr val="lt1"/>
              </a:buClr>
              <a:buSzPts val="1500"/>
              <a:buFont typeface="Maven Pro Medium"/>
              <a:buChar char="●"/>
            </a:pPr>
            <a:r>
              <a:rPr lang="es" sz="1500">
                <a:solidFill>
                  <a:schemeClr val="lt1"/>
                </a:solidFill>
                <a:latin typeface="Maven Pro Medium"/>
                <a:ea typeface="Maven Pro Medium"/>
                <a:cs typeface="Maven Pro Medium"/>
                <a:sym typeface="Maven Pro Medium"/>
              </a:rPr>
              <a:t>Sincronización</a:t>
            </a:r>
            <a:endParaRPr sz="1500">
              <a:solidFill>
                <a:schemeClr val="lt1"/>
              </a:solidFill>
              <a:latin typeface="Maven Pro Medium"/>
              <a:ea typeface="Maven Pro Medium"/>
              <a:cs typeface="Maven Pro Medium"/>
              <a:sym typeface="Maven Pro Medium"/>
            </a:endParaRPr>
          </a:p>
          <a:p>
            <a:pPr indent="-323850" lvl="0" marL="457200" rtl="0" algn="l">
              <a:spcBef>
                <a:spcPts val="0"/>
              </a:spcBef>
              <a:spcAft>
                <a:spcPts val="0"/>
              </a:spcAft>
              <a:buClr>
                <a:schemeClr val="lt1"/>
              </a:buClr>
              <a:buSzPts val="1500"/>
              <a:buFont typeface="Maven Pro Medium"/>
              <a:buChar char="●"/>
            </a:pPr>
            <a:r>
              <a:rPr lang="es" sz="1500">
                <a:solidFill>
                  <a:schemeClr val="lt1"/>
                </a:solidFill>
                <a:latin typeface="Maven Pro Medium"/>
                <a:ea typeface="Maven Pro Medium"/>
                <a:cs typeface="Maven Pro Medium"/>
                <a:sym typeface="Maven Pro Medium"/>
              </a:rPr>
              <a:t>Direccionamiento</a:t>
            </a:r>
            <a:endParaRPr sz="1500">
              <a:solidFill>
                <a:schemeClr val="lt1"/>
              </a:solidFill>
              <a:latin typeface="Maven Pro Medium"/>
              <a:ea typeface="Maven Pro Medium"/>
              <a:cs typeface="Maven Pro Medium"/>
              <a:sym typeface="Maven Pro Medium"/>
            </a:endParaRPr>
          </a:p>
          <a:p>
            <a:pPr indent="0" lvl="0" marL="0" rtl="0" algn="l">
              <a:spcBef>
                <a:spcPts val="0"/>
              </a:spcBef>
              <a:spcAft>
                <a:spcPts val="0"/>
              </a:spcAft>
              <a:buNone/>
            </a:pPr>
            <a:r>
              <a:t/>
            </a:r>
            <a:endParaRPr sz="1500">
              <a:solidFill>
                <a:schemeClr val="lt1"/>
              </a:solidFill>
              <a:latin typeface="Maven Pro Medium"/>
              <a:ea typeface="Maven Pro Medium"/>
              <a:cs typeface="Maven Pro Medium"/>
              <a:sym typeface="Maven Pro Medium"/>
            </a:endParaRPr>
          </a:p>
          <a:p>
            <a:pPr indent="0" lvl="0" marL="0" rtl="0" algn="l">
              <a:spcBef>
                <a:spcPts val="0"/>
              </a:spcBef>
              <a:spcAft>
                <a:spcPts val="0"/>
              </a:spcAft>
              <a:buNone/>
            </a:pPr>
            <a:r>
              <a:rPr lang="es" sz="1500" u="sng">
                <a:solidFill>
                  <a:schemeClr val="lt1"/>
                </a:solidFill>
                <a:latin typeface="Maven Pro SemiBold"/>
                <a:ea typeface="Maven Pro SemiBold"/>
                <a:cs typeface="Maven Pro SemiBold"/>
                <a:sym typeface="Maven Pro SemiBold"/>
              </a:rPr>
              <a:t>Tipos de buses:</a:t>
            </a:r>
            <a:endParaRPr sz="1500" u="sng">
              <a:solidFill>
                <a:schemeClr val="lt1"/>
              </a:solidFill>
              <a:latin typeface="Maven Pro SemiBold"/>
              <a:ea typeface="Maven Pro SemiBold"/>
              <a:cs typeface="Maven Pro SemiBold"/>
              <a:sym typeface="Maven Pro SemiBold"/>
            </a:endParaRPr>
          </a:p>
          <a:p>
            <a:pPr indent="-323850" lvl="0" marL="457200" rtl="0" algn="l">
              <a:spcBef>
                <a:spcPts val="0"/>
              </a:spcBef>
              <a:spcAft>
                <a:spcPts val="0"/>
              </a:spcAft>
              <a:buClr>
                <a:schemeClr val="lt1"/>
              </a:buClr>
              <a:buSzPts val="1500"/>
              <a:buFont typeface="Maven Pro Medium"/>
              <a:buChar char="●"/>
            </a:pPr>
            <a:r>
              <a:rPr lang="es" sz="1500">
                <a:solidFill>
                  <a:schemeClr val="lt1"/>
                </a:solidFill>
                <a:latin typeface="Maven Pro Medium"/>
                <a:ea typeface="Maven Pro Medium"/>
                <a:cs typeface="Maven Pro Medium"/>
                <a:sym typeface="Maven Pro Medium"/>
              </a:rPr>
              <a:t>Bus de datos.</a:t>
            </a:r>
            <a:endParaRPr sz="1500">
              <a:solidFill>
                <a:schemeClr val="lt1"/>
              </a:solidFill>
              <a:latin typeface="Maven Pro Medium"/>
              <a:ea typeface="Maven Pro Medium"/>
              <a:cs typeface="Maven Pro Medium"/>
              <a:sym typeface="Maven Pro Medium"/>
            </a:endParaRPr>
          </a:p>
          <a:p>
            <a:pPr indent="-323850" lvl="0" marL="457200" rtl="0" algn="l">
              <a:spcBef>
                <a:spcPts val="0"/>
              </a:spcBef>
              <a:spcAft>
                <a:spcPts val="0"/>
              </a:spcAft>
              <a:buClr>
                <a:schemeClr val="lt1"/>
              </a:buClr>
              <a:buSzPts val="1500"/>
              <a:buFont typeface="Maven Pro Medium"/>
              <a:buChar char="●"/>
            </a:pPr>
            <a:r>
              <a:rPr lang="es" sz="1500">
                <a:solidFill>
                  <a:schemeClr val="lt1"/>
                </a:solidFill>
                <a:latin typeface="Maven Pro Medium"/>
                <a:ea typeface="Maven Pro Medium"/>
                <a:cs typeface="Maven Pro Medium"/>
                <a:sym typeface="Maven Pro Medium"/>
              </a:rPr>
              <a:t>Bus de </a:t>
            </a:r>
            <a:r>
              <a:rPr lang="es" sz="1500">
                <a:solidFill>
                  <a:schemeClr val="lt1"/>
                </a:solidFill>
                <a:latin typeface="Maven Pro Medium"/>
                <a:ea typeface="Maven Pro Medium"/>
                <a:cs typeface="Maven Pro Medium"/>
                <a:sym typeface="Maven Pro Medium"/>
              </a:rPr>
              <a:t>direcciones</a:t>
            </a:r>
            <a:endParaRPr sz="1500">
              <a:solidFill>
                <a:schemeClr val="lt1"/>
              </a:solidFill>
              <a:latin typeface="Maven Pro Medium"/>
              <a:ea typeface="Maven Pro Medium"/>
              <a:cs typeface="Maven Pro Medium"/>
              <a:sym typeface="Maven Pro Medium"/>
            </a:endParaRPr>
          </a:p>
          <a:p>
            <a:pPr indent="-323850" lvl="0" marL="457200" rtl="0" algn="l">
              <a:spcBef>
                <a:spcPts val="0"/>
              </a:spcBef>
              <a:spcAft>
                <a:spcPts val="0"/>
              </a:spcAft>
              <a:buClr>
                <a:schemeClr val="lt1"/>
              </a:buClr>
              <a:buSzPts val="1500"/>
              <a:buFont typeface="Maven Pro Medium"/>
              <a:buChar char="●"/>
            </a:pPr>
            <a:r>
              <a:rPr lang="es" sz="1500">
                <a:solidFill>
                  <a:schemeClr val="lt1"/>
                </a:solidFill>
                <a:latin typeface="Maven Pro Medium"/>
                <a:ea typeface="Maven Pro Medium"/>
                <a:cs typeface="Maven Pro Medium"/>
                <a:sym typeface="Maven Pro Medium"/>
              </a:rPr>
              <a:t>Bus de control</a:t>
            </a:r>
            <a:endParaRPr sz="1500">
              <a:solidFill>
                <a:schemeClr val="lt1"/>
              </a:solidFill>
              <a:latin typeface="Maven Pro Medium"/>
              <a:ea typeface="Maven Pro Medium"/>
              <a:cs typeface="Maven Pro Medium"/>
              <a:sym typeface="Maven Pro Medium"/>
            </a:endParaRPr>
          </a:p>
        </p:txBody>
      </p:sp>
      <p:pic>
        <p:nvPicPr>
          <p:cNvPr id="297" name="Google Shape;297;p16"/>
          <p:cNvPicPr preferRelativeResize="0"/>
          <p:nvPr/>
        </p:nvPicPr>
        <p:blipFill>
          <a:blip r:embed="rId3">
            <a:alphaModFix/>
          </a:blip>
          <a:stretch>
            <a:fillRect/>
          </a:stretch>
        </p:blipFill>
        <p:spPr>
          <a:xfrm>
            <a:off x="4572000" y="3129325"/>
            <a:ext cx="3905400" cy="1309800"/>
          </a:xfrm>
          <a:prstGeom prst="roundRect">
            <a:avLst>
              <a:gd fmla="val 16667" name="adj"/>
            </a:avLst>
          </a:prstGeom>
          <a:noFill/>
          <a:ln>
            <a:noFill/>
          </a:ln>
        </p:spPr>
      </p:pic>
      <p:sp>
        <p:nvSpPr>
          <p:cNvPr id="298" name="Google Shape;298;p16"/>
          <p:cNvSpPr txBox="1"/>
          <p:nvPr/>
        </p:nvSpPr>
        <p:spPr>
          <a:xfrm>
            <a:off x="882075" y="677675"/>
            <a:ext cx="3400500" cy="6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200">
                <a:solidFill>
                  <a:schemeClr val="lt1"/>
                </a:solidFill>
                <a:latin typeface="Maven Pro Black"/>
                <a:ea typeface="Maven Pro Black"/>
                <a:cs typeface="Maven Pro Black"/>
                <a:sym typeface="Maven Pro Black"/>
              </a:rPr>
              <a:t>Buses</a:t>
            </a:r>
            <a:endParaRPr sz="3200">
              <a:solidFill>
                <a:schemeClr val="lt1"/>
              </a:solidFill>
              <a:latin typeface="Maven Pro Black"/>
              <a:ea typeface="Maven Pro Black"/>
              <a:cs typeface="Maven Pro Black"/>
              <a:sym typeface="Maven Pro Black"/>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17"/>
          <p:cNvSpPr txBox="1"/>
          <p:nvPr/>
        </p:nvSpPr>
        <p:spPr>
          <a:xfrm>
            <a:off x="882075" y="1543175"/>
            <a:ext cx="7358100" cy="3064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s" sz="1500">
                <a:solidFill>
                  <a:schemeClr val="lt1"/>
                </a:solidFill>
                <a:latin typeface="Maven Pro Medium"/>
                <a:ea typeface="Maven Pro Medium"/>
                <a:cs typeface="Maven Pro Medium"/>
                <a:sym typeface="Maven Pro Medium"/>
              </a:rPr>
              <a:t>HyperTransport es un protocolo de interconexión de alta velocidad lanzado en 2001. Diseñado para facilitar la comunicación entre dispositivos dentro de un ordenador.</a:t>
            </a:r>
            <a:endParaRPr sz="1500">
              <a:solidFill>
                <a:schemeClr val="lt1"/>
              </a:solidFill>
              <a:latin typeface="Maven Pro Medium"/>
              <a:ea typeface="Maven Pro Medium"/>
              <a:cs typeface="Maven Pro Medium"/>
              <a:sym typeface="Maven Pro Medium"/>
            </a:endParaRPr>
          </a:p>
          <a:p>
            <a:pPr indent="0" lvl="0" marL="0" rtl="0" algn="l">
              <a:lnSpc>
                <a:spcPct val="115000"/>
              </a:lnSpc>
              <a:spcBef>
                <a:spcPts val="1200"/>
              </a:spcBef>
              <a:spcAft>
                <a:spcPts val="0"/>
              </a:spcAft>
              <a:buNone/>
            </a:pPr>
            <a:r>
              <a:rPr lang="es" sz="1500">
                <a:solidFill>
                  <a:schemeClr val="lt1"/>
                </a:solidFill>
                <a:latin typeface="Maven Pro Medium"/>
                <a:ea typeface="Maven Pro Medium"/>
                <a:cs typeface="Maven Pro Medium"/>
                <a:sym typeface="Maven Pro Medium"/>
              </a:rPr>
              <a:t>Establece conexiones directas con enlaces unidireccionales, permitiendo una comunicación más eficiente, no como los buses tradicionales. Usa un protocolo basado en paquetes, con flexibilidad en el tamaño de los enlaces y compatibilidad con tecnologías como PCI y PCI Express.</a:t>
            </a:r>
            <a:endParaRPr sz="1500">
              <a:solidFill>
                <a:schemeClr val="lt1"/>
              </a:solidFill>
              <a:latin typeface="Maven Pro Medium"/>
              <a:ea typeface="Maven Pro Medium"/>
              <a:cs typeface="Maven Pro Medium"/>
              <a:sym typeface="Maven Pro Medium"/>
            </a:endParaRPr>
          </a:p>
          <a:p>
            <a:pPr indent="0" lvl="0" marL="0" rtl="0" algn="l">
              <a:lnSpc>
                <a:spcPct val="115000"/>
              </a:lnSpc>
              <a:spcBef>
                <a:spcPts val="1200"/>
              </a:spcBef>
              <a:spcAft>
                <a:spcPts val="1200"/>
              </a:spcAft>
              <a:buNone/>
            </a:pPr>
            <a:r>
              <a:rPr lang="es" sz="1500">
                <a:solidFill>
                  <a:schemeClr val="lt1"/>
                </a:solidFill>
                <a:latin typeface="Maven Pro Medium"/>
                <a:ea typeface="Maven Pro Medium"/>
                <a:cs typeface="Maven Pro Medium"/>
                <a:sym typeface="Maven Pro Medium"/>
              </a:rPr>
              <a:t>Mejora la eficiencia energética y reduce la latencia mediante características eléctricas optimizadas.</a:t>
            </a:r>
            <a:endParaRPr sz="1500">
              <a:solidFill>
                <a:schemeClr val="lt1"/>
              </a:solidFill>
              <a:latin typeface="Maven Pro Medium"/>
              <a:ea typeface="Maven Pro Medium"/>
              <a:cs typeface="Maven Pro Medium"/>
              <a:sym typeface="Maven Pro Medium"/>
            </a:endParaRPr>
          </a:p>
        </p:txBody>
      </p:sp>
      <p:sp>
        <p:nvSpPr>
          <p:cNvPr id="304" name="Google Shape;304;p17"/>
          <p:cNvSpPr txBox="1"/>
          <p:nvPr/>
        </p:nvSpPr>
        <p:spPr>
          <a:xfrm>
            <a:off x="882075" y="677675"/>
            <a:ext cx="3400500" cy="6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200">
                <a:solidFill>
                  <a:schemeClr val="lt1"/>
                </a:solidFill>
                <a:latin typeface="Maven Pro Black"/>
                <a:ea typeface="Maven Pro Black"/>
                <a:cs typeface="Maven Pro Black"/>
                <a:sym typeface="Maven Pro Black"/>
              </a:rPr>
              <a:t>HyperTransport</a:t>
            </a:r>
            <a:endParaRPr sz="3200">
              <a:solidFill>
                <a:schemeClr val="lt1"/>
              </a:solidFill>
              <a:latin typeface="Maven Pro Black"/>
              <a:ea typeface="Maven Pro Black"/>
              <a:cs typeface="Maven Pro Black"/>
              <a:sym typeface="Maven Pro Black"/>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18"/>
          <p:cNvSpPr txBox="1"/>
          <p:nvPr/>
        </p:nvSpPr>
        <p:spPr>
          <a:xfrm>
            <a:off x="882075" y="1460575"/>
            <a:ext cx="4065600" cy="3038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s" sz="1500">
                <a:solidFill>
                  <a:schemeClr val="lt1"/>
                </a:solidFill>
                <a:latin typeface="Maven Pro"/>
                <a:ea typeface="Maven Pro"/>
                <a:cs typeface="Maven Pro"/>
                <a:sym typeface="Maven Pro"/>
              </a:rPr>
              <a:t>Control del bus y arbitraje</a:t>
            </a:r>
            <a:endParaRPr b="1" sz="1500">
              <a:solidFill>
                <a:schemeClr val="lt1"/>
              </a:solidFill>
              <a:latin typeface="Maven Pro"/>
              <a:ea typeface="Maven Pro"/>
              <a:cs typeface="Maven Pro"/>
              <a:sym typeface="Maven Pro"/>
            </a:endParaRPr>
          </a:p>
          <a:p>
            <a:pPr indent="0" lvl="0" marL="0" rtl="0" algn="l">
              <a:lnSpc>
                <a:spcPct val="115000"/>
              </a:lnSpc>
              <a:spcBef>
                <a:spcPts val="1200"/>
              </a:spcBef>
              <a:spcAft>
                <a:spcPts val="0"/>
              </a:spcAft>
              <a:buNone/>
            </a:pPr>
            <a:r>
              <a:rPr lang="es" sz="1500">
                <a:solidFill>
                  <a:schemeClr val="lt1"/>
                </a:solidFill>
                <a:latin typeface="Maven Pro Medium"/>
                <a:ea typeface="Maven Pro Medium"/>
                <a:cs typeface="Maven Pro Medium"/>
                <a:sym typeface="Maven Pro Medium"/>
              </a:rPr>
              <a:t>HyperTransport conecta exclusivamente dos dispositivos sin necesidad de un sistema complejo de arbitraje, lo que mejora la escalabilidad y reduce los tiempos de espera. En sistemas más complejos, se puede usar enrutamiento para dirigir paquetes, pero mantiene la comunicación dedicada sin arbitraje de bus.</a:t>
            </a:r>
            <a:endParaRPr sz="1500">
              <a:solidFill>
                <a:schemeClr val="lt1"/>
              </a:solidFill>
              <a:latin typeface="Maven Pro Medium"/>
              <a:ea typeface="Maven Pro Medium"/>
              <a:cs typeface="Maven Pro Medium"/>
              <a:sym typeface="Maven Pro Medium"/>
            </a:endParaRPr>
          </a:p>
          <a:p>
            <a:pPr indent="0" lvl="0" marL="0" rtl="0" algn="l">
              <a:spcBef>
                <a:spcPts val="1200"/>
              </a:spcBef>
              <a:spcAft>
                <a:spcPts val="0"/>
              </a:spcAft>
              <a:buNone/>
            </a:pPr>
            <a:r>
              <a:t/>
            </a:r>
            <a:endParaRPr sz="1500">
              <a:solidFill>
                <a:schemeClr val="dk2"/>
              </a:solidFill>
              <a:latin typeface="Maven Pro Medium"/>
              <a:ea typeface="Maven Pro Medium"/>
              <a:cs typeface="Maven Pro Medium"/>
              <a:sym typeface="Maven Pro Medium"/>
            </a:endParaRPr>
          </a:p>
        </p:txBody>
      </p:sp>
      <p:pic>
        <p:nvPicPr>
          <p:cNvPr id="310" name="Google Shape;310;p18"/>
          <p:cNvPicPr preferRelativeResize="0"/>
          <p:nvPr/>
        </p:nvPicPr>
        <p:blipFill>
          <a:blip r:embed="rId3">
            <a:alphaModFix/>
          </a:blip>
          <a:stretch>
            <a:fillRect/>
          </a:stretch>
        </p:blipFill>
        <p:spPr>
          <a:xfrm>
            <a:off x="5404200" y="1729250"/>
            <a:ext cx="3058242" cy="2500750"/>
          </a:xfrm>
          <a:prstGeom prst="rect">
            <a:avLst/>
          </a:prstGeom>
          <a:noFill/>
          <a:ln>
            <a:noFill/>
          </a:ln>
        </p:spPr>
      </p:pic>
      <p:sp>
        <p:nvSpPr>
          <p:cNvPr id="311" name="Google Shape;311;p18"/>
          <p:cNvSpPr txBox="1"/>
          <p:nvPr/>
        </p:nvSpPr>
        <p:spPr>
          <a:xfrm>
            <a:off x="882075" y="677675"/>
            <a:ext cx="3400500" cy="6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200">
                <a:solidFill>
                  <a:schemeClr val="lt1"/>
                </a:solidFill>
                <a:latin typeface="Maven Pro Black"/>
                <a:ea typeface="Maven Pro Black"/>
                <a:cs typeface="Maven Pro Black"/>
                <a:sym typeface="Maven Pro Black"/>
              </a:rPr>
              <a:t>HyperTransport</a:t>
            </a:r>
            <a:endParaRPr sz="3200">
              <a:solidFill>
                <a:schemeClr val="lt1"/>
              </a:solidFill>
              <a:latin typeface="Maven Pro Black"/>
              <a:ea typeface="Maven Pro Black"/>
              <a:cs typeface="Maven Pro Black"/>
              <a:sym typeface="Maven Pro Black"/>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19"/>
          <p:cNvSpPr txBox="1"/>
          <p:nvPr/>
        </p:nvSpPr>
        <p:spPr>
          <a:xfrm>
            <a:off x="882075" y="1401100"/>
            <a:ext cx="4789200" cy="322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500">
                <a:solidFill>
                  <a:schemeClr val="lt1"/>
                </a:solidFill>
                <a:latin typeface="Maven Pro Medium"/>
                <a:ea typeface="Maven Pro Medium"/>
                <a:cs typeface="Maven Pro Medium"/>
                <a:sym typeface="Maven Pro Medium"/>
              </a:rPr>
              <a:t>Es una arquitectura de interconexión propietaria desarrollada por AMD en 2017. Su objetivo es facilitar la transmisión de datos y señales entre los diversos componentes de un sistema. Ofrece mayor escalabilidad y coherencia en sistemas modernos. Los tipos son:</a:t>
            </a:r>
            <a:endParaRPr sz="1500">
              <a:solidFill>
                <a:schemeClr val="lt1"/>
              </a:solidFill>
              <a:latin typeface="Maven Pro Medium"/>
              <a:ea typeface="Maven Pro Medium"/>
              <a:cs typeface="Maven Pro Medium"/>
              <a:sym typeface="Maven Pro Medium"/>
            </a:endParaRPr>
          </a:p>
          <a:p>
            <a:pPr indent="-323850" lvl="0" marL="457200" rtl="0" algn="l">
              <a:spcBef>
                <a:spcPts val="1000"/>
              </a:spcBef>
              <a:spcAft>
                <a:spcPts val="0"/>
              </a:spcAft>
              <a:buClr>
                <a:schemeClr val="lt1"/>
              </a:buClr>
              <a:buSzPts val="1500"/>
              <a:buFont typeface="Maven Pro Medium"/>
              <a:buChar char="●"/>
            </a:pPr>
            <a:r>
              <a:rPr b="1" lang="es" sz="1500">
                <a:solidFill>
                  <a:schemeClr val="lt1"/>
                </a:solidFill>
                <a:latin typeface="Maven Pro"/>
                <a:ea typeface="Maven Pro"/>
                <a:cs typeface="Maven Pro"/>
                <a:sym typeface="Maven Pro"/>
              </a:rPr>
              <a:t>Scalable Data Fabric (SDF)</a:t>
            </a:r>
            <a:r>
              <a:rPr lang="es" sz="1500">
                <a:solidFill>
                  <a:schemeClr val="lt1"/>
                </a:solidFill>
                <a:latin typeface="Maven Pro Medium"/>
                <a:ea typeface="Maven Pro Medium"/>
                <a:cs typeface="Maven Pro Medium"/>
                <a:sym typeface="Maven Pro Medium"/>
              </a:rPr>
              <a:t>: Responsable de la transferencia de datos entres los distintos componentes del sistema</a:t>
            </a:r>
            <a:endParaRPr sz="1500">
              <a:solidFill>
                <a:schemeClr val="lt1"/>
              </a:solidFill>
              <a:latin typeface="Maven Pro Medium"/>
              <a:ea typeface="Maven Pro Medium"/>
              <a:cs typeface="Maven Pro Medium"/>
              <a:sym typeface="Maven Pro Medium"/>
            </a:endParaRPr>
          </a:p>
          <a:p>
            <a:pPr indent="-323850" lvl="0" marL="457200" rtl="0" algn="l">
              <a:spcBef>
                <a:spcPts val="1000"/>
              </a:spcBef>
              <a:spcAft>
                <a:spcPts val="1000"/>
              </a:spcAft>
              <a:buClr>
                <a:schemeClr val="lt1"/>
              </a:buClr>
              <a:buSzPts val="1500"/>
              <a:buFont typeface="Maven Pro Medium"/>
              <a:buChar char="●"/>
            </a:pPr>
            <a:r>
              <a:rPr b="1" lang="es" sz="1500">
                <a:solidFill>
                  <a:schemeClr val="lt1"/>
                </a:solidFill>
                <a:latin typeface="Maven Pro"/>
                <a:ea typeface="Maven Pro"/>
                <a:cs typeface="Maven Pro"/>
                <a:sym typeface="Maven Pro"/>
              </a:rPr>
              <a:t>Scalable Control Fabric (SCF)</a:t>
            </a:r>
            <a:r>
              <a:rPr lang="es" sz="1500">
                <a:solidFill>
                  <a:schemeClr val="lt1"/>
                </a:solidFill>
                <a:latin typeface="Maven Pro Medium"/>
                <a:ea typeface="Maven Pro Medium"/>
                <a:cs typeface="Maven Pro Medium"/>
                <a:sym typeface="Maven Pro Medium"/>
              </a:rPr>
              <a:t>: Maneja las señales de control necesarias para la operación del sistema</a:t>
            </a:r>
            <a:endParaRPr sz="1500">
              <a:solidFill>
                <a:schemeClr val="lt1"/>
              </a:solidFill>
              <a:latin typeface="Maven Pro Medium"/>
              <a:ea typeface="Maven Pro Medium"/>
              <a:cs typeface="Maven Pro Medium"/>
              <a:sym typeface="Maven Pro Medium"/>
            </a:endParaRPr>
          </a:p>
        </p:txBody>
      </p:sp>
      <p:pic>
        <p:nvPicPr>
          <p:cNvPr id="317" name="Google Shape;317;p19"/>
          <p:cNvPicPr preferRelativeResize="0"/>
          <p:nvPr/>
        </p:nvPicPr>
        <p:blipFill>
          <a:blip r:embed="rId3">
            <a:alphaModFix/>
          </a:blip>
          <a:stretch>
            <a:fillRect/>
          </a:stretch>
        </p:blipFill>
        <p:spPr>
          <a:xfrm>
            <a:off x="6104700" y="1098850"/>
            <a:ext cx="2381250" cy="3524250"/>
          </a:xfrm>
          <a:prstGeom prst="rect">
            <a:avLst/>
          </a:prstGeom>
          <a:noFill/>
          <a:ln>
            <a:noFill/>
          </a:ln>
        </p:spPr>
      </p:pic>
      <p:sp>
        <p:nvSpPr>
          <p:cNvPr id="318" name="Google Shape;318;p19"/>
          <p:cNvSpPr txBox="1"/>
          <p:nvPr/>
        </p:nvSpPr>
        <p:spPr>
          <a:xfrm>
            <a:off x="882075" y="677675"/>
            <a:ext cx="3400500" cy="6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200">
                <a:solidFill>
                  <a:schemeClr val="lt1"/>
                </a:solidFill>
                <a:latin typeface="Maven Pro Black"/>
                <a:ea typeface="Maven Pro Black"/>
                <a:cs typeface="Maven Pro Black"/>
                <a:sym typeface="Maven Pro Black"/>
              </a:rPr>
              <a:t>Infinity Fabric</a:t>
            </a:r>
            <a:endParaRPr sz="3200">
              <a:solidFill>
                <a:schemeClr val="lt1"/>
              </a:solidFill>
              <a:latin typeface="Maven Pro Black"/>
              <a:ea typeface="Maven Pro Black"/>
              <a:cs typeface="Maven Pro Black"/>
              <a:sym typeface="Maven Pro Black"/>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0"/>
          <p:cNvSpPr txBox="1"/>
          <p:nvPr/>
        </p:nvSpPr>
        <p:spPr>
          <a:xfrm>
            <a:off x="882075" y="1324475"/>
            <a:ext cx="7589100" cy="339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500">
                <a:solidFill>
                  <a:schemeClr val="lt1"/>
                </a:solidFill>
                <a:latin typeface="Maven Pro Medium"/>
                <a:ea typeface="Maven Pro Medium"/>
                <a:cs typeface="Maven Pro Medium"/>
                <a:sym typeface="Maven Pro Medium"/>
              </a:rPr>
              <a:t>En los sistemas AMD, los núcleos de CPU, se conectan al plano de SDF, equivaliendo al bus local del sistema.</a:t>
            </a:r>
            <a:endParaRPr sz="1500">
              <a:solidFill>
                <a:schemeClr val="lt1"/>
              </a:solidFill>
              <a:latin typeface="Maven Pro Medium"/>
              <a:ea typeface="Maven Pro Medium"/>
              <a:cs typeface="Maven Pro Medium"/>
              <a:sym typeface="Maven Pro Medium"/>
            </a:endParaRPr>
          </a:p>
          <a:p>
            <a:pPr indent="0" lvl="0" marL="0" rtl="0" algn="l">
              <a:spcBef>
                <a:spcPts val="1000"/>
              </a:spcBef>
              <a:spcAft>
                <a:spcPts val="0"/>
              </a:spcAft>
              <a:buNone/>
            </a:pPr>
            <a:r>
              <a:rPr lang="es" sz="1500">
                <a:solidFill>
                  <a:schemeClr val="lt1"/>
                </a:solidFill>
                <a:latin typeface="Maven Pro Medium"/>
                <a:ea typeface="Maven Pro Medium"/>
                <a:cs typeface="Maven Pro Medium"/>
                <a:sym typeface="Maven Pro Medium"/>
              </a:rPr>
              <a:t>Este interconecta la memoria y diversos componentes ubicados dentro del die del procesador.</a:t>
            </a:r>
            <a:endParaRPr sz="1500">
              <a:solidFill>
                <a:schemeClr val="lt1"/>
              </a:solidFill>
              <a:latin typeface="Maven Pro Medium"/>
              <a:ea typeface="Maven Pro Medium"/>
              <a:cs typeface="Maven Pro Medium"/>
              <a:sym typeface="Maven Pro Medium"/>
            </a:endParaRPr>
          </a:p>
          <a:p>
            <a:pPr indent="0" lvl="0" marL="0" rtl="0" algn="l">
              <a:spcBef>
                <a:spcPts val="1000"/>
              </a:spcBef>
              <a:spcAft>
                <a:spcPts val="0"/>
              </a:spcAft>
              <a:buNone/>
            </a:pPr>
            <a:r>
              <a:rPr lang="es" sz="1500">
                <a:solidFill>
                  <a:schemeClr val="lt1"/>
                </a:solidFill>
                <a:latin typeface="Maven Pro Medium"/>
                <a:ea typeface="Maven Pro Medium"/>
                <a:cs typeface="Maven Pro Medium"/>
                <a:sym typeface="Maven Pro Medium"/>
              </a:rPr>
              <a:t>En un bus que usa Infinity Fabric encontramos:</a:t>
            </a:r>
            <a:endParaRPr sz="1500">
              <a:solidFill>
                <a:schemeClr val="lt1"/>
              </a:solidFill>
              <a:latin typeface="Maven Pro Medium"/>
              <a:ea typeface="Maven Pro Medium"/>
              <a:cs typeface="Maven Pro Medium"/>
              <a:sym typeface="Maven Pro Medium"/>
            </a:endParaRPr>
          </a:p>
          <a:p>
            <a:pPr indent="-323850" lvl="0" marL="457200" rtl="0" algn="l">
              <a:spcBef>
                <a:spcPts val="1000"/>
              </a:spcBef>
              <a:spcAft>
                <a:spcPts val="0"/>
              </a:spcAft>
              <a:buClr>
                <a:schemeClr val="lt1"/>
              </a:buClr>
              <a:buSzPts val="1500"/>
              <a:buFont typeface="Maven Pro Medium"/>
              <a:buChar char="●"/>
            </a:pPr>
            <a:r>
              <a:rPr b="1" lang="es" sz="1500">
                <a:solidFill>
                  <a:schemeClr val="lt1"/>
                </a:solidFill>
                <a:latin typeface="Maven Pro"/>
                <a:ea typeface="Maven Pro"/>
                <a:cs typeface="Maven Pro"/>
                <a:sym typeface="Maven Pro"/>
              </a:rPr>
              <a:t>CAKE</a:t>
            </a:r>
            <a:r>
              <a:rPr lang="es" sz="1500">
                <a:solidFill>
                  <a:schemeClr val="lt1"/>
                </a:solidFill>
                <a:latin typeface="Maven Pro Medium"/>
                <a:ea typeface="Maven Pro Medium"/>
                <a:cs typeface="Maven Pro Medium"/>
                <a:sym typeface="Maven Pro Medium"/>
              </a:rPr>
              <a:t>: Coherent AMD Soc(k)et Extender: interfaz entre SDF y los distintos links tipo SerDes.</a:t>
            </a:r>
            <a:endParaRPr sz="1500">
              <a:solidFill>
                <a:schemeClr val="lt1"/>
              </a:solidFill>
              <a:latin typeface="Maven Pro Medium"/>
              <a:ea typeface="Maven Pro Medium"/>
              <a:cs typeface="Maven Pro Medium"/>
              <a:sym typeface="Maven Pro Medium"/>
            </a:endParaRPr>
          </a:p>
          <a:p>
            <a:pPr indent="-323850" lvl="0" marL="457200" rtl="0" algn="l">
              <a:spcBef>
                <a:spcPts val="1000"/>
              </a:spcBef>
              <a:spcAft>
                <a:spcPts val="1000"/>
              </a:spcAft>
              <a:buClr>
                <a:schemeClr val="lt1"/>
              </a:buClr>
              <a:buSzPts val="1500"/>
              <a:buFont typeface="Maven Pro Medium"/>
              <a:buChar char="●"/>
            </a:pPr>
            <a:r>
              <a:rPr b="1" lang="es" sz="1500">
                <a:solidFill>
                  <a:schemeClr val="lt1"/>
                </a:solidFill>
                <a:latin typeface="Maven Pro"/>
                <a:ea typeface="Maven Pro"/>
                <a:cs typeface="Maven Pro"/>
                <a:sym typeface="Maven Pro"/>
              </a:rPr>
              <a:t>Un enlace SerDes</a:t>
            </a:r>
            <a:r>
              <a:rPr lang="es" sz="1500">
                <a:solidFill>
                  <a:schemeClr val="lt1"/>
                </a:solidFill>
                <a:latin typeface="Maven Pro Medium"/>
                <a:ea typeface="Maven Pro Medium"/>
                <a:cs typeface="Maven Pro Medium"/>
                <a:sym typeface="Maven Pro Medium"/>
              </a:rPr>
              <a:t> que codifica una señal paralela y produce una señal serie de salida.</a:t>
            </a:r>
            <a:endParaRPr sz="1500">
              <a:solidFill>
                <a:schemeClr val="lt1"/>
              </a:solidFill>
              <a:latin typeface="Maven Pro Medium"/>
              <a:ea typeface="Maven Pro Medium"/>
              <a:cs typeface="Maven Pro Medium"/>
              <a:sym typeface="Maven Pro Medium"/>
            </a:endParaRPr>
          </a:p>
        </p:txBody>
      </p:sp>
      <p:sp>
        <p:nvSpPr>
          <p:cNvPr id="324" name="Google Shape;324;p20"/>
          <p:cNvSpPr txBox="1"/>
          <p:nvPr/>
        </p:nvSpPr>
        <p:spPr>
          <a:xfrm>
            <a:off x="882075" y="677675"/>
            <a:ext cx="3400500" cy="6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200">
                <a:solidFill>
                  <a:schemeClr val="lt1"/>
                </a:solidFill>
                <a:latin typeface="Maven Pro Black"/>
                <a:ea typeface="Maven Pro Black"/>
                <a:cs typeface="Maven Pro Black"/>
                <a:sym typeface="Maven Pro Black"/>
              </a:rPr>
              <a:t>Infinity Fabric</a:t>
            </a:r>
            <a:endParaRPr sz="3200">
              <a:solidFill>
                <a:schemeClr val="lt1"/>
              </a:solidFill>
              <a:latin typeface="Maven Pro Black"/>
              <a:ea typeface="Maven Pro Black"/>
              <a:cs typeface="Maven Pro Black"/>
              <a:sym typeface="Maven Pro Black"/>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21"/>
          <p:cNvSpPr txBox="1"/>
          <p:nvPr/>
        </p:nvSpPr>
        <p:spPr>
          <a:xfrm>
            <a:off x="882075" y="677675"/>
            <a:ext cx="3400500" cy="6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200">
                <a:solidFill>
                  <a:schemeClr val="lt1"/>
                </a:solidFill>
                <a:latin typeface="Maven Pro Black"/>
                <a:ea typeface="Maven Pro Black"/>
                <a:cs typeface="Maven Pro Black"/>
                <a:sym typeface="Maven Pro Black"/>
              </a:rPr>
              <a:t>Infinity Fabric</a:t>
            </a:r>
            <a:endParaRPr sz="3200">
              <a:solidFill>
                <a:schemeClr val="lt1"/>
              </a:solidFill>
              <a:latin typeface="Maven Pro Black"/>
              <a:ea typeface="Maven Pro Black"/>
              <a:cs typeface="Maven Pro Black"/>
              <a:sym typeface="Maven Pro Black"/>
            </a:endParaRPr>
          </a:p>
        </p:txBody>
      </p:sp>
      <p:sp>
        <p:nvSpPr>
          <p:cNvPr id="330" name="Google Shape;330;p21"/>
          <p:cNvSpPr txBox="1"/>
          <p:nvPr/>
        </p:nvSpPr>
        <p:spPr>
          <a:xfrm>
            <a:off x="882075" y="1509200"/>
            <a:ext cx="3400500" cy="2750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500">
                <a:solidFill>
                  <a:schemeClr val="lt1"/>
                </a:solidFill>
                <a:latin typeface="Maven Pro Medium"/>
                <a:ea typeface="Maven Pro Medium"/>
                <a:cs typeface="Maven Pro Medium"/>
                <a:sym typeface="Maven Pro Medium"/>
              </a:rPr>
              <a:t>Tipos de comunicación</a:t>
            </a:r>
            <a:endParaRPr sz="1500">
              <a:solidFill>
                <a:schemeClr val="lt1"/>
              </a:solidFill>
              <a:latin typeface="Maven Pro Medium"/>
              <a:ea typeface="Maven Pro Medium"/>
              <a:cs typeface="Maven Pro Medium"/>
              <a:sym typeface="Maven Pro Medium"/>
            </a:endParaRPr>
          </a:p>
          <a:p>
            <a:pPr indent="-323850" lvl="0" marL="457200" rtl="0" algn="l">
              <a:spcBef>
                <a:spcPts val="1000"/>
              </a:spcBef>
              <a:spcAft>
                <a:spcPts val="0"/>
              </a:spcAft>
              <a:buClr>
                <a:schemeClr val="lt1"/>
              </a:buClr>
              <a:buSzPts val="1500"/>
              <a:buFont typeface="Maven Pro Medium"/>
              <a:buChar char="●"/>
            </a:pPr>
            <a:r>
              <a:rPr lang="es" sz="1500">
                <a:solidFill>
                  <a:schemeClr val="lt1"/>
                </a:solidFill>
                <a:latin typeface="Maven Pro Medium"/>
                <a:ea typeface="Maven Pro Medium"/>
                <a:cs typeface="Maven Pro Medium"/>
                <a:sym typeface="Maven Pro Medium"/>
              </a:rPr>
              <a:t>Infinity Fabric On-Package (</a:t>
            </a:r>
            <a:r>
              <a:rPr lang="es" sz="1500">
                <a:solidFill>
                  <a:schemeClr val="lt1"/>
                </a:solidFill>
                <a:latin typeface="Maven Pro Medium"/>
                <a:ea typeface="Maven Pro Medium"/>
                <a:cs typeface="Maven Pro Medium"/>
                <a:sym typeface="Maven Pro Medium"/>
              </a:rPr>
              <a:t>IFOP)</a:t>
            </a:r>
            <a:r>
              <a:rPr lang="es" sz="1500">
                <a:solidFill>
                  <a:schemeClr val="lt1"/>
                </a:solidFill>
                <a:latin typeface="Maven Pro Medium"/>
                <a:ea typeface="Maven Pro Medium"/>
                <a:cs typeface="Maven Pro Medium"/>
                <a:sym typeface="Maven Pro Medium"/>
              </a:rPr>
              <a:t> usado para comunicación dentro del mismo die</a:t>
            </a:r>
            <a:endParaRPr sz="1500">
              <a:solidFill>
                <a:schemeClr val="lt1"/>
              </a:solidFill>
              <a:latin typeface="Maven Pro Medium"/>
              <a:ea typeface="Maven Pro Medium"/>
              <a:cs typeface="Maven Pro Medium"/>
              <a:sym typeface="Maven Pro Medium"/>
            </a:endParaRPr>
          </a:p>
          <a:p>
            <a:pPr indent="-323850" lvl="0" marL="457200" rtl="0" algn="l">
              <a:spcBef>
                <a:spcPts val="1000"/>
              </a:spcBef>
              <a:spcAft>
                <a:spcPts val="1000"/>
              </a:spcAft>
              <a:buClr>
                <a:schemeClr val="lt1"/>
              </a:buClr>
              <a:buSzPts val="1500"/>
              <a:buFont typeface="Maven Pro Medium"/>
              <a:buChar char="●"/>
            </a:pPr>
            <a:r>
              <a:rPr lang="es" sz="1500">
                <a:solidFill>
                  <a:schemeClr val="lt1"/>
                </a:solidFill>
                <a:latin typeface="Maven Pro Medium"/>
                <a:ea typeface="Maven Pro Medium"/>
                <a:cs typeface="Maven Pro Medium"/>
                <a:sym typeface="Maven Pro Medium"/>
              </a:rPr>
              <a:t>Infinity Fabric InterSocket (</a:t>
            </a:r>
            <a:r>
              <a:rPr lang="es" sz="1500">
                <a:solidFill>
                  <a:schemeClr val="lt1"/>
                </a:solidFill>
                <a:latin typeface="Maven Pro Medium"/>
                <a:ea typeface="Maven Pro Medium"/>
                <a:cs typeface="Maven Pro Medium"/>
                <a:sym typeface="Maven Pro Medium"/>
              </a:rPr>
              <a:t>IFIS) en</a:t>
            </a:r>
            <a:r>
              <a:rPr lang="es" sz="1500">
                <a:solidFill>
                  <a:schemeClr val="lt1"/>
                </a:solidFill>
                <a:latin typeface="Maven Pro Medium"/>
                <a:ea typeface="Maven Pro Medium"/>
                <a:cs typeface="Maven Pro Medium"/>
                <a:sym typeface="Maven Pro Medium"/>
              </a:rPr>
              <a:t> la conexión que se realiza entre dispositivos separados entre si, no se encuentran en la misma placa</a:t>
            </a:r>
            <a:endParaRPr sz="1500">
              <a:solidFill>
                <a:schemeClr val="lt1"/>
              </a:solidFill>
              <a:latin typeface="Maven Pro Medium"/>
              <a:ea typeface="Maven Pro Medium"/>
              <a:cs typeface="Maven Pro Medium"/>
              <a:sym typeface="Maven Pro Medium"/>
            </a:endParaRPr>
          </a:p>
        </p:txBody>
      </p:sp>
      <p:pic>
        <p:nvPicPr>
          <p:cNvPr id="331" name="Google Shape;331;p21"/>
          <p:cNvPicPr preferRelativeResize="0"/>
          <p:nvPr/>
        </p:nvPicPr>
        <p:blipFill>
          <a:blip r:embed="rId3">
            <a:alphaModFix/>
          </a:blip>
          <a:stretch>
            <a:fillRect/>
          </a:stretch>
        </p:blipFill>
        <p:spPr>
          <a:xfrm>
            <a:off x="5130562" y="2104375"/>
            <a:ext cx="3126588" cy="934750"/>
          </a:xfrm>
          <a:prstGeom prst="rect">
            <a:avLst/>
          </a:prstGeom>
          <a:noFill/>
          <a:ln>
            <a:noFill/>
          </a:ln>
        </p:spPr>
      </p:pic>
      <p:pic>
        <p:nvPicPr>
          <p:cNvPr id="332" name="Google Shape;332;p21"/>
          <p:cNvPicPr preferRelativeResize="0"/>
          <p:nvPr/>
        </p:nvPicPr>
        <p:blipFill>
          <a:blip r:embed="rId4">
            <a:alphaModFix/>
          </a:blip>
          <a:stretch>
            <a:fillRect/>
          </a:stretch>
        </p:blipFill>
        <p:spPr>
          <a:xfrm>
            <a:off x="4731574" y="3478525"/>
            <a:ext cx="3924550" cy="9347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22"/>
          <p:cNvSpPr txBox="1"/>
          <p:nvPr/>
        </p:nvSpPr>
        <p:spPr>
          <a:xfrm>
            <a:off x="882075" y="1324475"/>
            <a:ext cx="7407300" cy="326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500">
                <a:solidFill>
                  <a:schemeClr val="lt1"/>
                </a:solidFill>
                <a:latin typeface="Maven Pro Medium"/>
                <a:ea typeface="Maven Pro Medium"/>
                <a:cs typeface="Maven Pro Medium"/>
                <a:sym typeface="Maven Pro Medium"/>
              </a:rPr>
              <a:t>Gran parte del arbitraje se realiza en el SDF, que maneja la transferencia  de datos entre los componentes del sistema.</a:t>
            </a:r>
            <a:endParaRPr sz="1500">
              <a:solidFill>
                <a:schemeClr val="lt1"/>
              </a:solidFill>
              <a:latin typeface="Maven Pro Medium"/>
              <a:ea typeface="Maven Pro Medium"/>
              <a:cs typeface="Maven Pro Medium"/>
              <a:sym typeface="Maven Pro Medium"/>
            </a:endParaRPr>
          </a:p>
          <a:p>
            <a:pPr indent="0" lvl="0" marL="0" rtl="0" algn="l">
              <a:spcBef>
                <a:spcPts val="1000"/>
              </a:spcBef>
              <a:spcAft>
                <a:spcPts val="0"/>
              </a:spcAft>
              <a:buNone/>
            </a:pPr>
            <a:r>
              <a:rPr lang="es" sz="1500">
                <a:solidFill>
                  <a:schemeClr val="lt1"/>
                </a:solidFill>
                <a:latin typeface="Maven Pro Medium"/>
                <a:ea typeface="Maven Pro Medium"/>
                <a:cs typeface="Maven Pro Medium"/>
                <a:sym typeface="Maven Pro Medium"/>
              </a:rPr>
              <a:t>El sistema de arbitraje se basa en:</a:t>
            </a:r>
            <a:endParaRPr sz="1500">
              <a:solidFill>
                <a:schemeClr val="lt1"/>
              </a:solidFill>
              <a:latin typeface="Maven Pro Medium"/>
              <a:ea typeface="Maven Pro Medium"/>
              <a:cs typeface="Maven Pro Medium"/>
              <a:sym typeface="Maven Pro Medium"/>
            </a:endParaRPr>
          </a:p>
          <a:p>
            <a:pPr indent="-323850" lvl="0" marL="457200" rtl="0" algn="l">
              <a:spcBef>
                <a:spcPts val="1000"/>
              </a:spcBef>
              <a:spcAft>
                <a:spcPts val="0"/>
              </a:spcAft>
              <a:buClr>
                <a:schemeClr val="lt1"/>
              </a:buClr>
              <a:buSzPts val="1500"/>
              <a:buFont typeface="Maven Pro Medium"/>
              <a:buAutoNum type="arabicPeriod"/>
            </a:pPr>
            <a:r>
              <a:rPr lang="es" sz="1500">
                <a:solidFill>
                  <a:schemeClr val="lt1"/>
                </a:solidFill>
                <a:latin typeface="Maven Pro Medium"/>
                <a:ea typeface="Maven Pro Medium"/>
                <a:cs typeface="Maven Pro Medium"/>
                <a:sym typeface="Maven Pro Medium"/>
              </a:rPr>
              <a:t>Canales Virtuales (VCs): Permiten </a:t>
            </a:r>
            <a:r>
              <a:rPr lang="es" sz="1500">
                <a:solidFill>
                  <a:schemeClr val="lt1"/>
                </a:solidFill>
                <a:latin typeface="Maven Pro Medium"/>
                <a:ea typeface="Maven Pro Medium"/>
                <a:cs typeface="Maven Pro Medium"/>
                <a:sym typeface="Maven Pro Medium"/>
              </a:rPr>
              <a:t>múltiples</a:t>
            </a:r>
            <a:r>
              <a:rPr lang="es" sz="1500">
                <a:solidFill>
                  <a:schemeClr val="lt1"/>
                </a:solidFill>
                <a:latin typeface="Maven Pro Medium"/>
                <a:ea typeface="Maven Pro Medium"/>
                <a:cs typeface="Maven Pro Medium"/>
                <a:sym typeface="Maven Pro Medium"/>
              </a:rPr>
              <a:t> flujos de datos independientes sobre el mismo enlace físico.</a:t>
            </a:r>
            <a:endParaRPr sz="1500">
              <a:solidFill>
                <a:schemeClr val="lt1"/>
              </a:solidFill>
              <a:latin typeface="Maven Pro Medium"/>
              <a:ea typeface="Maven Pro Medium"/>
              <a:cs typeface="Maven Pro Medium"/>
              <a:sym typeface="Maven Pro Medium"/>
            </a:endParaRPr>
          </a:p>
          <a:p>
            <a:pPr indent="-323850" lvl="0" marL="457200" rtl="0" algn="l">
              <a:spcBef>
                <a:spcPts val="1000"/>
              </a:spcBef>
              <a:spcAft>
                <a:spcPts val="0"/>
              </a:spcAft>
              <a:buClr>
                <a:schemeClr val="lt1"/>
              </a:buClr>
              <a:buSzPts val="1500"/>
              <a:buFont typeface="Maven Pro Medium"/>
              <a:buAutoNum type="arabicPeriod"/>
            </a:pPr>
            <a:r>
              <a:rPr lang="es" sz="1500">
                <a:solidFill>
                  <a:schemeClr val="lt1"/>
                </a:solidFill>
                <a:latin typeface="Maven Pro Medium"/>
                <a:ea typeface="Maven Pro Medium"/>
                <a:cs typeface="Maven Pro Medium"/>
                <a:sym typeface="Maven Pro Medium"/>
              </a:rPr>
              <a:t>Clases de prioridad: Las solicitudes se clasifican en diferentes niveles de prioridad,permitiendo que las operaciones críticas se atiendan con mayor rapidez.</a:t>
            </a:r>
            <a:endParaRPr sz="1500">
              <a:solidFill>
                <a:schemeClr val="lt1"/>
              </a:solidFill>
              <a:latin typeface="Maven Pro Medium"/>
              <a:ea typeface="Maven Pro Medium"/>
              <a:cs typeface="Maven Pro Medium"/>
              <a:sym typeface="Maven Pro Medium"/>
            </a:endParaRPr>
          </a:p>
          <a:p>
            <a:pPr indent="-323850" lvl="0" marL="457200" rtl="0" algn="l">
              <a:spcBef>
                <a:spcPts val="1000"/>
              </a:spcBef>
              <a:spcAft>
                <a:spcPts val="1000"/>
              </a:spcAft>
              <a:buClr>
                <a:schemeClr val="lt1"/>
              </a:buClr>
              <a:buSzPts val="1500"/>
              <a:buFont typeface="Maven Pro Medium"/>
              <a:buAutoNum type="arabicPeriod"/>
            </a:pPr>
            <a:r>
              <a:rPr lang="es" sz="1500">
                <a:solidFill>
                  <a:schemeClr val="lt1"/>
                </a:solidFill>
                <a:latin typeface="Maven Pro Medium"/>
                <a:ea typeface="Maven Pro Medium"/>
                <a:cs typeface="Maven Pro Medium"/>
                <a:sym typeface="Maven Pro Medium"/>
              </a:rPr>
              <a:t>Mecanismos de escalado de prioridad: En casos puntuales, las prioridades se pueden ajustar dinámicamente para garantizar que las solicitudes urgentes se procesen adecuadamente</a:t>
            </a:r>
            <a:endParaRPr sz="1500">
              <a:solidFill>
                <a:schemeClr val="lt1"/>
              </a:solidFill>
              <a:latin typeface="Maven Pro Medium"/>
              <a:ea typeface="Maven Pro Medium"/>
              <a:cs typeface="Maven Pro Medium"/>
              <a:sym typeface="Maven Pro Medium"/>
            </a:endParaRPr>
          </a:p>
        </p:txBody>
      </p:sp>
      <p:sp>
        <p:nvSpPr>
          <p:cNvPr id="338" name="Google Shape;338;p22"/>
          <p:cNvSpPr txBox="1"/>
          <p:nvPr/>
        </p:nvSpPr>
        <p:spPr>
          <a:xfrm>
            <a:off x="882075" y="677675"/>
            <a:ext cx="3400500" cy="6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200">
                <a:solidFill>
                  <a:schemeClr val="lt1"/>
                </a:solidFill>
                <a:latin typeface="Maven Pro Black"/>
                <a:ea typeface="Maven Pro Black"/>
                <a:cs typeface="Maven Pro Black"/>
                <a:sym typeface="Maven Pro Black"/>
              </a:rPr>
              <a:t>Infinity Fabric</a:t>
            </a:r>
            <a:endParaRPr sz="3200">
              <a:solidFill>
                <a:schemeClr val="lt1"/>
              </a:solidFill>
              <a:latin typeface="Maven Pro Black"/>
              <a:ea typeface="Maven Pro Black"/>
              <a:cs typeface="Maven Pro Black"/>
              <a:sym typeface="Maven Pro Black"/>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23"/>
          <p:cNvSpPr txBox="1"/>
          <p:nvPr/>
        </p:nvSpPr>
        <p:spPr>
          <a:xfrm>
            <a:off x="882075" y="1736500"/>
            <a:ext cx="4155000" cy="214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500">
                <a:solidFill>
                  <a:schemeClr val="lt1"/>
                </a:solidFill>
                <a:latin typeface="Maven Pro Medium"/>
                <a:ea typeface="Maven Pro Medium"/>
                <a:cs typeface="Maven Pro Medium"/>
                <a:sym typeface="Maven Pro Medium"/>
              </a:rPr>
              <a:t>Es una conexión punto a punto con el procesador desarrollado por Intel.</a:t>
            </a:r>
            <a:endParaRPr sz="1500">
              <a:solidFill>
                <a:schemeClr val="lt1"/>
              </a:solidFill>
              <a:latin typeface="Maven Pro Medium"/>
              <a:ea typeface="Maven Pro Medium"/>
              <a:cs typeface="Maven Pro Medium"/>
              <a:sym typeface="Maven Pro Medium"/>
            </a:endParaRPr>
          </a:p>
          <a:p>
            <a:pPr indent="0" lvl="0" marL="0" rtl="0" algn="l">
              <a:lnSpc>
                <a:spcPct val="115000"/>
              </a:lnSpc>
              <a:spcBef>
                <a:spcPts val="1000"/>
              </a:spcBef>
              <a:spcAft>
                <a:spcPts val="1000"/>
              </a:spcAft>
              <a:buNone/>
            </a:pPr>
            <a:r>
              <a:rPr lang="es" sz="1500">
                <a:solidFill>
                  <a:schemeClr val="lt1"/>
                </a:solidFill>
                <a:latin typeface="Maven Pro Medium"/>
                <a:ea typeface="Maven Pro Medium"/>
                <a:cs typeface="Maven Pro Medium"/>
                <a:sym typeface="Maven Pro Medium"/>
              </a:rPr>
              <a:t>QPI es un elemento de QuickPath, y tal como HyperTransport de AMD, QuickPath asume que el procesador tiene un controlador de memoria integrado, obligando a los multiprocesadores a usar una arquitectura NUMA.</a:t>
            </a:r>
            <a:endParaRPr sz="1500">
              <a:solidFill>
                <a:schemeClr val="lt1"/>
              </a:solidFill>
              <a:latin typeface="Maven Pro Medium"/>
              <a:ea typeface="Maven Pro Medium"/>
              <a:cs typeface="Maven Pro Medium"/>
              <a:sym typeface="Maven Pro Medium"/>
            </a:endParaRPr>
          </a:p>
        </p:txBody>
      </p:sp>
      <p:pic>
        <p:nvPicPr>
          <p:cNvPr id="344" name="Google Shape;344;p23"/>
          <p:cNvPicPr preferRelativeResize="0"/>
          <p:nvPr/>
        </p:nvPicPr>
        <p:blipFill>
          <a:blip r:embed="rId3">
            <a:alphaModFix/>
          </a:blip>
          <a:stretch>
            <a:fillRect/>
          </a:stretch>
        </p:blipFill>
        <p:spPr>
          <a:xfrm>
            <a:off x="5637775" y="1904198"/>
            <a:ext cx="2630400" cy="1972800"/>
          </a:xfrm>
          <a:prstGeom prst="roundRect">
            <a:avLst>
              <a:gd fmla="val 10148" name="adj"/>
            </a:avLst>
          </a:prstGeom>
          <a:noFill/>
          <a:ln>
            <a:noFill/>
          </a:ln>
        </p:spPr>
      </p:pic>
      <p:sp>
        <p:nvSpPr>
          <p:cNvPr id="345" name="Google Shape;345;p23"/>
          <p:cNvSpPr txBox="1"/>
          <p:nvPr/>
        </p:nvSpPr>
        <p:spPr>
          <a:xfrm>
            <a:off x="882075" y="677675"/>
            <a:ext cx="5294700" cy="6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200">
                <a:solidFill>
                  <a:schemeClr val="lt1"/>
                </a:solidFill>
                <a:latin typeface="Maven Pro Black"/>
                <a:ea typeface="Maven Pro Black"/>
                <a:cs typeface="Maven Pro Black"/>
                <a:sym typeface="Maven Pro Black"/>
              </a:rPr>
              <a:t>QuickPath Interconnect</a:t>
            </a:r>
            <a:endParaRPr sz="3200">
              <a:solidFill>
                <a:schemeClr val="lt1"/>
              </a:solidFill>
              <a:latin typeface="Maven Pro Black"/>
              <a:ea typeface="Maven Pro Black"/>
              <a:cs typeface="Maven Pro Black"/>
              <a:sym typeface="Maven Pro Black"/>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24"/>
          <p:cNvSpPr txBox="1"/>
          <p:nvPr/>
        </p:nvSpPr>
        <p:spPr>
          <a:xfrm>
            <a:off x="882075" y="2017350"/>
            <a:ext cx="7358400" cy="163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s" sz="1500">
                <a:solidFill>
                  <a:schemeClr val="lt1"/>
                </a:solidFill>
                <a:latin typeface="Maven Pro Medium"/>
                <a:ea typeface="Maven Pro Medium"/>
                <a:cs typeface="Maven Pro Medium"/>
                <a:sym typeface="Maven Pro Medium"/>
              </a:rPr>
              <a:t>QPI es un enlace serie punto a punto full duplex entre dos agentes, donde cada extremo gestiona las conexiones físicas y la coherencia de la memoria. </a:t>
            </a:r>
            <a:endParaRPr sz="1500">
              <a:solidFill>
                <a:schemeClr val="lt1"/>
              </a:solidFill>
              <a:latin typeface="Maven Pro Medium"/>
              <a:ea typeface="Maven Pro Medium"/>
              <a:cs typeface="Maven Pro Medium"/>
              <a:sym typeface="Maven Pro Medium"/>
            </a:endParaRPr>
          </a:p>
          <a:p>
            <a:pPr indent="0" lvl="0" marL="0" rtl="0" algn="l">
              <a:lnSpc>
                <a:spcPct val="115000"/>
              </a:lnSpc>
              <a:spcBef>
                <a:spcPts val="1200"/>
              </a:spcBef>
              <a:spcAft>
                <a:spcPts val="1200"/>
              </a:spcAft>
              <a:buNone/>
            </a:pPr>
            <a:r>
              <a:rPr lang="es" sz="1500">
                <a:solidFill>
                  <a:schemeClr val="lt1"/>
                </a:solidFill>
                <a:latin typeface="Maven Pro Medium"/>
                <a:ea typeface="Maven Pro Medium"/>
                <a:cs typeface="Maven Pro Medium"/>
                <a:sym typeface="Maven Pro Medium"/>
              </a:rPr>
              <a:t>Proporciona dos líneas separadas para comunicación paralela entre la CPU y el chipset, con el controlador de memoria integrado en la CPU y el chipset actuando como puente sur o HUB de E/S.</a:t>
            </a:r>
            <a:endParaRPr sz="1500">
              <a:solidFill>
                <a:schemeClr val="lt1"/>
              </a:solidFill>
              <a:latin typeface="Maven Pro Medium"/>
              <a:ea typeface="Maven Pro Medium"/>
              <a:cs typeface="Maven Pro Medium"/>
              <a:sym typeface="Maven Pro Medium"/>
            </a:endParaRPr>
          </a:p>
        </p:txBody>
      </p:sp>
      <p:sp>
        <p:nvSpPr>
          <p:cNvPr id="351" name="Google Shape;351;p24"/>
          <p:cNvSpPr txBox="1"/>
          <p:nvPr/>
        </p:nvSpPr>
        <p:spPr>
          <a:xfrm>
            <a:off x="882075" y="677675"/>
            <a:ext cx="5294700" cy="6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200">
                <a:solidFill>
                  <a:schemeClr val="lt1"/>
                </a:solidFill>
                <a:latin typeface="Maven Pro Black"/>
                <a:ea typeface="Maven Pro Black"/>
                <a:cs typeface="Maven Pro Black"/>
                <a:sym typeface="Maven Pro Black"/>
              </a:rPr>
              <a:t>QuickPath Interconnect</a:t>
            </a:r>
            <a:endParaRPr sz="3200">
              <a:solidFill>
                <a:schemeClr val="lt1"/>
              </a:solidFill>
              <a:latin typeface="Maven Pro Black"/>
              <a:ea typeface="Maven Pro Black"/>
              <a:cs typeface="Maven Pro Black"/>
              <a:sym typeface="Maven Pro Black"/>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25"/>
          <p:cNvSpPr txBox="1"/>
          <p:nvPr/>
        </p:nvSpPr>
        <p:spPr>
          <a:xfrm>
            <a:off x="882075" y="1586275"/>
            <a:ext cx="6817500" cy="15123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lt1"/>
              </a:buClr>
              <a:buSzPts val="1500"/>
              <a:buFont typeface="Maven Pro"/>
              <a:buAutoNum type="arabicPeriod"/>
            </a:pPr>
            <a:r>
              <a:rPr b="1" lang="es" sz="1500">
                <a:solidFill>
                  <a:schemeClr val="lt1"/>
                </a:solidFill>
                <a:latin typeface="Maven Pro"/>
                <a:ea typeface="Maven Pro"/>
                <a:cs typeface="Maven Pro"/>
                <a:sym typeface="Maven Pro"/>
              </a:rPr>
              <a:t>Transferencia de datos y CRC:</a:t>
            </a:r>
            <a:r>
              <a:rPr lang="es" sz="1500">
                <a:solidFill>
                  <a:schemeClr val="lt1"/>
                </a:solidFill>
                <a:latin typeface="Maven Pro Medium"/>
                <a:ea typeface="Maven Pro Medium"/>
                <a:cs typeface="Maven Pro Medium"/>
                <a:sym typeface="Maven Pro Medium"/>
              </a:rPr>
              <a:t> Cada línea transfiere 20 bits por ciclo, de los cuales 16 son para datos y 4 para CRC, lo que permite verificar la integridad de la información recibida.</a:t>
            </a:r>
            <a:endParaRPr sz="1500">
              <a:solidFill>
                <a:schemeClr val="lt1"/>
              </a:solidFill>
              <a:latin typeface="Maven Pro Medium"/>
              <a:ea typeface="Maven Pro Medium"/>
              <a:cs typeface="Maven Pro Medium"/>
              <a:sym typeface="Maven Pro Medium"/>
            </a:endParaRPr>
          </a:p>
          <a:p>
            <a:pPr indent="-323850" lvl="0" marL="457200" rtl="0" algn="l">
              <a:lnSpc>
                <a:spcPct val="115000"/>
              </a:lnSpc>
              <a:spcBef>
                <a:spcPts val="1000"/>
              </a:spcBef>
              <a:spcAft>
                <a:spcPts val="0"/>
              </a:spcAft>
              <a:buClr>
                <a:schemeClr val="lt1"/>
              </a:buClr>
              <a:buSzPts val="1500"/>
              <a:buFont typeface="Maven Pro"/>
              <a:buAutoNum type="arabicPeriod" startAt="2"/>
            </a:pPr>
            <a:r>
              <a:rPr b="1" lang="es" sz="1500">
                <a:solidFill>
                  <a:schemeClr val="lt1"/>
                </a:solidFill>
                <a:latin typeface="Maven Pro"/>
                <a:ea typeface="Maven Pro"/>
                <a:cs typeface="Maven Pro"/>
                <a:sym typeface="Maven Pro"/>
              </a:rPr>
              <a:t>Frecuencia y DDR:</a:t>
            </a:r>
            <a:r>
              <a:rPr lang="es" sz="1500">
                <a:solidFill>
                  <a:schemeClr val="lt1"/>
                </a:solidFill>
                <a:latin typeface="Maven Pro Medium"/>
                <a:ea typeface="Maven Pro Medium"/>
                <a:cs typeface="Maven Pro Medium"/>
                <a:sym typeface="Maven Pro Medium"/>
              </a:rPr>
              <a:t> QPI opera a 3.2 GHz, transfiriendo dos datos por ciclo (DDR), lo que resulta en una frecuencia efectiva de 6.4 GHz.</a:t>
            </a:r>
            <a:endParaRPr sz="1500">
              <a:solidFill>
                <a:schemeClr val="lt1"/>
              </a:solidFill>
              <a:latin typeface="Maven Pro Medium"/>
              <a:ea typeface="Maven Pro Medium"/>
              <a:cs typeface="Maven Pro Medium"/>
              <a:sym typeface="Maven Pro Medium"/>
            </a:endParaRPr>
          </a:p>
          <a:p>
            <a:pPr indent="0" lvl="0" marL="0" rtl="0" algn="l">
              <a:lnSpc>
                <a:spcPct val="115000"/>
              </a:lnSpc>
              <a:spcBef>
                <a:spcPts val="1200"/>
              </a:spcBef>
              <a:spcAft>
                <a:spcPts val="0"/>
              </a:spcAft>
              <a:buNone/>
            </a:pPr>
            <a:r>
              <a:t/>
            </a:r>
            <a:endParaRPr sz="1500" u="sng">
              <a:solidFill>
                <a:schemeClr val="lt1"/>
              </a:solidFill>
              <a:latin typeface="Maven Pro Medium"/>
              <a:ea typeface="Maven Pro Medium"/>
              <a:cs typeface="Maven Pro Medium"/>
              <a:sym typeface="Maven Pro Medium"/>
            </a:endParaRPr>
          </a:p>
          <a:p>
            <a:pPr indent="0" lvl="0" marL="0" rtl="0" algn="l">
              <a:spcBef>
                <a:spcPts val="1200"/>
              </a:spcBef>
              <a:spcAft>
                <a:spcPts val="0"/>
              </a:spcAft>
              <a:buNone/>
            </a:pPr>
            <a:r>
              <a:t/>
            </a:r>
            <a:endParaRPr sz="1500" u="sng">
              <a:solidFill>
                <a:schemeClr val="lt1"/>
              </a:solidFill>
              <a:latin typeface="Maven Pro Medium"/>
              <a:ea typeface="Maven Pro Medium"/>
              <a:cs typeface="Maven Pro Medium"/>
              <a:sym typeface="Maven Pro Medium"/>
            </a:endParaRPr>
          </a:p>
        </p:txBody>
      </p:sp>
      <p:sp>
        <p:nvSpPr>
          <p:cNvPr id="357" name="Google Shape;357;p25"/>
          <p:cNvSpPr txBox="1"/>
          <p:nvPr/>
        </p:nvSpPr>
        <p:spPr>
          <a:xfrm>
            <a:off x="882075" y="677675"/>
            <a:ext cx="5294700" cy="6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200">
                <a:solidFill>
                  <a:schemeClr val="lt1"/>
                </a:solidFill>
                <a:latin typeface="Maven Pro Black"/>
                <a:ea typeface="Maven Pro Black"/>
                <a:cs typeface="Maven Pro Black"/>
                <a:sym typeface="Maven Pro Black"/>
              </a:rPr>
              <a:t>QuickPath Interconnect</a:t>
            </a:r>
            <a:endParaRPr sz="3200">
              <a:solidFill>
                <a:schemeClr val="lt1"/>
              </a:solidFill>
              <a:latin typeface="Maven Pro Black"/>
              <a:ea typeface="Maven Pro Black"/>
              <a:cs typeface="Maven Pro Black"/>
              <a:sym typeface="Maven Pro Black"/>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26"/>
          <p:cNvSpPr txBox="1"/>
          <p:nvPr/>
        </p:nvSpPr>
        <p:spPr>
          <a:xfrm>
            <a:off x="882075" y="1512400"/>
            <a:ext cx="7096500" cy="30873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0"/>
              </a:spcBef>
              <a:spcAft>
                <a:spcPts val="0"/>
              </a:spcAft>
              <a:buClr>
                <a:schemeClr val="lt1"/>
              </a:buClr>
              <a:buSzPts val="1500"/>
              <a:buAutoNum type="arabicPeriod" startAt="3"/>
            </a:pPr>
            <a:r>
              <a:rPr b="1" lang="es" sz="1500">
                <a:solidFill>
                  <a:schemeClr val="lt1"/>
                </a:solidFill>
                <a:latin typeface="Maven Pro"/>
                <a:ea typeface="Maven Pro"/>
                <a:cs typeface="Maven Pro"/>
                <a:sym typeface="Maven Pro"/>
              </a:rPr>
              <a:t>Tasa de transferencia</a:t>
            </a:r>
            <a:r>
              <a:rPr lang="es" sz="1500">
                <a:solidFill>
                  <a:schemeClr val="lt1"/>
                </a:solidFill>
                <a:latin typeface="Maven Pro Medium"/>
                <a:ea typeface="Maven Pro Medium"/>
                <a:cs typeface="Maven Pro Medium"/>
                <a:sym typeface="Maven Pro Medium"/>
              </a:rPr>
              <a:t>: Cada línea tiene una transferencia teórica máxima de 12.8 GB/s, aunque algunos calculan hasta 25.6 GB/s al considerar el bus full duplex.</a:t>
            </a:r>
            <a:endParaRPr sz="1500">
              <a:solidFill>
                <a:schemeClr val="lt1"/>
              </a:solidFill>
              <a:latin typeface="Maven Pro Medium"/>
              <a:ea typeface="Maven Pro Medium"/>
              <a:cs typeface="Maven Pro Medium"/>
              <a:sym typeface="Maven Pro Medium"/>
            </a:endParaRPr>
          </a:p>
          <a:p>
            <a:pPr indent="-323850" lvl="0" marL="457200" rtl="0" algn="l">
              <a:lnSpc>
                <a:spcPct val="115000"/>
              </a:lnSpc>
              <a:spcBef>
                <a:spcPts val="1000"/>
              </a:spcBef>
              <a:spcAft>
                <a:spcPts val="0"/>
              </a:spcAft>
              <a:buClr>
                <a:schemeClr val="lt1"/>
              </a:buClr>
              <a:buSzPts val="1500"/>
              <a:buAutoNum type="arabicPeriod" startAt="3"/>
            </a:pPr>
            <a:r>
              <a:rPr b="1" lang="es" sz="1500">
                <a:solidFill>
                  <a:schemeClr val="lt1"/>
                </a:solidFill>
                <a:latin typeface="Maven Pro"/>
                <a:ea typeface="Maven Pro"/>
                <a:cs typeface="Maven Pro"/>
                <a:sym typeface="Maven Pro"/>
              </a:rPr>
              <a:t>Control de flits</a:t>
            </a:r>
            <a:r>
              <a:rPr lang="es" sz="1500">
                <a:solidFill>
                  <a:schemeClr val="lt1"/>
                </a:solidFill>
                <a:latin typeface="Maven Pro Medium"/>
                <a:ea typeface="Maven Pro Medium"/>
                <a:cs typeface="Maven Pro Medium"/>
                <a:sym typeface="Maven Pro Medium"/>
              </a:rPr>
              <a:t>: El hardware empaqueta y desempaqueta flits, controla el flujo con créditos y decide qué mensaje se transmite según la prioridad fija.</a:t>
            </a:r>
            <a:endParaRPr sz="1500">
              <a:solidFill>
                <a:schemeClr val="lt1"/>
              </a:solidFill>
              <a:latin typeface="Maven Pro Medium"/>
              <a:ea typeface="Maven Pro Medium"/>
              <a:cs typeface="Maven Pro Medium"/>
              <a:sym typeface="Maven Pro Medium"/>
            </a:endParaRPr>
          </a:p>
          <a:p>
            <a:pPr indent="-323850" lvl="0" marL="457200" rtl="0" algn="l">
              <a:lnSpc>
                <a:spcPct val="115000"/>
              </a:lnSpc>
              <a:spcBef>
                <a:spcPts val="1200"/>
              </a:spcBef>
              <a:spcAft>
                <a:spcPts val="1000"/>
              </a:spcAft>
              <a:buClr>
                <a:schemeClr val="lt1"/>
              </a:buClr>
              <a:buSzPts val="1500"/>
              <a:buAutoNum type="arabicPeriod" startAt="3"/>
            </a:pPr>
            <a:r>
              <a:rPr b="1" lang="es" sz="1500">
                <a:solidFill>
                  <a:schemeClr val="lt1"/>
                </a:solidFill>
                <a:latin typeface="Maven Pro"/>
                <a:ea typeface="Maven Pro"/>
                <a:cs typeface="Maven Pro"/>
                <a:sym typeface="Maven Pro"/>
              </a:rPr>
              <a:t>Gestión del Home Agent</a:t>
            </a:r>
            <a:r>
              <a:rPr lang="es" sz="1500">
                <a:solidFill>
                  <a:schemeClr val="lt1"/>
                </a:solidFill>
                <a:latin typeface="Maven Pro Medium"/>
                <a:ea typeface="Maven Pro Medium"/>
                <a:cs typeface="Maven Pro Medium"/>
                <a:sym typeface="Maven Pro Medium"/>
              </a:rPr>
              <a:t>: El Home Agent recopila respuestas de los agentes de caché, resuelve quién obtiene la línea solicitada y ordena la transferencia final de datos.</a:t>
            </a:r>
            <a:br>
              <a:rPr lang="es" sz="1500">
                <a:latin typeface="Maven Pro Medium"/>
                <a:ea typeface="Maven Pro Medium"/>
                <a:cs typeface="Maven Pro Medium"/>
                <a:sym typeface="Maven Pro Medium"/>
              </a:rPr>
            </a:br>
            <a:endParaRPr sz="1500">
              <a:latin typeface="Maven Pro Medium"/>
              <a:ea typeface="Maven Pro Medium"/>
              <a:cs typeface="Maven Pro Medium"/>
              <a:sym typeface="Maven Pro Medium"/>
            </a:endParaRPr>
          </a:p>
        </p:txBody>
      </p:sp>
      <p:sp>
        <p:nvSpPr>
          <p:cNvPr id="363" name="Google Shape;363;p26"/>
          <p:cNvSpPr txBox="1"/>
          <p:nvPr/>
        </p:nvSpPr>
        <p:spPr>
          <a:xfrm>
            <a:off x="882075" y="677675"/>
            <a:ext cx="5294700" cy="6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200">
                <a:solidFill>
                  <a:schemeClr val="lt1"/>
                </a:solidFill>
                <a:latin typeface="Maven Pro Black"/>
                <a:ea typeface="Maven Pro Black"/>
                <a:cs typeface="Maven Pro Black"/>
                <a:sym typeface="Maven Pro Black"/>
              </a:rPr>
              <a:t>QuickPath Interconnect</a:t>
            </a:r>
            <a:endParaRPr sz="3200">
              <a:solidFill>
                <a:schemeClr val="lt1"/>
              </a:solidFill>
              <a:latin typeface="Maven Pro Black"/>
              <a:ea typeface="Maven Pro Black"/>
              <a:cs typeface="Maven Pro Black"/>
              <a:sym typeface="Maven Pro Black"/>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27"/>
          <p:cNvSpPr txBox="1"/>
          <p:nvPr/>
        </p:nvSpPr>
        <p:spPr>
          <a:xfrm>
            <a:off x="882075" y="1406500"/>
            <a:ext cx="7342800" cy="2316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s" sz="1500">
                <a:solidFill>
                  <a:schemeClr val="lt1"/>
                </a:solidFill>
                <a:latin typeface="Maven Pro Medium"/>
                <a:ea typeface="Maven Pro Medium"/>
                <a:cs typeface="Maven Pro Medium"/>
                <a:sym typeface="Maven Pro Medium"/>
              </a:rPr>
              <a:t>El Intel Ultra Path Interconnect (UPI) reemplazó al QPI en las plataformas Xeon Skylake-SP a partir de 2017, ofreciendo una interconexión escalable y coherente. </a:t>
            </a:r>
            <a:endParaRPr sz="1500">
              <a:solidFill>
                <a:schemeClr val="lt1"/>
              </a:solidFill>
              <a:latin typeface="Maven Pro Medium"/>
              <a:ea typeface="Maven Pro Medium"/>
              <a:cs typeface="Maven Pro Medium"/>
              <a:sym typeface="Maven Pro Medium"/>
            </a:endParaRPr>
          </a:p>
          <a:p>
            <a:pPr indent="0" lvl="0" marL="0" rtl="0" algn="l">
              <a:lnSpc>
                <a:spcPct val="115000"/>
              </a:lnSpc>
              <a:spcBef>
                <a:spcPts val="1200"/>
              </a:spcBef>
              <a:spcAft>
                <a:spcPts val="0"/>
              </a:spcAft>
              <a:buNone/>
            </a:pPr>
            <a:r>
              <a:rPr lang="es" sz="1500">
                <a:solidFill>
                  <a:schemeClr val="lt1"/>
                </a:solidFill>
                <a:latin typeface="Maven Pro Medium"/>
                <a:ea typeface="Maven Pro Medium"/>
                <a:cs typeface="Maven Pro Medium"/>
                <a:sym typeface="Maven Pro Medium"/>
              </a:rPr>
              <a:t>No es un bus compartido, sino que cada extremo tiene un módulo CHA que actúa como árbitro lógico, sin un maestro físico. </a:t>
            </a:r>
            <a:endParaRPr sz="1500">
              <a:solidFill>
                <a:schemeClr val="lt1"/>
              </a:solidFill>
              <a:latin typeface="Maven Pro Medium"/>
              <a:ea typeface="Maven Pro Medium"/>
              <a:cs typeface="Maven Pro Medium"/>
              <a:sym typeface="Maven Pro Medium"/>
            </a:endParaRPr>
          </a:p>
          <a:p>
            <a:pPr indent="0" lvl="0" marL="0" rtl="0" algn="l">
              <a:lnSpc>
                <a:spcPct val="115000"/>
              </a:lnSpc>
              <a:spcBef>
                <a:spcPts val="1200"/>
              </a:spcBef>
              <a:spcAft>
                <a:spcPts val="1200"/>
              </a:spcAft>
              <a:buNone/>
            </a:pPr>
            <a:r>
              <a:rPr lang="es" sz="1500">
                <a:solidFill>
                  <a:schemeClr val="lt1"/>
                </a:solidFill>
                <a:latin typeface="Maven Pro Medium"/>
                <a:ea typeface="Maven Pro Medium"/>
                <a:cs typeface="Maven Pro Medium"/>
                <a:sym typeface="Maven Pro Medium"/>
              </a:rPr>
              <a:t>UPI 2.0 permite transferencias de hasta 24 GT/s (48 GB/s por enlace) y se utiliza en sistemas multiprocesador con múltiples enlaces UPI.</a:t>
            </a:r>
            <a:endParaRPr sz="1500">
              <a:solidFill>
                <a:schemeClr val="lt1"/>
              </a:solidFill>
              <a:latin typeface="Maven Pro Medium"/>
              <a:ea typeface="Maven Pro Medium"/>
              <a:cs typeface="Maven Pro Medium"/>
              <a:sym typeface="Maven Pro Medium"/>
            </a:endParaRPr>
          </a:p>
        </p:txBody>
      </p:sp>
      <p:pic>
        <p:nvPicPr>
          <p:cNvPr id="369" name="Google Shape;369;p27"/>
          <p:cNvPicPr preferRelativeResize="0"/>
          <p:nvPr/>
        </p:nvPicPr>
        <p:blipFill>
          <a:blip r:embed="rId3">
            <a:alphaModFix/>
          </a:blip>
          <a:stretch>
            <a:fillRect/>
          </a:stretch>
        </p:blipFill>
        <p:spPr>
          <a:xfrm>
            <a:off x="5886975" y="3723100"/>
            <a:ext cx="2797872" cy="1116000"/>
          </a:xfrm>
          <a:prstGeom prst="rect">
            <a:avLst/>
          </a:prstGeom>
          <a:noFill/>
          <a:ln>
            <a:noFill/>
          </a:ln>
        </p:spPr>
      </p:pic>
      <p:sp>
        <p:nvSpPr>
          <p:cNvPr id="370" name="Google Shape;370;p27"/>
          <p:cNvSpPr txBox="1"/>
          <p:nvPr/>
        </p:nvSpPr>
        <p:spPr>
          <a:xfrm>
            <a:off x="882075" y="677675"/>
            <a:ext cx="5294700" cy="6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200">
                <a:solidFill>
                  <a:schemeClr val="lt1"/>
                </a:solidFill>
                <a:latin typeface="Maven Pro Black"/>
                <a:ea typeface="Maven Pro Black"/>
                <a:cs typeface="Maven Pro Black"/>
                <a:sym typeface="Maven Pro Black"/>
              </a:rPr>
              <a:t>Ultra Path Interconnect</a:t>
            </a:r>
            <a:endParaRPr sz="3200">
              <a:solidFill>
                <a:schemeClr val="lt1"/>
              </a:solidFill>
              <a:latin typeface="Maven Pro Black"/>
              <a:ea typeface="Maven Pro Black"/>
              <a:cs typeface="Maven Pro Black"/>
              <a:sym typeface="Maven Pro Black"/>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28"/>
          <p:cNvSpPr txBox="1"/>
          <p:nvPr/>
        </p:nvSpPr>
        <p:spPr>
          <a:xfrm>
            <a:off x="882075" y="1440000"/>
            <a:ext cx="7342800" cy="30675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1200"/>
              </a:spcBef>
              <a:spcAft>
                <a:spcPts val="0"/>
              </a:spcAft>
              <a:buClr>
                <a:schemeClr val="lt1"/>
              </a:buClr>
              <a:buSzPts val="1500"/>
              <a:buAutoNum type="arabicPeriod"/>
            </a:pPr>
            <a:r>
              <a:rPr b="1" lang="es" sz="1500">
                <a:solidFill>
                  <a:schemeClr val="lt1"/>
                </a:solidFill>
                <a:latin typeface="Maven Pro"/>
                <a:ea typeface="Maven Pro"/>
                <a:cs typeface="Maven Pro"/>
                <a:sym typeface="Maven Pro"/>
              </a:rPr>
              <a:t>Interconexión de alta velocidad</a:t>
            </a:r>
            <a:r>
              <a:rPr lang="es" sz="1500">
                <a:solidFill>
                  <a:schemeClr val="lt1"/>
                </a:solidFill>
                <a:latin typeface="Maven Pro Medium"/>
                <a:ea typeface="Maven Pro Medium"/>
                <a:cs typeface="Maven Pro Medium"/>
                <a:sym typeface="Maven Pro Medium"/>
              </a:rPr>
              <a:t>: UPI reemplaza a QPI en Xeon Skylake-SP, proporcionando interconexión coherente de alta velocidad entre sockets con hasta 24 GT/s (~48 GB/s) por enlace.</a:t>
            </a:r>
            <a:br>
              <a:rPr lang="es" sz="1500">
                <a:solidFill>
                  <a:schemeClr val="lt1"/>
                </a:solidFill>
                <a:latin typeface="Maven Pro Medium"/>
                <a:ea typeface="Maven Pro Medium"/>
                <a:cs typeface="Maven Pro Medium"/>
                <a:sym typeface="Maven Pro Medium"/>
              </a:rPr>
            </a:br>
            <a:endParaRPr sz="1500">
              <a:solidFill>
                <a:schemeClr val="lt1"/>
              </a:solidFill>
              <a:latin typeface="Maven Pro Medium"/>
              <a:ea typeface="Maven Pro Medium"/>
              <a:cs typeface="Maven Pro Medium"/>
              <a:sym typeface="Maven Pro Medium"/>
            </a:endParaRPr>
          </a:p>
          <a:p>
            <a:pPr indent="-323850" lvl="0" marL="457200" rtl="0" algn="l">
              <a:lnSpc>
                <a:spcPct val="115000"/>
              </a:lnSpc>
              <a:spcBef>
                <a:spcPts val="0"/>
              </a:spcBef>
              <a:spcAft>
                <a:spcPts val="0"/>
              </a:spcAft>
              <a:buClr>
                <a:schemeClr val="lt1"/>
              </a:buClr>
              <a:buSzPts val="1500"/>
              <a:buAutoNum type="arabicPeriod"/>
            </a:pPr>
            <a:r>
              <a:rPr b="1" lang="es" sz="1500">
                <a:solidFill>
                  <a:schemeClr val="lt1"/>
                </a:solidFill>
                <a:latin typeface="Maven Pro"/>
                <a:ea typeface="Maven Pro"/>
                <a:cs typeface="Maven Pro"/>
                <a:sym typeface="Maven Pro"/>
              </a:rPr>
              <a:t>Formato de paquete</a:t>
            </a:r>
            <a:r>
              <a:rPr lang="es" sz="1500">
                <a:solidFill>
                  <a:schemeClr val="lt1"/>
                </a:solidFill>
                <a:latin typeface="Maven Pro Medium"/>
                <a:ea typeface="Maven Pro Medium"/>
                <a:cs typeface="Maven Pro Medium"/>
                <a:sym typeface="Maven Pro Medium"/>
              </a:rPr>
              <a:t>: Cada enlace utiliza un formato de paquete con campos de datos y CRC para mejorar la eficiencia y habilitar retransmisiones ante errores.</a:t>
            </a:r>
            <a:br>
              <a:rPr lang="es" sz="1500">
                <a:solidFill>
                  <a:schemeClr val="lt1"/>
                </a:solidFill>
                <a:latin typeface="Maven Pro Medium"/>
                <a:ea typeface="Maven Pro Medium"/>
                <a:cs typeface="Maven Pro Medium"/>
                <a:sym typeface="Maven Pro Medium"/>
              </a:rPr>
            </a:br>
            <a:endParaRPr sz="1500">
              <a:solidFill>
                <a:schemeClr val="lt1"/>
              </a:solidFill>
              <a:latin typeface="Maven Pro Medium"/>
              <a:ea typeface="Maven Pro Medium"/>
              <a:cs typeface="Maven Pro Medium"/>
              <a:sym typeface="Maven Pro Medium"/>
            </a:endParaRPr>
          </a:p>
          <a:p>
            <a:pPr indent="-323850" lvl="0" marL="457200" rtl="0" algn="l">
              <a:lnSpc>
                <a:spcPct val="115000"/>
              </a:lnSpc>
              <a:spcBef>
                <a:spcPts val="0"/>
              </a:spcBef>
              <a:spcAft>
                <a:spcPts val="0"/>
              </a:spcAft>
              <a:buClr>
                <a:schemeClr val="lt1"/>
              </a:buClr>
              <a:buSzPts val="1500"/>
              <a:buAutoNum type="arabicPeriod"/>
            </a:pPr>
            <a:r>
              <a:rPr b="1" lang="es" sz="1500">
                <a:solidFill>
                  <a:schemeClr val="lt1"/>
                </a:solidFill>
                <a:latin typeface="Maven Pro"/>
                <a:ea typeface="Maven Pro"/>
                <a:cs typeface="Maven Pro"/>
                <a:sym typeface="Maven Pro"/>
              </a:rPr>
              <a:t>Link Layer</a:t>
            </a:r>
            <a:r>
              <a:rPr lang="es" sz="1500">
                <a:solidFill>
                  <a:schemeClr val="lt1"/>
                </a:solidFill>
                <a:latin typeface="Maven Pro Medium"/>
                <a:ea typeface="Maven Pro Medium"/>
                <a:cs typeface="Maven Pro Medium"/>
                <a:sym typeface="Maven Pro Medium"/>
              </a:rPr>
              <a:t>: La Link Layer empaqueta y desempaqueta flits, verifica el CRC y regula el flujo mediante un esquema de créditos y un planificador round-robin entre Virtual Networks.</a:t>
            </a:r>
            <a:endParaRPr sz="1500">
              <a:solidFill>
                <a:schemeClr val="lt1"/>
              </a:solidFill>
              <a:latin typeface="Maven Pro Medium"/>
              <a:ea typeface="Maven Pro Medium"/>
              <a:cs typeface="Maven Pro Medium"/>
              <a:sym typeface="Maven Pro Medium"/>
            </a:endParaRPr>
          </a:p>
        </p:txBody>
      </p:sp>
      <p:sp>
        <p:nvSpPr>
          <p:cNvPr id="376" name="Google Shape;376;p28"/>
          <p:cNvSpPr txBox="1"/>
          <p:nvPr/>
        </p:nvSpPr>
        <p:spPr>
          <a:xfrm>
            <a:off x="882075" y="677675"/>
            <a:ext cx="5294700" cy="6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200">
                <a:solidFill>
                  <a:schemeClr val="lt1"/>
                </a:solidFill>
                <a:latin typeface="Maven Pro Black"/>
                <a:ea typeface="Maven Pro Black"/>
                <a:cs typeface="Maven Pro Black"/>
                <a:sym typeface="Maven Pro Black"/>
              </a:rPr>
              <a:t>Ultra Path Interconnect</a:t>
            </a:r>
            <a:endParaRPr sz="3200">
              <a:solidFill>
                <a:schemeClr val="lt1"/>
              </a:solidFill>
              <a:latin typeface="Maven Pro Black"/>
              <a:ea typeface="Maven Pro Black"/>
              <a:cs typeface="Maven Pro Black"/>
              <a:sym typeface="Maven Pro Black"/>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29"/>
          <p:cNvSpPr txBox="1"/>
          <p:nvPr/>
        </p:nvSpPr>
        <p:spPr>
          <a:xfrm>
            <a:off x="716975" y="1324475"/>
            <a:ext cx="7738500" cy="34902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Clr>
                <a:schemeClr val="lt1"/>
              </a:buClr>
              <a:buSzPts val="1500"/>
              <a:buAutoNum type="arabicPeriod"/>
            </a:pPr>
            <a:r>
              <a:rPr b="1" lang="es" sz="1500">
                <a:solidFill>
                  <a:schemeClr val="lt1"/>
                </a:solidFill>
                <a:latin typeface="Maven Pro"/>
                <a:ea typeface="Maven Pro"/>
                <a:cs typeface="Maven Pro"/>
                <a:sym typeface="Maven Pro"/>
              </a:rPr>
              <a:t>Capa de Routing</a:t>
            </a:r>
            <a:r>
              <a:rPr lang="es" sz="1500">
                <a:solidFill>
                  <a:schemeClr val="lt1"/>
                </a:solidFill>
                <a:latin typeface="Maven Pro Medium"/>
                <a:ea typeface="Maven Pro Medium"/>
                <a:cs typeface="Maven Pro Medium"/>
                <a:sym typeface="Maven Pro Medium"/>
              </a:rPr>
              <a:t>: La capa de Routing lee la cabecera de cada flit y lo reenvía al siguiente salto según las tablas de enrutamiento para topologías multinodo.</a:t>
            </a:r>
            <a:br>
              <a:rPr lang="es" sz="1500">
                <a:solidFill>
                  <a:schemeClr val="lt1"/>
                </a:solidFill>
                <a:latin typeface="Maven Pro Medium"/>
                <a:ea typeface="Maven Pro Medium"/>
                <a:cs typeface="Maven Pro Medium"/>
                <a:sym typeface="Maven Pro Medium"/>
              </a:rPr>
            </a:br>
            <a:endParaRPr sz="1500">
              <a:solidFill>
                <a:schemeClr val="lt1"/>
              </a:solidFill>
              <a:latin typeface="Maven Pro Medium"/>
              <a:ea typeface="Maven Pro Medium"/>
              <a:cs typeface="Maven Pro Medium"/>
              <a:sym typeface="Maven Pro Medium"/>
            </a:endParaRPr>
          </a:p>
          <a:p>
            <a:pPr indent="-323850" lvl="0" marL="457200" rtl="0" algn="l">
              <a:lnSpc>
                <a:spcPct val="115000"/>
              </a:lnSpc>
              <a:spcBef>
                <a:spcPts val="0"/>
              </a:spcBef>
              <a:spcAft>
                <a:spcPts val="0"/>
              </a:spcAft>
              <a:buClr>
                <a:schemeClr val="lt1"/>
              </a:buClr>
              <a:buSzPts val="1500"/>
              <a:buAutoNum type="arabicPeriod"/>
            </a:pPr>
            <a:r>
              <a:rPr b="1" lang="es" sz="1500">
                <a:solidFill>
                  <a:schemeClr val="lt1"/>
                </a:solidFill>
                <a:latin typeface="Maven Pro"/>
                <a:ea typeface="Maven Pro"/>
                <a:cs typeface="Maven Pro"/>
                <a:sym typeface="Maven Pro"/>
              </a:rPr>
              <a:t>Capa de Protocolo</a:t>
            </a:r>
            <a:r>
              <a:rPr lang="es" sz="1500">
                <a:solidFill>
                  <a:schemeClr val="lt1"/>
                </a:solidFill>
                <a:latin typeface="Maven Pro Medium"/>
                <a:ea typeface="Maven Pro Medium"/>
                <a:cs typeface="Maven Pro Medium"/>
                <a:sym typeface="Maven Pro Medium"/>
              </a:rPr>
              <a:t>: La capa de Protocolo define mensajes coherentes (REQ, SNP, RSP, WB) y de gestión, implementando un protocolo de coherencia snoop basado en directorio.</a:t>
            </a:r>
            <a:br>
              <a:rPr lang="es" sz="1500">
                <a:solidFill>
                  <a:schemeClr val="lt1"/>
                </a:solidFill>
                <a:latin typeface="Maven Pro Medium"/>
                <a:ea typeface="Maven Pro Medium"/>
                <a:cs typeface="Maven Pro Medium"/>
                <a:sym typeface="Maven Pro Medium"/>
              </a:rPr>
            </a:br>
            <a:endParaRPr sz="1500">
              <a:solidFill>
                <a:schemeClr val="lt1"/>
              </a:solidFill>
              <a:latin typeface="Maven Pro Medium"/>
              <a:ea typeface="Maven Pro Medium"/>
              <a:cs typeface="Maven Pro Medium"/>
              <a:sym typeface="Maven Pro Medium"/>
            </a:endParaRPr>
          </a:p>
          <a:p>
            <a:pPr indent="-323850" lvl="0" marL="457200" rtl="0" algn="l">
              <a:lnSpc>
                <a:spcPct val="115000"/>
              </a:lnSpc>
              <a:spcBef>
                <a:spcPts val="0"/>
              </a:spcBef>
              <a:spcAft>
                <a:spcPts val="0"/>
              </a:spcAft>
              <a:buClr>
                <a:schemeClr val="lt1"/>
              </a:buClr>
              <a:buSzPts val="1500"/>
              <a:buAutoNum type="arabicPeriod"/>
            </a:pPr>
            <a:r>
              <a:rPr b="1" lang="es" sz="1500">
                <a:solidFill>
                  <a:schemeClr val="lt1"/>
                </a:solidFill>
                <a:latin typeface="Maven Pro"/>
                <a:ea typeface="Maven Pro"/>
                <a:cs typeface="Maven Pro"/>
                <a:sym typeface="Maven Pro"/>
              </a:rPr>
              <a:t>CHAs</a:t>
            </a:r>
            <a:r>
              <a:rPr lang="es" sz="1500">
                <a:solidFill>
                  <a:schemeClr val="lt1"/>
                </a:solidFill>
                <a:latin typeface="Maven Pro Medium"/>
                <a:ea typeface="Maven Pro Medium"/>
                <a:cs typeface="Maven Pro Medium"/>
                <a:sym typeface="Maven Pro Medium"/>
              </a:rPr>
              <a:t>: Los CHAs combinan Caching y Home Agent, gestionando snoops locales y remotos, manteniendo el directorio de caché y autorizando transferencias de datos para garantizar la coherencia distribuida.</a:t>
            </a:r>
            <a:endParaRPr sz="1500">
              <a:solidFill>
                <a:schemeClr val="lt1"/>
              </a:solidFill>
              <a:latin typeface="Maven Pro Medium"/>
              <a:ea typeface="Maven Pro Medium"/>
              <a:cs typeface="Maven Pro Medium"/>
              <a:sym typeface="Maven Pro Medium"/>
            </a:endParaRPr>
          </a:p>
          <a:p>
            <a:pPr indent="0" lvl="0" marL="457200" rtl="0" algn="l">
              <a:lnSpc>
                <a:spcPct val="115000"/>
              </a:lnSpc>
              <a:spcBef>
                <a:spcPts val="1200"/>
              </a:spcBef>
              <a:spcAft>
                <a:spcPts val="1000"/>
              </a:spcAft>
              <a:buNone/>
            </a:pPr>
            <a:br>
              <a:rPr lang="es" sz="1500">
                <a:latin typeface="Maven Pro Medium"/>
                <a:ea typeface="Maven Pro Medium"/>
                <a:cs typeface="Maven Pro Medium"/>
                <a:sym typeface="Maven Pro Medium"/>
              </a:rPr>
            </a:br>
            <a:endParaRPr sz="1500">
              <a:solidFill>
                <a:schemeClr val="lt1"/>
              </a:solidFill>
              <a:latin typeface="Maven Pro Medium"/>
              <a:ea typeface="Maven Pro Medium"/>
              <a:cs typeface="Maven Pro Medium"/>
              <a:sym typeface="Maven Pro Medium"/>
            </a:endParaRPr>
          </a:p>
        </p:txBody>
      </p:sp>
      <p:sp>
        <p:nvSpPr>
          <p:cNvPr id="382" name="Google Shape;382;p29"/>
          <p:cNvSpPr txBox="1"/>
          <p:nvPr/>
        </p:nvSpPr>
        <p:spPr>
          <a:xfrm>
            <a:off x="882075" y="677675"/>
            <a:ext cx="5294700" cy="6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200">
                <a:solidFill>
                  <a:schemeClr val="lt1"/>
                </a:solidFill>
                <a:latin typeface="Maven Pro Black"/>
                <a:ea typeface="Maven Pro Black"/>
                <a:cs typeface="Maven Pro Black"/>
                <a:sym typeface="Maven Pro Black"/>
              </a:rPr>
              <a:t>Ultra Path Interconnect</a:t>
            </a:r>
            <a:endParaRPr sz="3200">
              <a:solidFill>
                <a:schemeClr val="lt1"/>
              </a:solidFill>
              <a:latin typeface="Maven Pro Black"/>
              <a:ea typeface="Maven Pro Black"/>
              <a:cs typeface="Maven Pro Black"/>
              <a:sym typeface="Maven Pro Black"/>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30"/>
          <p:cNvSpPr txBox="1"/>
          <p:nvPr/>
        </p:nvSpPr>
        <p:spPr>
          <a:xfrm>
            <a:off x="882075" y="1440000"/>
            <a:ext cx="6942300" cy="29214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chemeClr val="lt1"/>
              </a:buClr>
              <a:buSzPts val="1500"/>
              <a:buFont typeface="Maven Pro Medium"/>
              <a:buAutoNum type="arabicParenR"/>
            </a:pPr>
            <a:r>
              <a:rPr lang="es" sz="1500">
                <a:solidFill>
                  <a:schemeClr val="lt1"/>
                </a:solidFill>
                <a:latin typeface="Maven Pro Medium"/>
                <a:ea typeface="Maven Pro Medium"/>
                <a:cs typeface="Maven Pro Medium"/>
                <a:sym typeface="Maven Pro Medium"/>
              </a:rPr>
              <a:t>UPI es mas eficientemente energético que  QPI, porque tiene un nuevo  estado de bajo consumo.</a:t>
            </a:r>
            <a:endParaRPr sz="1500">
              <a:solidFill>
                <a:schemeClr val="lt1"/>
              </a:solidFill>
              <a:latin typeface="Maven Pro Medium"/>
              <a:ea typeface="Maven Pro Medium"/>
              <a:cs typeface="Maven Pro Medium"/>
              <a:sym typeface="Maven Pro Medium"/>
            </a:endParaRPr>
          </a:p>
          <a:p>
            <a:pPr indent="-323850" lvl="0" marL="457200" rtl="0" algn="l">
              <a:lnSpc>
                <a:spcPct val="115000"/>
              </a:lnSpc>
              <a:spcBef>
                <a:spcPts val="0"/>
              </a:spcBef>
              <a:spcAft>
                <a:spcPts val="0"/>
              </a:spcAft>
              <a:buClr>
                <a:schemeClr val="lt1"/>
              </a:buClr>
              <a:buSzPts val="1500"/>
              <a:buFont typeface="Maven Pro Medium"/>
              <a:buAutoNum type="arabicParenR"/>
            </a:pPr>
            <a:r>
              <a:rPr lang="es" sz="1500">
                <a:solidFill>
                  <a:schemeClr val="lt1"/>
                </a:solidFill>
                <a:latin typeface="Maven Pro Medium"/>
                <a:ea typeface="Maven Pro Medium"/>
                <a:cs typeface="Maven Pro Medium"/>
                <a:sym typeface="Maven Pro Medium"/>
              </a:rPr>
              <a:t>UPI solo soporta coherencia basada en directorio, mientras que QPI soportan múltiples modos de monitoreo.</a:t>
            </a:r>
            <a:endParaRPr sz="1500">
              <a:solidFill>
                <a:schemeClr val="lt1"/>
              </a:solidFill>
              <a:latin typeface="Maven Pro Medium"/>
              <a:ea typeface="Maven Pro Medium"/>
              <a:cs typeface="Maven Pro Medium"/>
              <a:sym typeface="Maven Pro Medium"/>
            </a:endParaRPr>
          </a:p>
          <a:p>
            <a:pPr indent="-323850" lvl="0" marL="457200" rtl="0" algn="l">
              <a:lnSpc>
                <a:spcPct val="115000"/>
              </a:lnSpc>
              <a:spcBef>
                <a:spcPts val="0"/>
              </a:spcBef>
              <a:spcAft>
                <a:spcPts val="1000"/>
              </a:spcAft>
              <a:buClr>
                <a:schemeClr val="lt1"/>
              </a:buClr>
              <a:buSzPts val="1500"/>
              <a:buFont typeface="Maven Pro Medium"/>
              <a:buAutoNum type="arabicParenR"/>
            </a:pPr>
            <a:r>
              <a:rPr lang="es" sz="1500">
                <a:solidFill>
                  <a:schemeClr val="lt1"/>
                </a:solidFill>
                <a:latin typeface="Maven Pro Medium"/>
                <a:ea typeface="Maven Pro Medium"/>
                <a:cs typeface="Maven Pro Medium"/>
                <a:sym typeface="Maven Pro Medium"/>
              </a:rPr>
              <a:t>UPI  tiene CHA, mientras que QPI no.</a:t>
            </a:r>
            <a:endParaRPr sz="1500">
              <a:solidFill>
                <a:schemeClr val="lt1"/>
              </a:solidFill>
              <a:latin typeface="Maven Pro Medium"/>
              <a:ea typeface="Maven Pro Medium"/>
              <a:cs typeface="Maven Pro Medium"/>
              <a:sym typeface="Maven Pro Medium"/>
            </a:endParaRPr>
          </a:p>
        </p:txBody>
      </p:sp>
      <p:sp>
        <p:nvSpPr>
          <p:cNvPr id="388" name="Google Shape;388;p30"/>
          <p:cNvSpPr txBox="1"/>
          <p:nvPr/>
        </p:nvSpPr>
        <p:spPr>
          <a:xfrm>
            <a:off x="882075" y="677675"/>
            <a:ext cx="5294700" cy="6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200">
                <a:solidFill>
                  <a:schemeClr val="lt1"/>
                </a:solidFill>
                <a:latin typeface="Maven Pro Black"/>
                <a:ea typeface="Maven Pro Black"/>
                <a:cs typeface="Maven Pro Black"/>
                <a:sym typeface="Maven Pro Black"/>
              </a:rPr>
              <a:t>Ultra Path Interconnect</a:t>
            </a:r>
            <a:endParaRPr sz="3200">
              <a:solidFill>
                <a:schemeClr val="lt1"/>
              </a:solidFill>
              <a:latin typeface="Maven Pro Black"/>
              <a:ea typeface="Maven Pro Black"/>
              <a:cs typeface="Maven Pro Black"/>
              <a:sym typeface="Maven Pro Black"/>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31"/>
          <p:cNvSpPr txBox="1"/>
          <p:nvPr/>
        </p:nvSpPr>
        <p:spPr>
          <a:xfrm>
            <a:off x="882075" y="1440000"/>
            <a:ext cx="4247400" cy="3098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s" sz="1500">
                <a:solidFill>
                  <a:schemeClr val="lt1"/>
                </a:solidFill>
                <a:latin typeface="Maven Pro Medium"/>
                <a:ea typeface="Maven Pro Medium"/>
                <a:cs typeface="Maven Pro Medium"/>
                <a:sym typeface="Maven Pro Medium"/>
              </a:rPr>
              <a:t>Skylake, lanzado en 2015, es la sexta generación de microprocesadores de Intel, fabricado a 14 nm, con mejoras en rendimiento de CPU y GPU y menor consumo de energía. Incluye procesadores Core i3, i5, i7, i9 y Xeon, con hasta 28 núcleos, y fue descontinuada en 2019, siendo compatible con Windows 7 y 8.1. Skylake SP ofrece hasta 28 núcleos, soporte para DDR4, enlaces UPI a 10.4GT/s, 48 carriles PCIe 3.0 y optimización de Turbo Boost.</a:t>
            </a:r>
            <a:endParaRPr sz="1500">
              <a:solidFill>
                <a:schemeClr val="lt1"/>
              </a:solidFill>
              <a:latin typeface="Maven Pro Medium"/>
              <a:ea typeface="Maven Pro Medium"/>
              <a:cs typeface="Maven Pro Medium"/>
              <a:sym typeface="Maven Pro Medium"/>
            </a:endParaRPr>
          </a:p>
        </p:txBody>
      </p:sp>
      <p:pic>
        <p:nvPicPr>
          <p:cNvPr id="394" name="Google Shape;394;p31"/>
          <p:cNvPicPr preferRelativeResize="0"/>
          <p:nvPr/>
        </p:nvPicPr>
        <p:blipFill>
          <a:blip r:embed="rId3">
            <a:alphaModFix/>
          </a:blip>
          <a:stretch>
            <a:fillRect/>
          </a:stretch>
        </p:blipFill>
        <p:spPr>
          <a:xfrm>
            <a:off x="5494256" y="2243400"/>
            <a:ext cx="3084300" cy="2295300"/>
          </a:xfrm>
          <a:prstGeom prst="roundRect">
            <a:avLst>
              <a:gd fmla="val 12962" name="adj"/>
            </a:avLst>
          </a:prstGeom>
          <a:noFill/>
          <a:ln>
            <a:noFill/>
          </a:ln>
        </p:spPr>
      </p:pic>
      <p:sp>
        <p:nvSpPr>
          <p:cNvPr id="395" name="Google Shape;395;p31"/>
          <p:cNvSpPr txBox="1"/>
          <p:nvPr/>
        </p:nvSpPr>
        <p:spPr>
          <a:xfrm>
            <a:off x="882075" y="677675"/>
            <a:ext cx="5294700" cy="6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200">
                <a:solidFill>
                  <a:schemeClr val="lt1"/>
                </a:solidFill>
                <a:latin typeface="Maven Pro Black"/>
                <a:ea typeface="Maven Pro Black"/>
                <a:cs typeface="Maven Pro Black"/>
                <a:sym typeface="Maven Pro Black"/>
              </a:rPr>
              <a:t>Ultra Path Interconnect</a:t>
            </a:r>
            <a:endParaRPr sz="3200">
              <a:solidFill>
                <a:schemeClr val="lt1"/>
              </a:solidFill>
              <a:latin typeface="Maven Pro Black"/>
              <a:ea typeface="Maven Pro Black"/>
              <a:cs typeface="Maven Pro Black"/>
              <a:sym typeface="Maven Pro Black"/>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32"/>
          <p:cNvSpPr txBox="1"/>
          <p:nvPr/>
        </p:nvSpPr>
        <p:spPr>
          <a:xfrm>
            <a:off x="882075" y="1324475"/>
            <a:ext cx="4835700" cy="347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s" sz="1500">
                <a:solidFill>
                  <a:schemeClr val="lt1"/>
                </a:solidFill>
                <a:latin typeface="Maven Pro Medium"/>
                <a:ea typeface="Maven Pro Medium"/>
                <a:cs typeface="Maven Pro Medium"/>
                <a:sym typeface="Maven Pro Medium"/>
              </a:rPr>
              <a:t>Protocolo de comunicación de corto alcance desarrollado por Nvidia para transferir datos y códigos de control entre CPUs y GPUs o entre GPUs.</a:t>
            </a:r>
            <a:endParaRPr sz="1500">
              <a:solidFill>
                <a:schemeClr val="lt1"/>
              </a:solidFill>
              <a:latin typeface="Maven Pro Medium"/>
              <a:ea typeface="Maven Pro Medium"/>
              <a:cs typeface="Maven Pro Medium"/>
              <a:sym typeface="Maven Pro Medium"/>
            </a:endParaRPr>
          </a:p>
          <a:p>
            <a:pPr indent="0" lvl="0" marL="0" rtl="0" algn="l">
              <a:lnSpc>
                <a:spcPct val="115000"/>
              </a:lnSpc>
              <a:spcBef>
                <a:spcPts val="1200"/>
              </a:spcBef>
              <a:spcAft>
                <a:spcPts val="0"/>
              </a:spcAft>
              <a:buNone/>
            </a:pPr>
            <a:r>
              <a:rPr lang="es" sz="1500">
                <a:solidFill>
                  <a:schemeClr val="lt1"/>
                </a:solidFill>
                <a:latin typeface="Maven Pro Medium"/>
                <a:ea typeface="Maven Pro Medium"/>
                <a:cs typeface="Maven Pro Medium"/>
                <a:sym typeface="Maven Pro Medium"/>
              </a:rPr>
              <a:t>Ofrece un mayor ancho de banda, soporta topologías escalables y resilientes como malla, y utiliza controladores integrados en los chips para gestionar la transferencia de datos.</a:t>
            </a:r>
            <a:endParaRPr sz="1500">
              <a:solidFill>
                <a:schemeClr val="lt1"/>
              </a:solidFill>
              <a:latin typeface="Maven Pro Medium"/>
              <a:ea typeface="Maven Pro Medium"/>
              <a:cs typeface="Maven Pro Medium"/>
              <a:sym typeface="Maven Pro Medium"/>
            </a:endParaRPr>
          </a:p>
          <a:p>
            <a:pPr indent="0" lvl="0" marL="0" rtl="0" algn="l">
              <a:lnSpc>
                <a:spcPct val="115000"/>
              </a:lnSpc>
              <a:spcBef>
                <a:spcPts val="1200"/>
              </a:spcBef>
              <a:spcAft>
                <a:spcPts val="0"/>
              </a:spcAft>
              <a:buNone/>
            </a:pPr>
            <a:r>
              <a:rPr lang="es" sz="1500">
                <a:solidFill>
                  <a:schemeClr val="lt1"/>
                </a:solidFill>
                <a:latin typeface="Maven Pro Medium"/>
                <a:ea typeface="Maven Pro Medium"/>
                <a:cs typeface="Maven Pro Medium"/>
                <a:sym typeface="Maven Pro Medium"/>
              </a:rPr>
              <a:t>Emplea canales virtuales y control de flujo basado en créditos, con un algoritmo Round-Robin para garantizar equidad en la transmisión de flits.</a:t>
            </a:r>
            <a:endParaRPr sz="1500">
              <a:solidFill>
                <a:schemeClr val="lt1"/>
              </a:solidFill>
              <a:latin typeface="Maven Pro Medium"/>
              <a:ea typeface="Maven Pro Medium"/>
              <a:cs typeface="Maven Pro Medium"/>
              <a:sym typeface="Maven Pro Medium"/>
            </a:endParaRPr>
          </a:p>
          <a:p>
            <a:pPr indent="0" lvl="0" marL="0" rtl="0" algn="l">
              <a:spcBef>
                <a:spcPts val="1200"/>
              </a:spcBef>
              <a:spcAft>
                <a:spcPts val="0"/>
              </a:spcAft>
              <a:buNone/>
            </a:pPr>
            <a:r>
              <a:t/>
            </a:r>
            <a:endParaRPr sz="1500">
              <a:solidFill>
                <a:schemeClr val="dk2"/>
              </a:solidFill>
              <a:latin typeface="Nunito"/>
              <a:ea typeface="Nunito"/>
              <a:cs typeface="Nunito"/>
              <a:sym typeface="Nunito"/>
            </a:endParaRPr>
          </a:p>
        </p:txBody>
      </p:sp>
      <p:pic>
        <p:nvPicPr>
          <p:cNvPr id="401" name="Google Shape;401;p32"/>
          <p:cNvPicPr preferRelativeResize="0"/>
          <p:nvPr/>
        </p:nvPicPr>
        <p:blipFill>
          <a:blip r:embed="rId3">
            <a:alphaModFix/>
          </a:blip>
          <a:stretch>
            <a:fillRect/>
          </a:stretch>
        </p:blipFill>
        <p:spPr>
          <a:xfrm>
            <a:off x="5717675" y="138600"/>
            <a:ext cx="3327275" cy="1834825"/>
          </a:xfrm>
          <a:prstGeom prst="rect">
            <a:avLst/>
          </a:prstGeom>
          <a:noFill/>
          <a:ln>
            <a:noFill/>
          </a:ln>
        </p:spPr>
      </p:pic>
      <p:sp>
        <p:nvSpPr>
          <p:cNvPr id="402" name="Google Shape;402;p32"/>
          <p:cNvSpPr txBox="1"/>
          <p:nvPr/>
        </p:nvSpPr>
        <p:spPr>
          <a:xfrm>
            <a:off x="882075" y="677675"/>
            <a:ext cx="5294700" cy="6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200">
                <a:solidFill>
                  <a:schemeClr val="lt1"/>
                </a:solidFill>
                <a:latin typeface="Maven Pro Black"/>
                <a:ea typeface="Maven Pro Black"/>
                <a:cs typeface="Maven Pro Black"/>
                <a:sym typeface="Maven Pro Black"/>
              </a:rPr>
              <a:t>NVLink</a:t>
            </a:r>
            <a:endParaRPr sz="3200">
              <a:solidFill>
                <a:schemeClr val="lt1"/>
              </a:solidFill>
              <a:latin typeface="Maven Pro Black"/>
              <a:ea typeface="Maven Pro Black"/>
              <a:cs typeface="Maven Pro Black"/>
              <a:sym typeface="Maven Pro Black"/>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33"/>
          <p:cNvSpPr txBox="1"/>
          <p:nvPr/>
        </p:nvSpPr>
        <p:spPr>
          <a:xfrm>
            <a:off x="882075" y="1440000"/>
            <a:ext cx="7054800" cy="36021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 sz="1500">
                <a:solidFill>
                  <a:schemeClr val="lt1"/>
                </a:solidFill>
                <a:latin typeface="Maven Pro Medium"/>
                <a:ea typeface="Maven Pro Medium"/>
                <a:cs typeface="Maven Pro Medium"/>
                <a:sym typeface="Maven Pro Medium"/>
              </a:rPr>
              <a:t>Proporcionar una red punto a punto de alta velocidad para </a:t>
            </a:r>
            <a:r>
              <a:rPr lang="es" sz="1500">
                <a:solidFill>
                  <a:schemeClr val="lt1"/>
                </a:solidFill>
                <a:uFill>
                  <a:noFill/>
                </a:uFill>
                <a:latin typeface="Maven Pro Medium"/>
                <a:ea typeface="Maven Pro Medium"/>
                <a:cs typeface="Maven Pro Medium"/>
                <a:sym typeface="Maven Pro Medium"/>
                <a:hlinkClick r:id="rId3">
                  <a:extLst>
                    <a:ext uri="{A12FA001-AC4F-418D-AE19-62706E023703}">
                      <ahyp:hlinkClr val="tx"/>
                    </a:ext>
                  </a:extLst>
                </a:hlinkClick>
              </a:rPr>
              <a:t>Interconexiones de GPU</a:t>
            </a:r>
            <a:r>
              <a:rPr lang="es" sz="1500">
                <a:solidFill>
                  <a:schemeClr val="lt1"/>
                </a:solidFill>
                <a:latin typeface="Maven Pro Medium"/>
                <a:ea typeface="Maven Pro Medium"/>
                <a:cs typeface="Maven Pro Medium"/>
                <a:sym typeface="Maven Pro Medium"/>
              </a:rPr>
              <a:t>.</a:t>
            </a:r>
            <a:endParaRPr sz="1500">
              <a:solidFill>
                <a:schemeClr val="lt1"/>
              </a:solidFill>
              <a:latin typeface="Maven Pro Medium"/>
              <a:ea typeface="Maven Pro Medium"/>
              <a:cs typeface="Maven Pro Medium"/>
              <a:sym typeface="Maven Pro Medium"/>
            </a:endParaRPr>
          </a:p>
          <a:p>
            <a:pPr indent="0" lvl="0" marL="0" rtl="0" algn="just">
              <a:lnSpc>
                <a:spcPct val="115000"/>
              </a:lnSpc>
              <a:spcBef>
                <a:spcPts val="2000"/>
              </a:spcBef>
              <a:spcAft>
                <a:spcPts val="0"/>
              </a:spcAft>
              <a:buNone/>
            </a:pPr>
            <a:r>
              <a:rPr lang="es" sz="1500">
                <a:solidFill>
                  <a:schemeClr val="lt1"/>
                </a:solidFill>
                <a:latin typeface="Maven Pro Medium"/>
                <a:ea typeface="Maven Pro Medium"/>
                <a:cs typeface="Maven Pro Medium"/>
                <a:sym typeface="Maven Pro Medium"/>
              </a:rPr>
              <a:t>La interfaz NVLink extremadamente simplificada proporciona aceleración CUDA desde la capa de sesión a la capa de representación y a la capa de aplicación, lo que reduce aún más la sobrecarga de la red debido a la comunicación.</a:t>
            </a:r>
            <a:endParaRPr sz="1500">
              <a:solidFill>
                <a:schemeClr val="lt1"/>
              </a:solidFill>
              <a:latin typeface="Maven Pro Medium"/>
              <a:ea typeface="Maven Pro Medium"/>
              <a:cs typeface="Maven Pro Medium"/>
              <a:sym typeface="Maven Pro Medium"/>
            </a:endParaRPr>
          </a:p>
          <a:p>
            <a:pPr indent="0" lvl="0" marL="0" rtl="0" algn="just">
              <a:lnSpc>
                <a:spcPct val="115000"/>
              </a:lnSpc>
              <a:spcBef>
                <a:spcPts val="2000"/>
              </a:spcBef>
              <a:spcAft>
                <a:spcPts val="0"/>
              </a:spcAft>
              <a:buNone/>
            </a:pPr>
            <a:r>
              <a:rPr lang="es" sz="1500">
                <a:solidFill>
                  <a:schemeClr val="lt1"/>
                </a:solidFill>
                <a:latin typeface="Maven Pro Medium"/>
                <a:ea typeface="Maven Pro Medium"/>
                <a:cs typeface="Maven Pro Medium"/>
                <a:sym typeface="Maven Pro Medium"/>
              </a:rPr>
              <a:t>Las GPU pueden interconectarse directamente entre sí dentro del servidor a altas velocidades, sin la necesidad de comunicarse a través de conmutadores PCIe. </a:t>
            </a:r>
            <a:endParaRPr sz="1500">
              <a:solidFill>
                <a:schemeClr val="dk2"/>
              </a:solidFill>
              <a:latin typeface="Maven Pro Medium"/>
              <a:ea typeface="Maven Pro Medium"/>
              <a:cs typeface="Maven Pro Medium"/>
              <a:sym typeface="Maven Pro Medium"/>
            </a:endParaRPr>
          </a:p>
        </p:txBody>
      </p:sp>
      <p:sp>
        <p:nvSpPr>
          <p:cNvPr id="408" name="Google Shape;408;p33"/>
          <p:cNvSpPr txBox="1"/>
          <p:nvPr/>
        </p:nvSpPr>
        <p:spPr>
          <a:xfrm>
            <a:off x="882075" y="677675"/>
            <a:ext cx="5294700" cy="6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200">
                <a:solidFill>
                  <a:schemeClr val="lt1"/>
                </a:solidFill>
                <a:latin typeface="Maven Pro Black"/>
                <a:ea typeface="Maven Pro Black"/>
                <a:cs typeface="Maven Pro Black"/>
                <a:sym typeface="Maven Pro Black"/>
              </a:rPr>
              <a:t>NVLink</a:t>
            </a:r>
            <a:endParaRPr sz="3200">
              <a:solidFill>
                <a:schemeClr val="lt1"/>
              </a:solidFill>
              <a:latin typeface="Maven Pro Black"/>
              <a:ea typeface="Maven Pro Black"/>
              <a:cs typeface="Maven Pro Black"/>
              <a:sym typeface="Maven Pro Black"/>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34"/>
          <p:cNvSpPr txBox="1"/>
          <p:nvPr/>
        </p:nvSpPr>
        <p:spPr>
          <a:xfrm>
            <a:off x="882075" y="1474350"/>
            <a:ext cx="7254900" cy="2582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s" sz="1500">
                <a:solidFill>
                  <a:schemeClr val="lt1"/>
                </a:solidFill>
                <a:latin typeface="Maven Pro Medium"/>
                <a:ea typeface="Maven Pro Medium"/>
                <a:cs typeface="Maven Pro Medium"/>
                <a:sym typeface="Maven Pro Medium"/>
              </a:rPr>
              <a:t>NVLink ha evolucionado desde la primera generación en P100 hasta la cuarta en H100, mejorando el ancho de banda de 3 GB/s a 900 GB/s. </a:t>
            </a:r>
            <a:endParaRPr sz="1500">
              <a:solidFill>
                <a:schemeClr val="lt1"/>
              </a:solidFill>
              <a:latin typeface="Maven Pro Medium"/>
              <a:ea typeface="Maven Pro Medium"/>
              <a:cs typeface="Maven Pro Medium"/>
              <a:sym typeface="Maven Pro Medium"/>
            </a:endParaRPr>
          </a:p>
          <a:p>
            <a:pPr indent="0" lvl="0" marL="0" rtl="0" algn="l">
              <a:lnSpc>
                <a:spcPct val="115000"/>
              </a:lnSpc>
              <a:spcBef>
                <a:spcPts val="1200"/>
              </a:spcBef>
              <a:spcAft>
                <a:spcPts val="0"/>
              </a:spcAft>
              <a:buNone/>
            </a:pPr>
            <a:r>
              <a:rPr lang="es" sz="1500">
                <a:solidFill>
                  <a:schemeClr val="lt1"/>
                </a:solidFill>
                <a:latin typeface="Maven Pro Medium"/>
                <a:ea typeface="Maven Pro Medium"/>
                <a:cs typeface="Maven Pro Medium"/>
                <a:sym typeface="Maven Pro Medium"/>
              </a:rPr>
              <a:t>NVLink4 utiliza 112G PAM4 Serdes, proporcionando 224 Gbps por enlace unidireccional y 50 GB/s bidireccional, conectando cada GPU H100 a un chip NVSwitch3 con 18 enlaces.</a:t>
            </a:r>
            <a:endParaRPr sz="1500">
              <a:solidFill>
                <a:schemeClr val="lt1"/>
              </a:solidFill>
              <a:latin typeface="Maven Pro Medium"/>
              <a:ea typeface="Maven Pro Medium"/>
              <a:cs typeface="Maven Pro Medium"/>
              <a:sym typeface="Maven Pro Medium"/>
            </a:endParaRPr>
          </a:p>
          <a:p>
            <a:pPr indent="0" lvl="0" marL="0" rtl="0" algn="l">
              <a:lnSpc>
                <a:spcPct val="115000"/>
              </a:lnSpc>
              <a:spcBef>
                <a:spcPts val="1200"/>
              </a:spcBef>
              <a:spcAft>
                <a:spcPts val="1200"/>
              </a:spcAft>
              <a:buNone/>
            </a:pPr>
            <a:r>
              <a:rPr lang="es" sz="1500">
                <a:solidFill>
                  <a:schemeClr val="lt1"/>
                </a:solidFill>
                <a:latin typeface="Maven Pro Medium"/>
                <a:ea typeface="Maven Pro Medium"/>
                <a:cs typeface="Maven Pro Medium"/>
                <a:sym typeface="Maven Pro Medium"/>
              </a:rPr>
              <a:t>Esta tecnología ha transformado la computación de alto rendimiento, mejorando la comunicación entre GPUs y facilitando un procesamiento paralelo eficiente.</a:t>
            </a:r>
            <a:endParaRPr sz="1500">
              <a:solidFill>
                <a:schemeClr val="lt1"/>
              </a:solidFill>
              <a:latin typeface="Maven Pro Medium"/>
              <a:ea typeface="Maven Pro Medium"/>
              <a:cs typeface="Maven Pro Medium"/>
              <a:sym typeface="Maven Pro Medium"/>
            </a:endParaRPr>
          </a:p>
        </p:txBody>
      </p:sp>
      <p:sp>
        <p:nvSpPr>
          <p:cNvPr id="414" name="Google Shape;414;p34"/>
          <p:cNvSpPr txBox="1"/>
          <p:nvPr/>
        </p:nvSpPr>
        <p:spPr>
          <a:xfrm>
            <a:off x="882075" y="677675"/>
            <a:ext cx="5294700" cy="6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200">
                <a:solidFill>
                  <a:schemeClr val="lt1"/>
                </a:solidFill>
                <a:latin typeface="Maven Pro Black"/>
                <a:ea typeface="Maven Pro Black"/>
                <a:cs typeface="Maven Pro Black"/>
                <a:sym typeface="Maven Pro Black"/>
              </a:rPr>
              <a:t>NVLink</a:t>
            </a:r>
            <a:endParaRPr sz="3200">
              <a:solidFill>
                <a:schemeClr val="lt1"/>
              </a:solidFill>
              <a:latin typeface="Maven Pro Black"/>
              <a:ea typeface="Maven Pro Black"/>
              <a:cs typeface="Maven Pro Black"/>
              <a:sym typeface="Maven Pro Black"/>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35"/>
          <p:cNvSpPr txBox="1"/>
          <p:nvPr/>
        </p:nvSpPr>
        <p:spPr>
          <a:xfrm>
            <a:off x="882075" y="1549725"/>
            <a:ext cx="7266600" cy="28053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Clr>
                <a:schemeClr val="lt1"/>
              </a:buClr>
              <a:buSzPts val="1500"/>
              <a:buAutoNum type="arabicPeriod"/>
            </a:pPr>
            <a:r>
              <a:rPr b="1" lang="es" sz="1500">
                <a:solidFill>
                  <a:schemeClr val="lt1"/>
                </a:solidFill>
              </a:rPr>
              <a:t>Fragmentación de datos</a:t>
            </a:r>
            <a:r>
              <a:rPr lang="es" sz="1500">
                <a:solidFill>
                  <a:schemeClr val="lt1"/>
                </a:solidFill>
              </a:rPr>
              <a:t>: Los datos se dividen en flits de 128 bits, y un paquete puede tener entre 1 y 18 flits (cabecera + payload).</a:t>
            </a:r>
            <a:br>
              <a:rPr lang="es" sz="1500">
                <a:solidFill>
                  <a:schemeClr val="lt1"/>
                </a:solidFill>
              </a:rPr>
            </a:br>
            <a:endParaRPr sz="1500">
              <a:solidFill>
                <a:schemeClr val="lt1"/>
              </a:solidFill>
            </a:endParaRPr>
          </a:p>
          <a:p>
            <a:pPr indent="-323850" lvl="0" marL="457200" rtl="0" algn="l">
              <a:lnSpc>
                <a:spcPct val="115000"/>
              </a:lnSpc>
              <a:spcBef>
                <a:spcPts val="0"/>
              </a:spcBef>
              <a:spcAft>
                <a:spcPts val="0"/>
              </a:spcAft>
              <a:buClr>
                <a:schemeClr val="lt1"/>
              </a:buClr>
              <a:buSzPts val="1500"/>
              <a:buAutoNum type="arabicPeriod"/>
            </a:pPr>
            <a:r>
              <a:rPr b="1" lang="es" sz="1500">
                <a:solidFill>
                  <a:schemeClr val="lt1"/>
                </a:solidFill>
              </a:rPr>
              <a:t>Conexión de bricks NVLink</a:t>
            </a:r>
            <a:r>
              <a:rPr lang="es" sz="1500">
                <a:solidFill>
                  <a:schemeClr val="lt1"/>
                </a:solidFill>
              </a:rPr>
              <a:t>: Cada brick de NVLink tiene 8 pares de cables diferenciales por dirección, con reloj embebido y soporte para inversión de orden y polaridad de carril.</a:t>
            </a:r>
            <a:br>
              <a:rPr lang="es" sz="1500">
                <a:solidFill>
                  <a:schemeClr val="lt1"/>
                </a:solidFill>
              </a:rPr>
            </a:br>
            <a:endParaRPr sz="1500">
              <a:solidFill>
                <a:schemeClr val="lt1"/>
              </a:solidFill>
            </a:endParaRPr>
          </a:p>
          <a:p>
            <a:pPr indent="-323850" lvl="0" marL="457200" rtl="0" algn="l">
              <a:lnSpc>
                <a:spcPct val="115000"/>
              </a:lnSpc>
              <a:spcBef>
                <a:spcPts val="0"/>
              </a:spcBef>
              <a:spcAft>
                <a:spcPts val="0"/>
              </a:spcAft>
              <a:buClr>
                <a:schemeClr val="lt1"/>
              </a:buClr>
              <a:buSzPts val="1500"/>
              <a:buAutoNum type="arabicPeriod"/>
            </a:pPr>
            <a:r>
              <a:rPr b="1" lang="es" sz="1500">
                <a:solidFill>
                  <a:schemeClr val="lt1"/>
                </a:solidFill>
              </a:rPr>
              <a:t>Flit de cabecera</a:t>
            </a:r>
            <a:r>
              <a:rPr lang="es" sz="1500">
                <a:solidFill>
                  <a:schemeClr val="lt1"/>
                </a:solidFill>
              </a:rPr>
              <a:t>: El flit de cabecera incluye control de flujo (créditos), identificador de transacción y un CRC de 25 bits. El controlador remoto envía créditos para liberar espacio en los buffers emisores.</a:t>
            </a:r>
            <a:endParaRPr sz="1500">
              <a:solidFill>
                <a:schemeClr val="lt1"/>
              </a:solidFill>
            </a:endParaRPr>
          </a:p>
        </p:txBody>
      </p:sp>
      <p:sp>
        <p:nvSpPr>
          <p:cNvPr id="420" name="Google Shape;420;p35"/>
          <p:cNvSpPr txBox="1"/>
          <p:nvPr/>
        </p:nvSpPr>
        <p:spPr>
          <a:xfrm>
            <a:off x="882075" y="677675"/>
            <a:ext cx="5294700" cy="6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200">
                <a:solidFill>
                  <a:schemeClr val="lt1"/>
                </a:solidFill>
                <a:latin typeface="Maven Pro Black"/>
                <a:ea typeface="Maven Pro Black"/>
                <a:cs typeface="Maven Pro Black"/>
                <a:sym typeface="Maven Pro Black"/>
              </a:rPr>
              <a:t>NVLink</a:t>
            </a:r>
            <a:endParaRPr sz="3200">
              <a:solidFill>
                <a:schemeClr val="lt1"/>
              </a:solidFill>
              <a:latin typeface="Maven Pro Black"/>
              <a:ea typeface="Maven Pro Black"/>
              <a:cs typeface="Maven Pro Black"/>
              <a:sym typeface="Maven Pro Black"/>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36"/>
          <p:cNvSpPr txBox="1"/>
          <p:nvPr/>
        </p:nvSpPr>
        <p:spPr>
          <a:xfrm>
            <a:off x="882075" y="677675"/>
            <a:ext cx="5294700" cy="6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200">
                <a:solidFill>
                  <a:schemeClr val="lt1"/>
                </a:solidFill>
                <a:latin typeface="Maven Pro Black"/>
                <a:ea typeface="Maven Pro Black"/>
                <a:cs typeface="Maven Pro Black"/>
                <a:sym typeface="Maven Pro Black"/>
              </a:rPr>
              <a:t>NVLink</a:t>
            </a:r>
            <a:endParaRPr sz="3200">
              <a:solidFill>
                <a:schemeClr val="lt1"/>
              </a:solidFill>
              <a:latin typeface="Maven Pro Black"/>
              <a:ea typeface="Maven Pro Black"/>
              <a:cs typeface="Maven Pro Black"/>
              <a:sym typeface="Maven Pro Black"/>
            </a:endParaRPr>
          </a:p>
        </p:txBody>
      </p:sp>
      <p:sp>
        <p:nvSpPr>
          <p:cNvPr id="426" name="Google Shape;426;p36"/>
          <p:cNvSpPr txBox="1"/>
          <p:nvPr/>
        </p:nvSpPr>
        <p:spPr>
          <a:xfrm>
            <a:off x="882075" y="1632100"/>
            <a:ext cx="7490400" cy="22743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Clr>
                <a:schemeClr val="lt1"/>
              </a:buClr>
              <a:buSzPts val="1500"/>
              <a:buAutoNum type="arabicPeriod"/>
            </a:pPr>
            <a:r>
              <a:rPr b="1" lang="es" sz="1500">
                <a:solidFill>
                  <a:schemeClr val="lt1"/>
                </a:solidFill>
              </a:rPr>
              <a:t>Manejo de errores</a:t>
            </a:r>
            <a:r>
              <a:rPr lang="es" sz="1500">
                <a:solidFill>
                  <a:schemeClr val="lt1"/>
                </a:solidFill>
              </a:rPr>
              <a:t>: Si hay un error (CRC incorrecto o falta de acuse), el transmisor utiliza un buffer de repetición y retransmite desde el último punto confirmado.</a:t>
            </a:r>
            <a:br>
              <a:rPr lang="es" sz="1500">
                <a:solidFill>
                  <a:schemeClr val="lt1"/>
                </a:solidFill>
              </a:rPr>
            </a:br>
            <a:endParaRPr sz="1500">
              <a:solidFill>
                <a:schemeClr val="lt1"/>
              </a:solidFill>
            </a:endParaRPr>
          </a:p>
          <a:p>
            <a:pPr indent="-323850" lvl="0" marL="457200" rtl="0" algn="l">
              <a:lnSpc>
                <a:spcPct val="115000"/>
              </a:lnSpc>
              <a:spcBef>
                <a:spcPts val="0"/>
              </a:spcBef>
              <a:spcAft>
                <a:spcPts val="0"/>
              </a:spcAft>
              <a:buClr>
                <a:schemeClr val="lt1"/>
              </a:buClr>
              <a:buSzPts val="1500"/>
              <a:buAutoNum type="arabicPeriod"/>
            </a:pPr>
            <a:r>
              <a:rPr b="1" lang="es" sz="1500">
                <a:solidFill>
                  <a:schemeClr val="lt1"/>
                </a:solidFill>
              </a:rPr>
              <a:t>Configuración multi-GPU</a:t>
            </a:r>
            <a:r>
              <a:rPr lang="es" sz="1500">
                <a:solidFill>
                  <a:schemeClr val="lt1"/>
                </a:solidFill>
              </a:rPr>
              <a:t>: En configuraciones con NVSwitch, los flits atraviesan un crossbar con arbitraje de puertos de entrada/salida, usando un esquema Round-Robin para enrutar cada paquete a su destino.</a:t>
            </a:r>
            <a:br>
              <a:rPr lang="es" sz="1500">
                <a:solidFill>
                  <a:schemeClr val="lt1"/>
                </a:solidFill>
              </a:rPr>
            </a:br>
            <a:endParaRPr sz="1500">
              <a:solidFill>
                <a:schemeClr val="lt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37"/>
          <p:cNvSpPr txBox="1"/>
          <p:nvPr/>
        </p:nvSpPr>
        <p:spPr>
          <a:xfrm>
            <a:off x="882075" y="1324475"/>
            <a:ext cx="7345200" cy="3403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s" sz="1500">
                <a:solidFill>
                  <a:schemeClr val="lt1"/>
                </a:solidFill>
                <a:latin typeface="Maven Pro Medium"/>
                <a:ea typeface="Maven Pro Medium"/>
                <a:cs typeface="Maven Pro Medium"/>
                <a:sym typeface="Maven Pro Medium"/>
              </a:rPr>
              <a:t>Estándar abierto de protocolo diseñado para operaciones de memoria entre múltiples GPUs, optimizando la latencia, el espacio en chip y el consumo energético. </a:t>
            </a:r>
            <a:endParaRPr sz="1500">
              <a:solidFill>
                <a:schemeClr val="lt1"/>
              </a:solidFill>
              <a:latin typeface="Maven Pro Medium"/>
              <a:ea typeface="Maven Pro Medium"/>
              <a:cs typeface="Maven Pro Medium"/>
              <a:sym typeface="Maven Pro Medium"/>
            </a:endParaRPr>
          </a:p>
          <a:p>
            <a:pPr indent="0" lvl="0" marL="0" rtl="0" algn="l">
              <a:lnSpc>
                <a:spcPct val="115000"/>
              </a:lnSpc>
              <a:spcBef>
                <a:spcPts val="1200"/>
              </a:spcBef>
              <a:spcAft>
                <a:spcPts val="0"/>
              </a:spcAft>
              <a:buNone/>
            </a:pPr>
            <a:r>
              <a:rPr lang="es" sz="1500">
                <a:solidFill>
                  <a:schemeClr val="lt1"/>
                </a:solidFill>
                <a:latin typeface="Maven Pro Medium"/>
                <a:ea typeface="Maven Pro Medium"/>
                <a:cs typeface="Maven Pro Medium"/>
                <a:sym typeface="Maven Pro Medium"/>
              </a:rPr>
              <a:t>Soporta velocidades de hasta 200 Gbps por carril, ofreciendo alto ancho de banda con latencias en el orden de cientos de nanosegundos.</a:t>
            </a:r>
            <a:endParaRPr sz="1500">
              <a:solidFill>
                <a:schemeClr val="lt1"/>
              </a:solidFill>
              <a:latin typeface="Maven Pro Medium"/>
              <a:ea typeface="Maven Pro Medium"/>
              <a:cs typeface="Maven Pro Medium"/>
              <a:sym typeface="Maven Pro Medium"/>
            </a:endParaRPr>
          </a:p>
          <a:p>
            <a:pPr indent="0" lvl="0" marL="0" rtl="0" algn="l">
              <a:lnSpc>
                <a:spcPct val="115000"/>
              </a:lnSpc>
              <a:spcBef>
                <a:spcPts val="1200"/>
              </a:spcBef>
              <a:spcAft>
                <a:spcPts val="0"/>
              </a:spcAft>
              <a:buNone/>
            </a:pPr>
            <a:r>
              <a:rPr lang="es" sz="1500">
                <a:solidFill>
                  <a:schemeClr val="lt1"/>
                </a:solidFill>
                <a:latin typeface="Maven Pro Medium"/>
                <a:ea typeface="Maven Pro Medium"/>
                <a:cs typeface="Maven Pro Medium"/>
                <a:sym typeface="Maven Pro Medium"/>
              </a:rPr>
              <a:t> Desarrollado a partir de Infinity Fabric de AMD, UALink permite la creación de una infraestructura escalable de IA, promoviendo innovación y validación conjunta en el ecosistema.</a:t>
            </a:r>
            <a:endParaRPr sz="1500">
              <a:solidFill>
                <a:schemeClr val="lt1"/>
              </a:solidFill>
              <a:latin typeface="Maven Pro Medium"/>
              <a:ea typeface="Maven Pro Medium"/>
              <a:cs typeface="Maven Pro Medium"/>
              <a:sym typeface="Maven Pro Medium"/>
            </a:endParaRPr>
          </a:p>
          <a:p>
            <a:pPr indent="0" lvl="0" marL="0" rtl="0" algn="l">
              <a:spcBef>
                <a:spcPts val="1200"/>
              </a:spcBef>
              <a:spcAft>
                <a:spcPts val="0"/>
              </a:spcAft>
              <a:buNone/>
            </a:pPr>
            <a:r>
              <a:t/>
            </a:r>
            <a:endParaRPr sz="1500">
              <a:solidFill>
                <a:schemeClr val="dk2"/>
              </a:solidFill>
              <a:latin typeface="Maven Pro Medium"/>
              <a:ea typeface="Maven Pro Medium"/>
              <a:cs typeface="Maven Pro Medium"/>
              <a:sym typeface="Maven Pro Medium"/>
            </a:endParaRPr>
          </a:p>
        </p:txBody>
      </p:sp>
      <p:sp>
        <p:nvSpPr>
          <p:cNvPr id="432" name="Google Shape;432;p37"/>
          <p:cNvSpPr txBox="1"/>
          <p:nvPr/>
        </p:nvSpPr>
        <p:spPr>
          <a:xfrm>
            <a:off x="882075" y="677675"/>
            <a:ext cx="5294700" cy="6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200">
                <a:solidFill>
                  <a:schemeClr val="lt1"/>
                </a:solidFill>
                <a:latin typeface="Maven Pro Black"/>
                <a:ea typeface="Maven Pro Black"/>
                <a:cs typeface="Maven Pro Black"/>
                <a:sym typeface="Maven Pro Black"/>
              </a:rPr>
              <a:t>UALINK</a:t>
            </a:r>
            <a:endParaRPr sz="3200">
              <a:solidFill>
                <a:schemeClr val="lt1"/>
              </a:solidFill>
              <a:latin typeface="Maven Pro Black"/>
              <a:ea typeface="Maven Pro Black"/>
              <a:cs typeface="Maven Pro Black"/>
              <a:sym typeface="Maven Pro Black"/>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38"/>
          <p:cNvSpPr txBox="1"/>
          <p:nvPr/>
        </p:nvSpPr>
        <p:spPr>
          <a:xfrm>
            <a:off x="882075" y="1440000"/>
            <a:ext cx="7266600" cy="2699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s" sz="1500">
                <a:solidFill>
                  <a:schemeClr val="lt1"/>
                </a:solidFill>
                <a:latin typeface="Maven Pro Medium"/>
                <a:ea typeface="Maven Pro Medium"/>
                <a:cs typeface="Maven Pro Medium"/>
                <a:sym typeface="Maven Pro Medium"/>
              </a:rPr>
              <a:t>UALink es una estructura escalable de IA diseñada para soportar tanto el entrenamiento como la inferencia de modelos de IA, con capacidad para escalar hasta cientos de GPUs para modelos LLM y Transformer. </a:t>
            </a:r>
            <a:endParaRPr sz="1500">
              <a:solidFill>
                <a:schemeClr val="lt1"/>
              </a:solidFill>
              <a:latin typeface="Maven Pro Medium"/>
              <a:ea typeface="Maven Pro Medium"/>
              <a:cs typeface="Maven Pro Medium"/>
              <a:sym typeface="Maven Pro Medium"/>
            </a:endParaRPr>
          </a:p>
          <a:p>
            <a:pPr indent="0" lvl="0" marL="0" rtl="0" algn="l">
              <a:lnSpc>
                <a:spcPct val="115000"/>
              </a:lnSpc>
              <a:spcBef>
                <a:spcPts val="1200"/>
              </a:spcBef>
              <a:spcAft>
                <a:spcPts val="0"/>
              </a:spcAft>
              <a:buNone/>
            </a:pPr>
            <a:r>
              <a:rPr lang="es" sz="1500">
                <a:solidFill>
                  <a:schemeClr val="lt1"/>
                </a:solidFill>
                <a:latin typeface="Maven Pro Medium"/>
                <a:ea typeface="Maven Pro Medium"/>
                <a:cs typeface="Maven Pro Medium"/>
                <a:sym typeface="Maven Pro Medium"/>
              </a:rPr>
              <a:t>Ofrece mayor ancho de banda, menor latencia y hasta un 40% de mejora en eficiencia energética, lo que optimiza el rendimiento y reduce el consumo de energía en centros de datos.</a:t>
            </a:r>
            <a:endParaRPr sz="1500">
              <a:solidFill>
                <a:schemeClr val="lt1"/>
              </a:solidFill>
              <a:latin typeface="Maven Pro Medium"/>
              <a:ea typeface="Maven Pro Medium"/>
              <a:cs typeface="Maven Pro Medium"/>
              <a:sym typeface="Maven Pro Medium"/>
            </a:endParaRPr>
          </a:p>
          <a:p>
            <a:pPr indent="0" lvl="0" marL="0" rtl="0" algn="l">
              <a:lnSpc>
                <a:spcPct val="115000"/>
              </a:lnSpc>
              <a:spcBef>
                <a:spcPts val="1200"/>
              </a:spcBef>
              <a:spcAft>
                <a:spcPts val="1200"/>
              </a:spcAft>
              <a:buNone/>
            </a:pPr>
            <a:r>
              <a:rPr lang="es" sz="1500">
                <a:solidFill>
                  <a:schemeClr val="lt1"/>
                </a:solidFill>
                <a:latin typeface="Maven Pro Medium"/>
                <a:ea typeface="Maven Pro Medium"/>
                <a:cs typeface="Maven Pro Medium"/>
                <a:sym typeface="Maven Pro Medium"/>
              </a:rPr>
              <a:t>El consorcio UALink, formado por líderes de la industria como AMD, AWS, Google, y Microsoft, trabaja en definir un protocolo de interconexión nativo para aceleradores de IA. </a:t>
            </a:r>
            <a:endParaRPr sz="1500">
              <a:solidFill>
                <a:schemeClr val="dk2"/>
              </a:solidFill>
              <a:latin typeface="Maven Pro Medium"/>
              <a:ea typeface="Maven Pro Medium"/>
              <a:cs typeface="Maven Pro Medium"/>
              <a:sym typeface="Maven Pro Medium"/>
            </a:endParaRPr>
          </a:p>
        </p:txBody>
      </p:sp>
      <p:sp>
        <p:nvSpPr>
          <p:cNvPr id="438" name="Google Shape;438;p38"/>
          <p:cNvSpPr txBox="1"/>
          <p:nvPr/>
        </p:nvSpPr>
        <p:spPr>
          <a:xfrm>
            <a:off x="882075" y="677675"/>
            <a:ext cx="5294700" cy="6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200">
                <a:solidFill>
                  <a:schemeClr val="lt1"/>
                </a:solidFill>
                <a:latin typeface="Maven Pro Black"/>
                <a:ea typeface="Maven Pro Black"/>
                <a:cs typeface="Maven Pro Black"/>
                <a:sym typeface="Maven Pro Black"/>
              </a:rPr>
              <a:t>UALINK</a:t>
            </a:r>
            <a:endParaRPr sz="3200">
              <a:solidFill>
                <a:schemeClr val="lt1"/>
              </a:solidFill>
              <a:latin typeface="Maven Pro Black"/>
              <a:ea typeface="Maven Pro Black"/>
              <a:cs typeface="Maven Pro Black"/>
              <a:sym typeface="Maven Pro Black"/>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39"/>
          <p:cNvSpPr txBox="1"/>
          <p:nvPr/>
        </p:nvSpPr>
        <p:spPr>
          <a:xfrm>
            <a:off x="882075" y="1324475"/>
            <a:ext cx="4877400" cy="292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s" sz="1500">
                <a:solidFill>
                  <a:schemeClr val="lt1"/>
                </a:solidFill>
                <a:latin typeface="Maven Pro Medium"/>
                <a:ea typeface="Maven Pro Medium"/>
                <a:cs typeface="Maven Pro Medium"/>
                <a:sym typeface="Maven Pro Medium"/>
              </a:rPr>
              <a:t>Es un bus utilizado para conectar componentes de hardware entre sí, donde los periféricos se enlazan en serie dos a dos.</a:t>
            </a:r>
            <a:endParaRPr sz="1500">
              <a:solidFill>
                <a:schemeClr val="lt1"/>
              </a:solidFill>
              <a:latin typeface="Maven Pro Medium"/>
              <a:ea typeface="Maven Pro Medium"/>
              <a:cs typeface="Maven Pro Medium"/>
              <a:sym typeface="Maven Pro Medium"/>
            </a:endParaRPr>
          </a:p>
          <a:p>
            <a:pPr indent="0" lvl="0" marL="0" rtl="0" algn="l">
              <a:lnSpc>
                <a:spcPct val="115000"/>
              </a:lnSpc>
              <a:spcBef>
                <a:spcPts val="1200"/>
              </a:spcBef>
              <a:spcAft>
                <a:spcPts val="0"/>
              </a:spcAft>
              <a:buNone/>
            </a:pPr>
            <a:r>
              <a:rPr lang="es" sz="1500">
                <a:solidFill>
                  <a:schemeClr val="lt1"/>
                </a:solidFill>
                <a:latin typeface="Maven Pro Medium"/>
                <a:ea typeface="Maven Pro Medium"/>
                <a:cs typeface="Maven Pro Medium"/>
                <a:sym typeface="Maven Pro Medium"/>
              </a:rPr>
              <a:t>Cada enlace serie de la generación 1.0 trabaja a 250 MB/s, con un máximo de 75 vatios para todo el bus.</a:t>
            </a:r>
            <a:endParaRPr sz="1500">
              <a:solidFill>
                <a:schemeClr val="lt1"/>
              </a:solidFill>
              <a:latin typeface="Maven Pro Medium"/>
              <a:ea typeface="Maven Pro Medium"/>
              <a:cs typeface="Maven Pro Medium"/>
              <a:sym typeface="Maven Pro Medium"/>
            </a:endParaRPr>
          </a:p>
          <a:p>
            <a:pPr indent="0" lvl="0" marL="0" rtl="0" algn="l">
              <a:lnSpc>
                <a:spcPct val="115000"/>
              </a:lnSpc>
              <a:spcBef>
                <a:spcPts val="1200"/>
              </a:spcBef>
              <a:spcAft>
                <a:spcPts val="0"/>
              </a:spcAft>
              <a:buNone/>
            </a:pPr>
            <a:r>
              <a:rPr lang="es" sz="1500">
                <a:solidFill>
                  <a:schemeClr val="lt1"/>
                </a:solidFill>
                <a:latin typeface="Maven Pro Medium"/>
                <a:ea typeface="Maven Pro Medium"/>
                <a:cs typeface="Maven Pro Medium"/>
                <a:sym typeface="Maven Pro Medium"/>
              </a:rPr>
              <a:t>Tiene la ventaja de requerir menos espacio en dispositivos portátiles. </a:t>
            </a:r>
            <a:endParaRPr sz="1500">
              <a:solidFill>
                <a:schemeClr val="lt1"/>
              </a:solidFill>
              <a:latin typeface="Maven Pro Medium"/>
              <a:ea typeface="Maven Pro Medium"/>
              <a:cs typeface="Maven Pro Medium"/>
              <a:sym typeface="Maven Pro Medium"/>
            </a:endParaRPr>
          </a:p>
          <a:p>
            <a:pPr indent="0" lvl="0" marL="0" rtl="0" algn="l">
              <a:lnSpc>
                <a:spcPct val="115000"/>
              </a:lnSpc>
              <a:spcBef>
                <a:spcPts val="1200"/>
              </a:spcBef>
              <a:spcAft>
                <a:spcPts val="0"/>
              </a:spcAft>
              <a:buNone/>
            </a:pPr>
            <a:r>
              <a:rPr lang="es" sz="1500">
                <a:solidFill>
                  <a:schemeClr val="lt1"/>
                </a:solidFill>
                <a:latin typeface="Maven Pro Medium"/>
                <a:ea typeface="Maven Pro Medium"/>
                <a:cs typeface="Maven Pro Medium"/>
                <a:sym typeface="Maven Pro Medium"/>
              </a:rPr>
              <a:t>Los buses PCIe se presentan en diferentes variedades (x1, x2, x4, x8, x16, x32) y su velocidad depende de la cantidad de líneas que ofrece cada tipo.</a:t>
            </a:r>
            <a:endParaRPr sz="1500">
              <a:solidFill>
                <a:schemeClr val="lt1"/>
              </a:solidFill>
              <a:latin typeface="Maven Pro Medium"/>
              <a:ea typeface="Maven Pro Medium"/>
              <a:cs typeface="Maven Pro Medium"/>
              <a:sym typeface="Maven Pro Medium"/>
            </a:endParaRPr>
          </a:p>
          <a:p>
            <a:pPr indent="0" lvl="0" marL="0" rtl="0" algn="l">
              <a:spcBef>
                <a:spcPts val="1200"/>
              </a:spcBef>
              <a:spcAft>
                <a:spcPts val="0"/>
              </a:spcAft>
              <a:buNone/>
            </a:pPr>
            <a:r>
              <a:t/>
            </a:r>
            <a:endParaRPr sz="1500">
              <a:solidFill>
                <a:schemeClr val="dk2"/>
              </a:solidFill>
              <a:latin typeface="Maven Pro Medium"/>
              <a:ea typeface="Maven Pro Medium"/>
              <a:cs typeface="Maven Pro Medium"/>
              <a:sym typeface="Maven Pro Medium"/>
            </a:endParaRPr>
          </a:p>
        </p:txBody>
      </p:sp>
      <p:sp>
        <p:nvSpPr>
          <p:cNvPr id="444" name="Google Shape;444;p39"/>
          <p:cNvSpPr txBox="1"/>
          <p:nvPr/>
        </p:nvSpPr>
        <p:spPr>
          <a:xfrm>
            <a:off x="882075" y="677675"/>
            <a:ext cx="5294700" cy="6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200">
                <a:solidFill>
                  <a:schemeClr val="lt1"/>
                </a:solidFill>
                <a:latin typeface="Maven Pro Black"/>
                <a:ea typeface="Maven Pro Black"/>
                <a:cs typeface="Maven Pro Black"/>
                <a:sym typeface="Maven Pro Black"/>
              </a:rPr>
              <a:t>PCI Express (PCIe)</a:t>
            </a:r>
            <a:endParaRPr sz="3200">
              <a:solidFill>
                <a:schemeClr val="lt1"/>
              </a:solidFill>
              <a:latin typeface="Maven Pro Black"/>
              <a:ea typeface="Maven Pro Black"/>
              <a:cs typeface="Maven Pro Black"/>
              <a:sym typeface="Maven Pro Black"/>
            </a:endParaRPr>
          </a:p>
        </p:txBody>
      </p:sp>
      <p:pic>
        <p:nvPicPr>
          <p:cNvPr id="445" name="Google Shape;445;p39"/>
          <p:cNvPicPr preferRelativeResize="0"/>
          <p:nvPr/>
        </p:nvPicPr>
        <p:blipFill>
          <a:blip r:embed="rId3">
            <a:alphaModFix/>
          </a:blip>
          <a:stretch>
            <a:fillRect/>
          </a:stretch>
        </p:blipFill>
        <p:spPr>
          <a:xfrm>
            <a:off x="5759475" y="2924600"/>
            <a:ext cx="3079800" cy="1848000"/>
          </a:xfrm>
          <a:prstGeom prst="roundRect">
            <a:avLst>
              <a:gd fmla="val 16667" name="adj"/>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40"/>
          <p:cNvSpPr txBox="1"/>
          <p:nvPr/>
        </p:nvSpPr>
        <p:spPr>
          <a:xfrm>
            <a:off x="882075" y="1440000"/>
            <a:ext cx="4924500" cy="311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s" sz="1500">
                <a:solidFill>
                  <a:schemeClr val="lt1"/>
                </a:solidFill>
                <a:latin typeface="Maven Pro Medium"/>
                <a:ea typeface="Maven Pro Medium"/>
                <a:cs typeface="Maven Pro Medium"/>
                <a:sym typeface="Maven Pro Medium"/>
              </a:rPr>
              <a:t>PCI Express subdivide el bus para que un componente no penalice a otros, permitiendo que cada uno dicte el ancho de banda que necesita.</a:t>
            </a:r>
            <a:endParaRPr sz="1500">
              <a:solidFill>
                <a:schemeClr val="lt1"/>
              </a:solidFill>
              <a:latin typeface="Maven Pro Medium"/>
              <a:ea typeface="Maven Pro Medium"/>
              <a:cs typeface="Maven Pro Medium"/>
              <a:sym typeface="Maven Pro Medium"/>
            </a:endParaRPr>
          </a:p>
          <a:p>
            <a:pPr indent="0" lvl="0" marL="0" rtl="0" algn="l">
              <a:lnSpc>
                <a:spcPct val="115000"/>
              </a:lnSpc>
              <a:spcBef>
                <a:spcPts val="1200"/>
              </a:spcBef>
              <a:spcAft>
                <a:spcPts val="0"/>
              </a:spcAft>
              <a:buNone/>
            </a:pPr>
            <a:r>
              <a:rPr lang="es" sz="1500">
                <a:solidFill>
                  <a:schemeClr val="lt1"/>
                </a:solidFill>
                <a:latin typeface="Maven Pro Medium"/>
                <a:ea typeface="Maven Pro Medium"/>
                <a:cs typeface="Maven Pro Medium"/>
                <a:sym typeface="Maven Pro Medium"/>
              </a:rPr>
              <a:t>El bus sigue evolucionando, con nuevas versiones lanzadas regularmente. </a:t>
            </a:r>
            <a:endParaRPr sz="1500">
              <a:solidFill>
                <a:schemeClr val="lt1"/>
              </a:solidFill>
              <a:latin typeface="Maven Pro Medium"/>
              <a:ea typeface="Maven Pro Medium"/>
              <a:cs typeface="Maven Pro Medium"/>
              <a:sym typeface="Maven Pro Medium"/>
            </a:endParaRPr>
          </a:p>
          <a:p>
            <a:pPr indent="0" lvl="0" marL="0" rtl="0" algn="l">
              <a:lnSpc>
                <a:spcPct val="115000"/>
              </a:lnSpc>
              <a:spcBef>
                <a:spcPts val="1200"/>
              </a:spcBef>
              <a:spcAft>
                <a:spcPts val="0"/>
              </a:spcAft>
              <a:buNone/>
            </a:pPr>
            <a:r>
              <a:rPr lang="es" sz="1500">
                <a:solidFill>
                  <a:schemeClr val="lt1"/>
                </a:solidFill>
                <a:latin typeface="Maven Pro Medium"/>
                <a:ea typeface="Maven Pro Medium"/>
                <a:cs typeface="Maven Pro Medium"/>
                <a:sym typeface="Maven Pro Medium"/>
              </a:rPr>
              <a:t>Desde su primera versión en 2003 (PCIe 1.0) con 250 MB/s por línea, ha duplicado su velocidad cada 3 años, alcanzando hoy hasta 8 GB/s en modo full duplex.</a:t>
            </a:r>
            <a:endParaRPr sz="1500">
              <a:solidFill>
                <a:schemeClr val="lt1"/>
              </a:solidFill>
              <a:latin typeface="Maven Pro Medium"/>
              <a:ea typeface="Maven Pro Medium"/>
              <a:cs typeface="Maven Pro Medium"/>
              <a:sym typeface="Maven Pro Medium"/>
            </a:endParaRPr>
          </a:p>
          <a:p>
            <a:pPr indent="0" lvl="0" marL="0" rtl="0" algn="l">
              <a:spcBef>
                <a:spcPts val="1200"/>
              </a:spcBef>
              <a:spcAft>
                <a:spcPts val="0"/>
              </a:spcAft>
              <a:buNone/>
            </a:pPr>
            <a:r>
              <a:t/>
            </a:r>
            <a:endParaRPr sz="1500">
              <a:solidFill>
                <a:schemeClr val="dk2"/>
              </a:solidFill>
              <a:latin typeface="Maven Pro Medium"/>
              <a:ea typeface="Maven Pro Medium"/>
              <a:cs typeface="Maven Pro Medium"/>
              <a:sym typeface="Maven Pro Medium"/>
            </a:endParaRPr>
          </a:p>
        </p:txBody>
      </p:sp>
      <p:sp>
        <p:nvSpPr>
          <p:cNvPr id="451" name="Google Shape;451;p40"/>
          <p:cNvSpPr txBox="1"/>
          <p:nvPr/>
        </p:nvSpPr>
        <p:spPr>
          <a:xfrm>
            <a:off x="882075" y="677675"/>
            <a:ext cx="5294700" cy="6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200">
                <a:solidFill>
                  <a:schemeClr val="lt1"/>
                </a:solidFill>
                <a:latin typeface="Maven Pro Black"/>
                <a:ea typeface="Maven Pro Black"/>
                <a:cs typeface="Maven Pro Black"/>
                <a:sym typeface="Maven Pro Black"/>
              </a:rPr>
              <a:t>PCI Express (PCIe)</a:t>
            </a:r>
            <a:endParaRPr sz="3200">
              <a:solidFill>
                <a:schemeClr val="lt1"/>
              </a:solidFill>
              <a:latin typeface="Maven Pro Black"/>
              <a:ea typeface="Maven Pro Black"/>
              <a:cs typeface="Maven Pro Black"/>
              <a:sym typeface="Maven Pro Black"/>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41"/>
          <p:cNvSpPr txBox="1"/>
          <p:nvPr/>
        </p:nvSpPr>
        <p:spPr>
          <a:xfrm>
            <a:off x="882075" y="1324475"/>
            <a:ext cx="6813600" cy="2834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s" sz="1500">
                <a:solidFill>
                  <a:schemeClr val="lt1"/>
                </a:solidFill>
                <a:latin typeface="Maven Pro Medium"/>
                <a:ea typeface="Maven Pro Medium"/>
                <a:cs typeface="Maven Pro Medium"/>
                <a:sym typeface="Maven Pro Medium"/>
              </a:rPr>
              <a:t>Se utiliza en dispositivos como almacenamiento NVMe o SAS a través de un puerto PCIe x4 y en el puerto M.2 para expansiones en dispositivos portátiles.</a:t>
            </a:r>
            <a:endParaRPr sz="1500">
              <a:solidFill>
                <a:schemeClr val="lt1"/>
              </a:solidFill>
              <a:latin typeface="Maven Pro Medium"/>
              <a:ea typeface="Maven Pro Medium"/>
              <a:cs typeface="Maven Pro Medium"/>
              <a:sym typeface="Maven Pro Medium"/>
            </a:endParaRPr>
          </a:p>
          <a:p>
            <a:pPr indent="0" lvl="0" marL="0" rtl="0" algn="l">
              <a:lnSpc>
                <a:spcPct val="115000"/>
              </a:lnSpc>
              <a:spcBef>
                <a:spcPts val="1200"/>
              </a:spcBef>
              <a:spcAft>
                <a:spcPts val="0"/>
              </a:spcAft>
              <a:buNone/>
            </a:pPr>
            <a:r>
              <a:rPr lang="es" sz="1500">
                <a:solidFill>
                  <a:schemeClr val="lt1"/>
                </a:solidFill>
                <a:latin typeface="Maven Pro Medium"/>
                <a:ea typeface="Maven Pro Medium"/>
                <a:cs typeface="Maven Pro Medium"/>
                <a:sym typeface="Maven Pro Medium"/>
              </a:rPr>
              <a:t>Antes de NVLink, NVIDIA utilizaba el estándar SLI para interconectar tarjetas gráficas mediante PCI Express, permitiendo el envío de datos entre ellas. </a:t>
            </a:r>
            <a:endParaRPr sz="1500">
              <a:solidFill>
                <a:schemeClr val="lt1"/>
              </a:solidFill>
              <a:latin typeface="Maven Pro Medium"/>
              <a:ea typeface="Maven Pro Medium"/>
              <a:cs typeface="Maven Pro Medium"/>
              <a:sym typeface="Maven Pro Medium"/>
            </a:endParaRPr>
          </a:p>
          <a:p>
            <a:pPr indent="0" lvl="0" marL="0" rtl="0" algn="l">
              <a:lnSpc>
                <a:spcPct val="115000"/>
              </a:lnSpc>
              <a:spcBef>
                <a:spcPts val="1200"/>
              </a:spcBef>
              <a:spcAft>
                <a:spcPts val="0"/>
              </a:spcAft>
              <a:buNone/>
            </a:pPr>
            <a:r>
              <a:rPr lang="es" sz="1500">
                <a:solidFill>
                  <a:schemeClr val="lt1"/>
                </a:solidFill>
                <a:latin typeface="Maven Pro Medium"/>
                <a:ea typeface="Maven Pro Medium"/>
                <a:cs typeface="Maven Pro Medium"/>
                <a:sym typeface="Maven Pro Medium"/>
              </a:rPr>
              <a:t>AMD utiliza la tecnología CrossFire para conectar varias tarjetas gráficas a través de PCI Express y gestionarlas como una sola.</a:t>
            </a:r>
            <a:endParaRPr sz="1500">
              <a:solidFill>
                <a:schemeClr val="lt1"/>
              </a:solidFill>
              <a:latin typeface="Maven Pro Medium"/>
              <a:ea typeface="Maven Pro Medium"/>
              <a:cs typeface="Maven Pro Medium"/>
              <a:sym typeface="Maven Pro Medium"/>
            </a:endParaRPr>
          </a:p>
          <a:p>
            <a:pPr indent="0" lvl="0" marL="0" rtl="0" algn="l">
              <a:spcBef>
                <a:spcPts val="1200"/>
              </a:spcBef>
              <a:spcAft>
                <a:spcPts val="0"/>
              </a:spcAft>
              <a:buNone/>
            </a:pPr>
            <a:r>
              <a:t/>
            </a:r>
            <a:endParaRPr sz="1500">
              <a:solidFill>
                <a:schemeClr val="dk2"/>
              </a:solidFill>
              <a:latin typeface="Maven Pro Medium"/>
              <a:ea typeface="Maven Pro Medium"/>
              <a:cs typeface="Maven Pro Medium"/>
              <a:sym typeface="Maven Pro Medium"/>
            </a:endParaRPr>
          </a:p>
        </p:txBody>
      </p:sp>
      <p:sp>
        <p:nvSpPr>
          <p:cNvPr id="457" name="Google Shape;457;p41"/>
          <p:cNvSpPr txBox="1"/>
          <p:nvPr/>
        </p:nvSpPr>
        <p:spPr>
          <a:xfrm>
            <a:off x="882075" y="677675"/>
            <a:ext cx="5294700" cy="6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200">
                <a:solidFill>
                  <a:schemeClr val="lt1"/>
                </a:solidFill>
                <a:latin typeface="Maven Pro Black"/>
                <a:ea typeface="Maven Pro Black"/>
                <a:cs typeface="Maven Pro Black"/>
                <a:sym typeface="Maven Pro Black"/>
              </a:rPr>
              <a:t>PCI Express (PCIe)</a:t>
            </a:r>
            <a:endParaRPr sz="3200">
              <a:solidFill>
                <a:schemeClr val="lt1"/>
              </a:solidFill>
              <a:latin typeface="Maven Pro Black"/>
              <a:ea typeface="Maven Pro Black"/>
              <a:cs typeface="Maven Pro Black"/>
              <a:sym typeface="Maven Pro Black"/>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42"/>
          <p:cNvSpPr txBox="1"/>
          <p:nvPr/>
        </p:nvSpPr>
        <p:spPr>
          <a:xfrm>
            <a:off x="882075" y="1324475"/>
            <a:ext cx="7349100" cy="3514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 sz="1500" u="sng">
                <a:solidFill>
                  <a:schemeClr val="lt1"/>
                </a:solidFill>
                <a:latin typeface="Maven Pro Medium"/>
                <a:ea typeface="Maven Pro Medium"/>
                <a:cs typeface="Maven Pro Medium"/>
                <a:sym typeface="Maven Pro Medium"/>
              </a:rPr>
              <a:t>Comparación de las distintas velocidades de un bus PCI express a lo largo de las distintas generaciones del estándar. </a:t>
            </a:r>
            <a:endParaRPr sz="1500">
              <a:solidFill>
                <a:schemeClr val="lt1"/>
              </a:solidFill>
              <a:latin typeface="Maven Pro Medium"/>
              <a:ea typeface="Maven Pro Medium"/>
              <a:cs typeface="Maven Pro Medium"/>
              <a:sym typeface="Maven Pro Medium"/>
            </a:endParaRPr>
          </a:p>
          <a:p>
            <a:pPr indent="0" lvl="0" marL="0" rtl="0" algn="just">
              <a:lnSpc>
                <a:spcPct val="115000"/>
              </a:lnSpc>
              <a:spcBef>
                <a:spcPts val="1000"/>
              </a:spcBef>
              <a:spcAft>
                <a:spcPts val="0"/>
              </a:spcAft>
              <a:buNone/>
            </a:pPr>
            <a:r>
              <a:rPr lang="es" sz="1500">
                <a:solidFill>
                  <a:schemeClr val="lt1"/>
                </a:solidFill>
                <a:latin typeface="Maven Pro Medium"/>
                <a:ea typeface="Maven Pro Medium"/>
                <a:cs typeface="Maven Pro Medium"/>
                <a:sym typeface="Maven Pro Medium"/>
              </a:rPr>
              <a:t>Tarjeta gráfica NVidia GTX 1660 super. </a:t>
            </a:r>
            <a:endParaRPr sz="1500">
              <a:solidFill>
                <a:schemeClr val="lt1"/>
              </a:solidFill>
              <a:latin typeface="Maven Pro Medium"/>
              <a:ea typeface="Maven Pro Medium"/>
              <a:cs typeface="Maven Pro Medium"/>
              <a:sym typeface="Maven Pro Medium"/>
            </a:endParaRPr>
          </a:p>
          <a:p>
            <a:pPr indent="0" lvl="0" marL="0" rtl="0" algn="just">
              <a:lnSpc>
                <a:spcPct val="115000"/>
              </a:lnSpc>
              <a:spcBef>
                <a:spcPts val="1000"/>
              </a:spcBef>
              <a:spcAft>
                <a:spcPts val="0"/>
              </a:spcAft>
              <a:buNone/>
            </a:pPr>
            <a:r>
              <a:rPr lang="es" sz="1500">
                <a:solidFill>
                  <a:schemeClr val="lt1"/>
                </a:solidFill>
                <a:latin typeface="Maven Pro Medium"/>
                <a:ea typeface="Maven Pro Medium"/>
                <a:cs typeface="Maven Pro Medium"/>
                <a:sym typeface="Maven Pro Medium"/>
              </a:rPr>
              <a:t>Hemos hecho uso de la capacidad que la placa base Asus B360M-E tiene para poder acomodar dispositivos de distintas generaciones en el bus PCI express, el cual nos permite forzar una generación específica en el bus en caso de encontrar problemas de compatibilidad.</a:t>
            </a:r>
            <a:endParaRPr sz="1500">
              <a:solidFill>
                <a:schemeClr val="lt1"/>
              </a:solidFill>
              <a:latin typeface="Maven Pro Medium"/>
              <a:ea typeface="Maven Pro Medium"/>
              <a:cs typeface="Maven Pro Medium"/>
              <a:sym typeface="Maven Pro Medium"/>
            </a:endParaRPr>
          </a:p>
          <a:p>
            <a:pPr indent="0" lvl="0" marL="0" rtl="0" algn="just">
              <a:lnSpc>
                <a:spcPct val="115000"/>
              </a:lnSpc>
              <a:spcBef>
                <a:spcPts val="1000"/>
              </a:spcBef>
              <a:spcAft>
                <a:spcPts val="0"/>
              </a:spcAft>
              <a:buNone/>
            </a:pPr>
            <a:r>
              <a:rPr lang="es" sz="1500">
                <a:solidFill>
                  <a:schemeClr val="lt1"/>
                </a:solidFill>
                <a:latin typeface="Maven Pro Medium"/>
                <a:ea typeface="Maven Pro Medium"/>
                <a:cs typeface="Maven Pro Medium"/>
                <a:sym typeface="Maven Pro Medium"/>
              </a:rPr>
              <a:t>Para evaluar la velocidad hemos hecho uso de la herramienta nvbandwidth,</a:t>
            </a:r>
            <a:endParaRPr sz="1500">
              <a:solidFill>
                <a:schemeClr val="lt1"/>
              </a:solidFill>
              <a:latin typeface="Maven Pro Medium"/>
              <a:ea typeface="Maven Pro Medium"/>
              <a:cs typeface="Maven Pro Medium"/>
              <a:sym typeface="Maven Pro Medium"/>
            </a:endParaRPr>
          </a:p>
          <a:p>
            <a:pPr indent="0" lvl="0" marL="0" rtl="0" algn="just">
              <a:lnSpc>
                <a:spcPct val="115000"/>
              </a:lnSpc>
              <a:spcBef>
                <a:spcPts val="1000"/>
              </a:spcBef>
              <a:spcAft>
                <a:spcPts val="0"/>
              </a:spcAft>
              <a:buNone/>
            </a:pPr>
            <a:r>
              <a:rPr lang="es" sz="1500">
                <a:solidFill>
                  <a:schemeClr val="lt1"/>
                </a:solidFill>
                <a:latin typeface="Maven Pro Medium"/>
                <a:ea typeface="Maven Pro Medium"/>
                <a:cs typeface="Maven Pro Medium"/>
                <a:sym typeface="Maven Pro Medium"/>
              </a:rPr>
              <a:t>Se puede usar en un ámbito de múltiples GPUs para evaluar el ancho de banda entre las distintas GPUs entre sí, o una GPU y la CPU directamente.</a:t>
            </a:r>
            <a:endParaRPr sz="1500">
              <a:solidFill>
                <a:schemeClr val="lt1"/>
              </a:solidFill>
              <a:latin typeface="Maven Pro Medium"/>
              <a:ea typeface="Maven Pro Medium"/>
              <a:cs typeface="Maven Pro Medium"/>
              <a:sym typeface="Maven Pro Medium"/>
            </a:endParaRPr>
          </a:p>
          <a:p>
            <a:pPr indent="0" lvl="0" marL="0" rtl="0" algn="just">
              <a:lnSpc>
                <a:spcPct val="115000"/>
              </a:lnSpc>
              <a:spcBef>
                <a:spcPts val="1000"/>
              </a:spcBef>
              <a:spcAft>
                <a:spcPts val="1000"/>
              </a:spcAft>
              <a:buNone/>
            </a:pPr>
            <a:r>
              <a:t/>
            </a:r>
            <a:endParaRPr sz="1500">
              <a:solidFill>
                <a:schemeClr val="lt1"/>
              </a:solidFill>
              <a:latin typeface="Maven Pro Medium"/>
              <a:ea typeface="Maven Pro Medium"/>
              <a:cs typeface="Maven Pro Medium"/>
              <a:sym typeface="Maven Pro Medium"/>
            </a:endParaRPr>
          </a:p>
        </p:txBody>
      </p:sp>
      <p:sp>
        <p:nvSpPr>
          <p:cNvPr id="463" name="Google Shape;463;p42"/>
          <p:cNvSpPr txBox="1"/>
          <p:nvPr/>
        </p:nvSpPr>
        <p:spPr>
          <a:xfrm>
            <a:off x="882075" y="677675"/>
            <a:ext cx="5294700" cy="6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200">
                <a:solidFill>
                  <a:schemeClr val="lt1"/>
                </a:solidFill>
                <a:latin typeface="Maven Pro Black"/>
                <a:ea typeface="Maven Pro Black"/>
                <a:cs typeface="Maven Pro Black"/>
                <a:sym typeface="Maven Pro Black"/>
              </a:rPr>
              <a:t>PCI Express (PCIe)</a:t>
            </a:r>
            <a:endParaRPr sz="3200">
              <a:solidFill>
                <a:schemeClr val="lt1"/>
              </a:solidFill>
              <a:latin typeface="Maven Pro Black"/>
              <a:ea typeface="Maven Pro Black"/>
              <a:cs typeface="Maven Pro Black"/>
              <a:sym typeface="Maven Pro Black"/>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43"/>
          <p:cNvSpPr txBox="1"/>
          <p:nvPr/>
        </p:nvSpPr>
        <p:spPr>
          <a:xfrm>
            <a:off x="5300425" y="677675"/>
            <a:ext cx="3396900" cy="3593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sz="1500">
              <a:solidFill>
                <a:srgbClr val="FFFFFF"/>
              </a:solidFill>
              <a:latin typeface="Maven Pro Medium"/>
              <a:ea typeface="Maven Pro Medium"/>
              <a:cs typeface="Maven Pro Medium"/>
              <a:sym typeface="Maven Pro Medium"/>
            </a:endParaRPr>
          </a:p>
          <a:p>
            <a:pPr indent="-304800" lvl="0" marL="457200" rtl="0" algn="l">
              <a:lnSpc>
                <a:spcPct val="115000"/>
              </a:lnSpc>
              <a:spcBef>
                <a:spcPts val="1200"/>
              </a:spcBef>
              <a:spcAft>
                <a:spcPts val="0"/>
              </a:spcAft>
              <a:buClr>
                <a:srgbClr val="FFFFFF"/>
              </a:buClr>
              <a:buSzPts val="1200"/>
              <a:buFont typeface="Maven Pro Medium"/>
              <a:buChar char="●"/>
            </a:pPr>
            <a:r>
              <a:rPr lang="es" sz="1500">
                <a:solidFill>
                  <a:srgbClr val="FFFFFF"/>
                </a:solidFill>
                <a:latin typeface="Maven Pro Medium"/>
                <a:ea typeface="Maven Pro Medium"/>
                <a:cs typeface="Maven Pro Medium"/>
                <a:sym typeface="Maven Pro Medium"/>
              </a:rPr>
              <a:t>Al configurar el bus en Generación 3, el dispositivo negocia su máxima velocidad sin variación.</a:t>
            </a:r>
            <a:br>
              <a:rPr lang="es" sz="1500">
                <a:solidFill>
                  <a:srgbClr val="FFFFFF"/>
                </a:solidFill>
                <a:latin typeface="Maven Pro Medium"/>
                <a:ea typeface="Maven Pro Medium"/>
                <a:cs typeface="Maven Pro Medium"/>
                <a:sym typeface="Maven Pro Medium"/>
              </a:rPr>
            </a:br>
            <a:endParaRPr sz="1500">
              <a:solidFill>
                <a:srgbClr val="FFFFFF"/>
              </a:solidFill>
              <a:latin typeface="Maven Pro Medium"/>
              <a:ea typeface="Maven Pro Medium"/>
              <a:cs typeface="Maven Pro Medium"/>
              <a:sym typeface="Maven Pro Medium"/>
            </a:endParaRPr>
          </a:p>
          <a:p>
            <a:pPr indent="-304800" lvl="0" marL="457200" rtl="0" algn="l">
              <a:lnSpc>
                <a:spcPct val="115000"/>
              </a:lnSpc>
              <a:spcBef>
                <a:spcPts val="0"/>
              </a:spcBef>
              <a:spcAft>
                <a:spcPts val="0"/>
              </a:spcAft>
              <a:buClr>
                <a:srgbClr val="FFFFFF"/>
              </a:buClr>
              <a:buSzPts val="1200"/>
              <a:buFont typeface="Maven Pro Medium"/>
              <a:buChar char="●"/>
            </a:pPr>
            <a:r>
              <a:rPr lang="es" sz="1500">
                <a:solidFill>
                  <a:srgbClr val="FFFFFF"/>
                </a:solidFill>
                <a:latin typeface="Maven Pro Medium"/>
                <a:ea typeface="Maven Pro Medium"/>
                <a:cs typeface="Maven Pro Medium"/>
                <a:sym typeface="Maven Pro Medium"/>
              </a:rPr>
              <a:t>Forzando Generación 2.0 desde la BIOS, la tasa cae a 6,69 GB/s (≈500 MB/s por línea).</a:t>
            </a:r>
            <a:br>
              <a:rPr lang="es" sz="1500">
                <a:solidFill>
                  <a:srgbClr val="FFFFFF"/>
                </a:solidFill>
                <a:latin typeface="Maven Pro Medium"/>
                <a:ea typeface="Maven Pro Medium"/>
                <a:cs typeface="Maven Pro Medium"/>
                <a:sym typeface="Maven Pro Medium"/>
              </a:rPr>
            </a:br>
            <a:endParaRPr sz="1500">
              <a:solidFill>
                <a:srgbClr val="FFFFFF"/>
              </a:solidFill>
              <a:latin typeface="Maven Pro Medium"/>
              <a:ea typeface="Maven Pro Medium"/>
              <a:cs typeface="Maven Pro Medium"/>
              <a:sym typeface="Maven Pro Medium"/>
            </a:endParaRPr>
          </a:p>
          <a:p>
            <a:pPr indent="-304800" lvl="0" marL="457200" rtl="0" algn="l">
              <a:lnSpc>
                <a:spcPct val="115000"/>
              </a:lnSpc>
              <a:spcBef>
                <a:spcPts val="0"/>
              </a:spcBef>
              <a:spcAft>
                <a:spcPts val="0"/>
              </a:spcAft>
              <a:buClr>
                <a:srgbClr val="FFFFFF"/>
              </a:buClr>
              <a:buSzPts val="1200"/>
              <a:buFont typeface="Maven Pro Medium"/>
              <a:buChar char="●"/>
            </a:pPr>
            <a:r>
              <a:rPr lang="es" sz="1500">
                <a:solidFill>
                  <a:srgbClr val="FFFFFF"/>
                </a:solidFill>
                <a:latin typeface="Maven Pro Medium"/>
                <a:ea typeface="Maven Pro Medium"/>
                <a:cs typeface="Maven Pro Medium"/>
                <a:sym typeface="Maven Pro Medium"/>
              </a:rPr>
              <a:t>Ajustando a Generación 1.0, se reduce a 3,34 GB/s (≈250 MB/s por línea en un solo sentido).</a:t>
            </a:r>
            <a:endParaRPr sz="1500">
              <a:solidFill>
                <a:srgbClr val="FFFFFF"/>
              </a:solidFill>
              <a:latin typeface="Maven Pro Medium"/>
              <a:ea typeface="Maven Pro Medium"/>
              <a:cs typeface="Maven Pro Medium"/>
              <a:sym typeface="Maven Pro Medium"/>
            </a:endParaRPr>
          </a:p>
        </p:txBody>
      </p:sp>
      <p:pic>
        <p:nvPicPr>
          <p:cNvPr id="469" name="Google Shape;469;p43"/>
          <p:cNvPicPr preferRelativeResize="0"/>
          <p:nvPr/>
        </p:nvPicPr>
        <p:blipFill>
          <a:blip r:embed="rId3">
            <a:alphaModFix/>
          </a:blip>
          <a:stretch>
            <a:fillRect/>
          </a:stretch>
        </p:blipFill>
        <p:spPr>
          <a:xfrm>
            <a:off x="882075" y="1324482"/>
            <a:ext cx="4212900" cy="3254100"/>
          </a:xfrm>
          <a:prstGeom prst="roundRect">
            <a:avLst>
              <a:gd fmla="val 6652" name="adj"/>
            </a:avLst>
          </a:prstGeom>
          <a:noFill/>
          <a:ln>
            <a:noFill/>
          </a:ln>
        </p:spPr>
      </p:pic>
      <p:sp>
        <p:nvSpPr>
          <p:cNvPr id="470" name="Google Shape;470;p43"/>
          <p:cNvSpPr txBox="1"/>
          <p:nvPr/>
        </p:nvSpPr>
        <p:spPr>
          <a:xfrm>
            <a:off x="882075" y="677675"/>
            <a:ext cx="5294700" cy="6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200">
                <a:solidFill>
                  <a:schemeClr val="lt1"/>
                </a:solidFill>
                <a:latin typeface="Maven Pro Black"/>
                <a:ea typeface="Maven Pro Black"/>
                <a:cs typeface="Maven Pro Black"/>
                <a:sym typeface="Maven Pro Black"/>
              </a:rPr>
              <a:t>Demostración</a:t>
            </a:r>
            <a:endParaRPr sz="3200">
              <a:solidFill>
                <a:schemeClr val="lt1"/>
              </a:solidFill>
              <a:latin typeface="Maven Pro Black"/>
              <a:ea typeface="Maven Pro Black"/>
              <a:cs typeface="Maven Pro Black"/>
              <a:sym typeface="Maven Pro Black"/>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pic>
        <p:nvPicPr>
          <p:cNvPr id="475" name="Google Shape;475;p44"/>
          <p:cNvPicPr preferRelativeResize="0"/>
          <p:nvPr/>
        </p:nvPicPr>
        <p:blipFill>
          <a:blip r:embed="rId3">
            <a:alphaModFix/>
          </a:blip>
          <a:stretch>
            <a:fillRect/>
          </a:stretch>
        </p:blipFill>
        <p:spPr>
          <a:xfrm>
            <a:off x="1145625" y="113926"/>
            <a:ext cx="6852751" cy="49156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45"/>
          <p:cNvSpPr txBox="1"/>
          <p:nvPr/>
        </p:nvSpPr>
        <p:spPr>
          <a:xfrm>
            <a:off x="0" y="0"/>
            <a:ext cx="25719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3200">
                <a:solidFill>
                  <a:schemeClr val="lt1"/>
                </a:solidFill>
                <a:latin typeface="Maven Pro Black"/>
                <a:ea typeface="Maven Pro Black"/>
                <a:cs typeface="Maven Pro Black"/>
                <a:sym typeface="Maven Pro Black"/>
              </a:rPr>
              <a:t>Bibliografía</a:t>
            </a:r>
            <a:endParaRPr/>
          </a:p>
        </p:txBody>
      </p:sp>
      <p:sp>
        <p:nvSpPr>
          <p:cNvPr id="481" name="Google Shape;481;p45"/>
          <p:cNvSpPr txBox="1"/>
          <p:nvPr/>
        </p:nvSpPr>
        <p:spPr>
          <a:xfrm>
            <a:off x="23250" y="600075"/>
            <a:ext cx="9097500" cy="4348500"/>
          </a:xfrm>
          <a:prstGeom prst="rect">
            <a:avLst/>
          </a:prstGeom>
          <a:noFill/>
          <a:ln>
            <a:noFill/>
          </a:ln>
        </p:spPr>
        <p:txBody>
          <a:bodyPr anchorCtr="0" anchor="t" bIns="91425" lIns="91425" spcFirstLastPara="1" rIns="91425" wrap="square" tIns="91425">
            <a:noAutofit/>
          </a:bodyPr>
          <a:lstStyle/>
          <a:p>
            <a:pPr indent="-292100" lvl="0" marL="457200" rtl="0" algn="just">
              <a:lnSpc>
                <a:spcPct val="115000"/>
              </a:lnSpc>
              <a:spcBef>
                <a:spcPts val="0"/>
              </a:spcBef>
              <a:spcAft>
                <a:spcPts val="0"/>
              </a:spcAft>
              <a:buClr>
                <a:schemeClr val="lt1"/>
              </a:buClr>
              <a:buSzPts val="1000"/>
              <a:buFont typeface="Times New Roman"/>
              <a:buChar char="●"/>
            </a:pPr>
            <a:r>
              <a:rPr lang="es" sz="1000" u="sng">
                <a:solidFill>
                  <a:schemeClr val="lt1"/>
                </a:solidFill>
                <a:latin typeface="Times New Roman"/>
                <a:ea typeface="Times New Roman"/>
                <a:cs typeface="Times New Roman"/>
                <a:sym typeface="Times New Roman"/>
                <a:hlinkClick r:id="rId3">
                  <a:extLst>
                    <a:ext uri="{A12FA001-AC4F-418D-AE19-62706E023703}">
                      <ahyp:hlinkClr val="tx"/>
                    </a:ext>
                  </a:extLst>
                </a:hlinkClick>
              </a:rPr>
              <a:t>Tipos de buses de computadoras</a:t>
            </a:r>
            <a:endParaRPr sz="1000">
              <a:solidFill>
                <a:schemeClr val="lt1"/>
              </a:solidFill>
              <a:latin typeface="Times New Roman"/>
              <a:ea typeface="Times New Roman"/>
              <a:cs typeface="Times New Roman"/>
              <a:sym typeface="Times New Roman"/>
            </a:endParaRPr>
          </a:p>
          <a:p>
            <a:pPr indent="-292100" lvl="0" marL="457200" rtl="0" algn="just">
              <a:lnSpc>
                <a:spcPct val="115000"/>
              </a:lnSpc>
              <a:spcBef>
                <a:spcPts val="0"/>
              </a:spcBef>
              <a:spcAft>
                <a:spcPts val="0"/>
              </a:spcAft>
              <a:buClr>
                <a:schemeClr val="lt1"/>
              </a:buClr>
              <a:buSzPts val="1000"/>
              <a:buFont typeface="Times New Roman"/>
              <a:buChar char="●"/>
            </a:pPr>
            <a:r>
              <a:rPr lang="es" sz="1000" u="sng">
                <a:solidFill>
                  <a:schemeClr val="lt1"/>
                </a:solidFill>
                <a:latin typeface="Times New Roman"/>
                <a:ea typeface="Times New Roman"/>
                <a:cs typeface="Times New Roman"/>
                <a:sym typeface="Times New Roman"/>
                <a:hlinkClick r:id="rId4">
                  <a:extLst>
                    <a:ext uri="{A12FA001-AC4F-418D-AE19-62706E023703}">
                      <ahyp:hlinkClr val="tx"/>
                    </a:ext>
                  </a:extLst>
                </a:hlinkClick>
              </a:rPr>
              <a:t>Infinity Fabric (IF) - AMD</a:t>
            </a:r>
            <a:endParaRPr sz="1000">
              <a:solidFill>
                <a:schemeClr val="lt1"/>
              </a:solidFill>
              <a:latin typeface="Times New Roman"/>
              <a:ea typeface="Times New Roman"/>
              <a:cs typeface="Times New Roman"/>
              <a:sym typeface="Times New Roman"/>
            </a:endParaRPr>
          </a:p>
          <a:p>
            <a:pPr indent="-292100" lvl="0" marL="457200" rtl="0" algn="just">
              <a:lnSpc>
                <a:spcPct val="115000"/>
              </a:lnSpc>
              <a:spcBef>
                <a:spcPts val="0"/>
              </a:spcBef>
              <a:spcAft>
                <a:spcPts val="0"/>
              </a:spcAft>
              <a:buClr>
                <a:schemeClr val="lt1"/>
              </a:buClr>
              <a:buSzPts val="1000"/>
              <a:buFont typeface="Times New Roman"/>
              <a:buChar char="●"/>
            </a:pPr>
            <a:r>
              <a:rPr lang="es" sz="1000" u="sng">
                <a:solidFill>
                  <a:schemeClr val="lt1"/>
                </a:solidFill>
                <a:latin typeface="Times New Roman"/>
                <a:ea typeface="Times New Roman"/>
                <a:cs typeface="Times New Roman"/>
                <a:sym typeface="Times New Roman"/>
                <a:hlinkClick r:id="rId5">
                  <a:extLst>
                    <a:ext uri="{A12FA001-AC4F-418D-AE19-62706E023703}">
                      <ahyp:hlinkClr val="tx"/>
                    </a:ext>
                  </a:extLst>
                </a:hlinkClick>
              </a:rPr>
              <a:t>Intel QuickPath Interconnect</a:t>
            </a:r>
            <a:endParaRPr sz="1000" u="sng">
              <a:solidFill>
                <a:schemeClr val="lt1"/>
              </a:solidFill>
              <a:latin typeface="Times New Roman"/>
              <a:ea typeface="Times New Roman"/>
              <a:cs typeface="Times New Roman"/>
              <a:sym typeface="Times New Roman"/>
            </a:endParaRPr>
          </a:p>
          <a:p>
            <a:pPr indent="-292100" lvl="0" marL="457200" rtl="0" algn="just">
              <a:lnSpc>
                <a:spcPct val="115000"/>
              </a:lnSpc>
              <a:spcBef>
                <a:spcPts val="0"/>
              </a:spcBef>
              <a:spcAft>
                <a:spcPts val="0"/>
              </a:spcAft>
              <a:buClr>
                <a:schemeClr val="lt1"/>
              </a:buClr>
              <a:buSzPts val="1000"/>
              <a:buFont typeface="Times New Roman"/>
              <a:buChar char="●"/>
            </a:pPr>
            <a:r>
              <a:rPr lang="es" sz="1000" u="sng">
                <a:solidFill>
                  <a:schemeClr val="lt1"/>
                </a:solidFill>
                <a:latin typeface="Times New Roman"/>
                <a:ea typeface="Times New Roman"/>
                <a:cs typeface="Times New Roman"/>
                <a:sym typeface="Times New Roman"/>
                <a:hlinkClick r:id="rId6">
                  <a:extLst>
                    <a:ext uri="{A12FA001-AC4F-418D-AE19-62706E023703}">
                      <ahyp:hlinkClr val="tx"/>
                    </a:ext>
                  </a:extLst>
                </a:hlinkClick>
              </a:rPr>
              <a:t>Maximizing Multicore Processor Performance</a:t>
            </a:r>
            <a:endParaRPr sz="1000" u="sng">
              <a:solidFill>
                <a:schemeClr val="lt1"/>
              </a:solidFill>
              <a:latin typeface="Times New Roman"/>
              <a:ea typeface="Times New Roman"/>
              <a:cs typeface="Times New Roman"/>
              <a:sym typeface="Times New Roman"/>
            </a:endParaRPr>
          </a:p>
          <a:p>
            <a:pPr indent="-292100" lvl="0" marL="457200" rtl="0" algn="just">
              <a:lnSpc>
                <a:spcPct val="115000"/>
              </a:lnSpc>
              <a:spcBef>
                <a:spcPts val="0"/>
              </a:spcBef>
              <a:spcAft>
                <a:spcPts val="0"/>
              </a:spcAft>
              <a:buClr>
                <a:schemeClr val="lt1"/>
              </a:buClr>
              <a:buSzPts val="1000"/>
              <a:buFont typeface="Times New Roman"/>
              <a:buChar char="●"/>
            </a:pPr>
            <a:r>
              <a:rPr lang="es" sz="1000" u="sng">
                <a:solidFill>
                  <a:schemeClr val="lt1"/>
                </a:solidFill>
                <a:latin typeface="Times New Roman"/>
                <a:ea typeface="Times New Roman"/>
                <a:cs typeface="Times New Roman"/>
                <a:sym typeface="Times New Roman"/>
                <a:hlinkClick r:id="rId7">
                  <a:extLst>
                    <a:ext uri="{A12FA001-AC4F-418D-AE19-62706E023703}">
                      <ahyp:hlinkClr val="tx"/>
                    </a:ext>
                  </a:extLst>
                </a:hlinkClick>
              </a:rPr>
              <a:t>El Intel QuickPath Interconnect (QPI): Todo lo que debes saber</a:t>
            </a:r>
            <a:endParaRPr sz="1000" u="sng">
              <a:solidFill>
                <a:schemeClr val="lt1"/>
              </a:solidFill>
              <a:latin typeface="Times New Roman"/>
              <a:ea typeface="Times New Roman"/>
              <a:cs typeface="Times New Roman"/>
              <a:sym typeface="Times New Roman"/>
            </a:endParaRPr>
          </a:p>
          <a:p>
            <a:pPr indent="-292100" lvl="0" marL="457200" rtl="0" algn="just">
              <a:lnSpc>
                <a:spcPct val="115000"/>
              </a:lnSpc>
              <a:spcBef>
                <a:spcPts val="0"/>
              </a:spcBef>
              <a:spcAft>
                <a:spcPts val="0"/>
              </a:spcAft>
              <a:buClr>
                <a:schemeClr val="lt1"/>
              </a:buClr>
              <a:buSzPts val="1000"/>
              <a:buFont typeface="Times New Roman"/>
              <a:buChar char="●"/>
            </a:pPr>
            <a:r>
              <a:rPr lang="es" sz="1000" u="sng">
                <a:solidFill>
                  <a:schemeClr val="lt1"/>
                </a:solidFill>
                <a:latin typeface="Times New Roman"/>
                <a:ea typeface="Times New Roman"/>
                <a:cs typeface="Times New Roman"/>
                <a:sym typeface="Times New Roman"/>
                <a:hlinkClick r:id="rId8">
                  <a:extLst>
                    <a:ext uri="{A12FA001-AC4F-418D-AE19-62706E023703}">
                      <ahyp:hlinkClr val="tx"/>
                    </a:ext>
                  </a:extLst>
                </a:hlinkClick>
              </a:rPr>
              <a:t>https://www.intel.cn/content/dam/doc/white-paper/quick-path-interconnect-introduction-paper.pdf</a:t>
            </a:r>
            <a:endParaRPr sz="1000" u="sng">
              <a:solidFill>
                <a:schemeClr val="lt1"/>
              </a:solidFill>
              <a:latin typeface="Times New Roman"/>
              <a:ea typeface="Times New Roman"/>
              <a:cs typeface="Times New Roman"/>
              <a:sym typeface="Times New Roman"/>
            </a:endParaRPr>
          </a:p>
          <a:p>
            <a:pPr indent="-292100" lvl="0" marL="457200" rtl="0" algn="just">
              <a:lnSpc>
                <a:spcPct val="115000"/>
              </a:lnSpc>
              <a:spcBef>
                <a:spcPts val="0"/>
              </a:spcBef>
              <a:spcAft>
                <a:spcPts val="0"/>
              </a:spcAft>
              <a:buClr>
                <a:schemeClr val="lt1"/>
              </a:buClr>
              <a:buSzPts val="1000"/>
              <a:buFont typeface="Times New Roman"/>
              <a:buChar char="●"/>
            </a:pPr>
            <a:r>
              <a:rPr lang="es" sz="1000" u="sng">
                <a:solidFill>
                  <a:schemeClr val="lt1"/>
                </a:solidFill>
                <a:latin typeface="Times New Roman"/>
                <a:ea typeface="Times New Roman"/>
                <a:cs typeface="Times New Roman"/>
                <a:sym typeface="Times New Roman"/>
                <a:hlinkClick r:id="rId9">
                  <a:extLst>
                    <a:ext uri="{A12FA001-AC4F-418D-AE19-62706E023703}">
                      <ahyp:hlinkClr val="tx"/>
                    </a:ext>
                  </a:extLst>
                </a:hlinkClick>
              </a:rPr>
              <a:t>An Introduction to the Intel QuickPath Interconnect</a:t>
            </a:r>
            <a:endParaRPr sz="1000" u="sng">
              <a:solidFill>
                <a:schemeClr val="lt1"/>
              </a:solidFill>
              <a:latin typeface="Times New Roman"/>
              <a:ea typeface="Times New Roman"/>
              <a:cs typeface="Times New Roman"/>
              <a:sym typeface="Times New Roman"/>
            </a:endParaRPr>
          </a:p>
          <a:p>
            <a:pPr indent="-292100" lvl="0" marL="457200" rtl="0" algn="just">
              <a:lnSpc>
                <a:spcPct val="115000"/>
              </a:lnSpc>
              <a:spcBef>
                <a:spcPts val="0"/>
              </a:spcBef>
              <a:spcAft>
                <a:spcPts val="0"/>
              </a:spcAft>
              <a:buClr>
                <a:schemeClr val="lt1"/>
              </a:buClr>
              <a:buSzPts val="1000"/>
              <a:buFont typeface="Times New Roman"/>
              <a:buChar char="●"/>
            </a:pPr>
            <a:r>
              <a:rPr lang="es" sz="1000" u="sng">
                <a:solidFill>
                  <a:schemeClr val="lt1"/>
                </a:solidFill>
                <a:latin typeface="Times New Roman"/>
                <a:ea typeface="Times New Roman"/>
                <a:cs typeface="Times New Roman"/>
                <a:sym typeface="Times New Roman"/>
                <a:hlinkClick r:id="rId10">
                  <a:extLst>
                    <a:ext uri="{A12FA001-AC4F-418D-AE19-62706E023703}">
                      <ahyp:hlinkClr val="tx"/>
                    </a:ext>
                  </a:extLst>
                </a:hlinkClick>
              </a:rPr>
              <a:t>Intel QuickPath Interconnect Overview</a:t>
            </a:r>
            <a:endParaRPr sz="1000" u="sng">
              <a:solidFill>
                <a:schemeClr val="lt1"/>
              </a:solidFill>
              <a:latin typeface="Times New Roman"/>
              <a:ea typeface="Times New Roman"/>
              <a:cs typeface="Times New Roman"/>
              <a:sym typeface="Times New Roman"/>
            </a:endParaRPr>
          </a:p>
          <a:p>
            <a:pPr indent="-292100" lvl="0" marL="457200" rtl="0" algn="just">
              <a:lnSpc>
                <a:spcPct val="115000"/>
              </a:lnSpc>
              <a:spcBef>
                <a:spcPts val="0"/>
              </a:spcBef>
              <a:spcAft>
                <a:spcPts val="0"/>
              </a:spcAft>
              <a:buClr>
                <a:schemeClr val="lt1"/>
              </a:buClr>
              <a:buSzPts val="1000"/>
              <a:buFont typeface="Times New Roman"/>
              <a:buChar char="●"/>
            </a:pPr>
            <a:r>
              <a:rPr lang="es" sz="1000" u="sng">
                <a:solidFill>
                  <a:schemeClr val="lt1"/>
                </a:solidFill>
                <a:latin typeface="Times New Roman"/>
                <a:ea typeface="Times New Roman"/>
                <a:cs typeface="Times New Roman"/>
                <a:sym typeface="Times New Roman"/>
                <a:hlinkClick r:id="rId11">
                  <a:extLst>
                    <a:ext uri="{A12FA001-AC4F-418D-AE19-62706E023703}">
                      <ahyp:hlinkClr val="tx"/>
                    </a:ext>
                  </a:extLst>
                </a:hlinkClick>
              </a:rPr>
              <a:t>Detailed Specifications of the “Skylake-SP” Intel Xeon Processor Scalable Family CPUs</a:t>
            </a:r>
            <a:endParaRPr sz="1000" u="sng">
              <a:solidFill>
                <a:schemeClr val="lt1"/>
              </a:solidFill>
              <a:latin typeface="Times New Roman"/>
              <a:ea typeface="Times New Roman"/>
              <a:cs typeface="Times New Roman"/>
              <a:sym typeface="Times New Roman"/>
            </a:endParaRPr>
          </a:p>
          <a:p>
            <a:pPr indent="-292100" lvl="0" marL="457200" rtl="0" algn="just">
              <a:lnSpc>
                <a:spcPct val="115000"/>
              </a:lnSpc>
              <a:spcBef>
                <a:spcPts val="0"/>
              </a:spcBef>
              <a:spcAft>
                <a:spcPts val="0"/>
              </a:spcAft>
              <a:buClr>
                <a:schemeClr val="lt1"/>
              </a:buClr>
              <a:buSzPts val="1000"/>
              <a:buFont typeface="Times New Roman"/>
              <a:buChar char="●"/>
            </a:pPr>
            <a:r>
              <a:rPr lang="es" sz="1000" u="sng">
                <a:solidFill>
                  <a:schemeClr val="lt1"/>
                </a:solidFill>
                <a:latin typeface="Times New Roman"/>
                <a:ea typeface="Times New Roman"/>
                <a:cs typeface="Times New Roman"/>
                <a:sym typeface="Times New Roman"/>
                <a:hlinkClick r:id="rId12">
                  <a:extLst>
                    <a:ext uri="{A12FA001-AC4F-418D-AE19-62706E023703}">
                      <ahyp:hlinkClr val="tx"/>
                    </a:ext>
                  </a:extLst>
                </a:hlinkClick>
              </a:rPr>
              <a:t>About: Intel Ultra Path Interconnect</a:t>
            </a:r>
            <a:endParaRPr sz="1000" u="sng">
              <a:solidFill>
                <a:schemeClr val="lt1"/>
              </a:solidFill>
              <a:latin typeface="Times New Roman"/>
              <a:ea typeface="Times New Roman"/>
              <a:cs typeface="Times New Roman"/>
              <a:sym typeface="Times New Roman"/>
            </a:endParaRPr>
          </a:p>
          <a:p>
            <a:pPr indent="-292100" lvl="0" marL="457200" rtl="0" algn="just">
              <a:lnSpc>
                <a:spcPct val="115000"/>
              </a:lnSpc>
              <a:spcBef>
                <a:spcPts val="0"/>
              </a:spcBef>
              <a:spcAft>
                <a:spcPts val="0"/>
              </a:spcAft>
              <a:buClr>
                <a:schemeClr val="lt1"/>
              </a:buClr>
              <a:buSzPts val="1000"/>
              <a:buFont typeface="Times New Roman"/>
              <a:buChar char="●"/>
            </a:pPr>
            <a:r>
              <a:rPr lang="es" sz="1000" u="sng">
                <a:solidFill>
                  <a:schemeClr val="lt1"/>
                </a:solidFill>
                <a:latin typeface="Times New Roman"/>
                <a:ea typeface="Times New Roman"/>
                <a:cs typeface="Times New Roman"/>
                <a:sym typeface="Times New Roman"/>
                <a:hlinkClick r:id="rId13">
                  <a:extLst>
                    <a:ext uri="{A12FA001-AC4F-418D-AE19-62706E023703}">
                      <ahyp:hlinkClr val="tx"/>
                    </a:ext>
                  </a:extLst>
                </a:hlinkClick>
              </a:rPr>
              <a:t>Skylake-SP (14 nm) Scalable Performance</a:t>
            </a:r>
            <a:endParaRPr sz="1000" u="sng">
              <a:solidFill>
                <a:schemeClr val="lt1"/>
              </a:solidFill>
              <a:latin typeface="Times New Roman"/>
              <a:ea typeface="Times New Roman"/>
              <a:cs typeface="Times New Roman"/>
              <a:sym typeface="Times New Roman"/>
            </a:endParaRPr>
          </a:p>
          <a:p>
            <a:pPr indent="-292100" lvl="0" marL="457200" rtl="0" algn="just">
              <a:lnSpc>
                <a:spcPct val="115000"/>
              </a:lnSpc>
              <a:spcBef>
                <a:spcPts val="0"/>
              </a:spcBef>
              <a:spcAft>
                <a:spcPts val="0"/>
              </a:spcAft>
              <a:buClr>
                <a:schemeClr val="lt1"/>
              </a:buClr>
              <a:buSzPts val="1000"/>
              <a:buFont typeface="Times New Roman"/>
              <a:buChar char="●"/>
            </a:pPr>
            <a:r>
              <a:rPr lang="es" sz="1000" u="sng">
                <a:solidFill>
                  <a:schemeClr val="lt1"/>
                </a:solidFill>
                <a:latin typeface="Times New Roman"/>
                <a:ea typeface="Times New Roman"/>
                <a:cs typeface="Times New Roman"/>
                <a:sym typeface="Times New Roman"/>
                <a:hlinkClick r:id="rId14">
                  <a:extLst>
                    <a:ext uri="{A12FA001-AC4F-418D-AE19-62706E023703}">
                      <ahyp:hlinkClr val="tx"/>
                    </a:ext>
                  </a:extLst>
                </a:hlinkClick>
              </a:rPr>
              <a:t>The NVLink-Network Switch</a:t>
            </a:r>
            <a:endParaRPr sz="1000" u="sng">
              <a:solidFill>
                <a:schemeClr val="lt1"/>
              </a:solidFill>
              <a:latin typeface="Times New Roman"/>
              <a:ea typeface="Times New Roman"/>
              <a:cs typeface="Times New Roman"/>
              <a:sym typeface="Times New Roman"/>
            </a:endParaRPr>
          </a:p>
          <a:p>
            <a:pPr indent="-292100" lvl="0" marL="457200" rtl="0" algn="just">
              <a:lnSpc>
                <a:spcPct val="115000"/>
              </a:lnSpc>
              <a:spcBef>
                <a:spcPts val="0"/>
              </a:spcBef>
              <a:spcAft>
                <a:spcPts val="0"/>
              </a:spcAft>
              <a:buClr>
                <a:schemeClr val="lt1"/>
              </a:buClr>
              <a:buSzPts val="1000"/>
              <a:buFont typeface="Times New Roman"/>
              <a:buChar char="●"/>
            </a:pPr>
            <a:r>
              <a:rPr lang="es" sz="1000" u="sng">
                <a:solidFill>
                  <a:schemeClr val="lt1"/>
                </a:solidFill>
                <a:latin typeface="Times New Roman"/>
                <a:ea typeface="Times New Roman"/>
                <a:cs typeface="Times New Roman"/>
                <a:sym typeface="Times New Roman"/>
                <a:hlinkClick r:id="rId15">
                  <a:extLst>
                    <a:ext uri="{A12FA001-AC4F-418D-AE19-62706E023703}">
                      <ahyp:hlinkClr val="tx"/>
                    </a:ext>
                  </a:extLst>
                </a:hlinkClick>
              </a:rPr>
              <a:t>Wikichip-Nvidia</a:t>
            </a:r>
            <a:endParaRPr sz="1000" u="sng">
              <a:solidFill>
                <a:schemeClr val="lt1"/>
              </a:solidFill>
              <a:latin typeface="Times New Roman"/>
              <a:ea typeface="Times New Roman"/>
              <a:cs typeface="Times New Roman"/>
              <a:sym typeface="Times New Roman"/>
            </a:endParaRPr>
          </a:p>
          <a:p>
            <a:pPr indent="-292100" lvl="0" marL="457200" rtl="0" algn="just">
              <a:lnSpc>
                <a:spcPct val="115000"/>
              </a:lnSpc>
              <a:spcBef>
                <a:spcPts val="0"/>
              </a:spcBef>
              <a:spcAft>
                <a:spcPts val="0"/>
              </a:spcAft>
              <a:buClr>
                <a:schemeClr val="lt1"/>
              </a:buClr>
              <a:buSzPts val="1000"/>
              <a:buFont typeface="Times New Roman"/>
              <a:buChar char="●"/>
            </a:pPr>
            <a:r>
              <a:rPr lang="es" sz="1000" u="sng">
                <a:solidFill>
                  <a:schemeClr val="lt1"/>
                </a:solidFill>
                <a:latin typeface="Times New Roman"/>
                <a:ea typeface="Times New Roman"/>
                <a:cs typeface="Times New Roman"/>
                <a:sym typeface="Times New Roman"/>
                <a:hlinkClick r:id="rId16">
                  <a:extLst>
                    <a:ext uri="{A12FA001-AC4F-418D-AE19-62706E023703}">
                      <ahyp:hlinkClr val="tx"/>
                    </a:ext>
                  </a:extLst>
                </a:hlinkClick>
              </a:rPr>
              <a:t>An Overview of NVIDIA NVLink</a:t>
            </a:r>
            <a:endParaRPr sz="1000" u="sng">
              <a:solidFill>
                <a:schemeClr val="lt1"/>
              </a:solidFill>
              <a:latin typeface="Times New Roman"/>
              <a:ea typeface="Times New Roman"/>
              <a:cs typeface="Times New Roman"/>
              <a:sym typeface="Times New Roman"/>
            </a:endParaRPr>
          </a:p>
          <a:p>
            <a:pPr indent="-292100" lvl="0" marL="457200" rtl="0" algn="just">
              <a:lnSpc>
                <a:spcPct val="115000"/>
              </a:lnSpc>
              <a:spcBef>
                <a:spcPts val="0"/>
              </a:spcBef>
              <a:spcAft>
                <a:spcPts val="0"/>
              </a:spcAft>
              <a:buClr>
                <a:schemeClr val="lt1"/>
              </a:buClr>
              <a:buSzPts val="1000"/>
              <a:buFont typeface="Times New Roman"/>
              <a:buChar char="●"/>
            </a:pPr>
            <a:r>
              <a:rPr lang="es" sz="1000" u="sng">
                <a:solidFill>
                  <a:schemeClr val="lt1"/>
                </a:solidFill>
                <a:latin typeface="Times New Roman"/>
                <a:ea typeface="Times New Roman"/>
                <a:cs typeface="Times New Roman"/>
                <a:sym typeface="Times New Roman"/>
                <a:hlinkClick r:id="rId17">
                  <a:extLst>
                    <a:ext uri="{A12FA001-AC4F-418D-AE19-62706E023703}">
                      <ahyp:hlinkClr val="tx"/>
                    </a:ext>
                  </a:extLst>
                </a:hlinkClick>
              </a:rPr>
              <a:t>What Is NVLink?</a:t>
            </a:r>
            <a:endParaRPr sz="1000" u="sng">
              <a:solidFill>
                <a:schemeClr val="lt1"/>
              </a:solidFill>
              <a:latin typeface="Times New Roman"/>
              <a:ea typeface="Times New Roman"/>
              <a:cs typeface="Times New Roman"/>
              <a:sym typeface="Times New Roman"/>
            </a:endParaRPr>
          </a:p>
          <a:p>
            <a:pPr indent="-292100" lvl="0" marL="457200" rtl="0" algn="just">
              <a:lnSpc>
                <a:spcPct val="115000"/>
              </a:lnSpc>
              <a:spcBef>
                <a:spcPts val="0"/>
              </a:spcBef>
              <a:spcAft>
                <a:spcPts val="0"/>
              </a:spcAft>
              <a:buClr>
                <a:schemeClr val="lt1"/>
              </a:buClr>
              <a:buSzPts val="1000"/>
              <a:buFont typeface="Times New Roman"/>
              <a:buChar char="●"/>
            </a:pPr>
            <a:r>
              <a:rPr lang="es" sz="1000" u="sng">
                <a:solidFill>
                  <a:schemeClr val="lt1"/>
                </a:solidFill>
                <a:latin typeface="Times New Roman"/>
                <a:ea typeface="Times New Roman"/>
                <a:cs typeface="Times New Roman"/>
                <a:sym typeface="Times New Roman"/>
                <a:hlinkClick r:id="rId18">
                  <a:extLst>
                    <a:ext uri="{A12FA001-AC4F-418D-AE19-62706E023703}">
                      <ahyp:hlinkClr val="tx"/>
                    </a:ext>
                  </a:extLst>
                </a:hlinkClick>
              </a:rPr>
              <a:t>¿Qué es NVIDIA NVLink?</a:t>
            </a:r>
            <a:endParaRPr b="1" sz="1000" u="sng">
              <a:solidFill>
                <a:schemeClr val="lt1"/>
              </a:solidFill>
              <a:latin typeface="Times New Roman"/>
              <a:ea typeface="Times New Roman"/>
              <a:cs typeface="Times New Roman"/>
              <a:sym typeface="Times New Roman"/>
            </a:endParaRPr>
          </a:p>
          <a:p>
            <a:pPr indent="-292100" lvl="0" marL="457200" rtl="0" algn="just">
              <a:lnSpc>
                <a:spcPct val="115000"/>
              </a:lnSpc>
              <a:spcBef>
                <a:spcPts val="0"/>
              </a:spcBef>
              <a:spcAft>
                <a:spcPts val="0"/>
              </a:spcAft>
              <a:buClr>
                <a:schemeClr val="lt1"/>
              </a:buClr>
              <a:buSzPts val="1000"/>
              <a:buFont typeface="Times New Roman"/>
              <a:buChar char="●"/>
            </a:pPr>
            <a:r>
              <a:rPr lang="es" sz="1000" u="sng">
                <a:solidFill>
                  <a:schemeClr val="lt1"/>
                </a:solidFill>
                <a:latin typeface="Times New Roman"/>
                <a:ea typeface="Times New Roman"/>
                <a:cs typeface="Times New Roman"/>
                <a:sym typeface="Times New Roman"/>
                <a:hlinkClick r:id="rId19">
                  <a:extLst>
                    <a:ext uri="{A12FA001-AC4F-418D-AE19-62706E023703}">
                      <ahyp:hlinkClr val="tx"/>
                    </a:ext>
                  </a:extLst>
                </a:hlinkClick>
              </a:rPr>
              <a:t>Building the Case for UALink™: A Dedicated Scale-Up Memory Semantic Fabric</a:t>
            </a:r>
            <a:endParaRPr sz="1000" u="sng">
              <a:solidFill>
                <a:schemeClr val="lt1"/>
              </a:solidFill>
              <a:latin typeface="Times New Roman"/>
              <a:ea typeface="Times New Roman"/>
              <a:cs typeface="Times New Roman"/>
              <a:sym typeface="Times New Roman"/>
            </a:endParaRPr>
          </a:p>
          <a:p>
            <a:pPr indent="-292100" lvl="0" marL="457200" rtl="0" algn="just">
              <a:lnSpc>
                <a:spcPct val="115000"/>
              </a:lnSpc>
              <a:spcBef>
                <a:spcPts val="0"/>
              </a:spcBef>
              <a:spcAft>
                <a:spcPts val="0"/>
              </a:spcAft>
              <a:buClr>
                <a:schemeClr val="lt1"/>
              </a:buClr>
              <a:buSzPts val="1000"/>
              <a:buFont typeface="Times New Roman"/>
              <a:buChar char="●"/>
            </a:pPr>
            <a:r>
              <a:rPr lang="es" sz="1000" u="sng">
                <a:solidFill>
                  <a:schemeClr val="lt1"/>
                </a:solidFill>
                <a:latin typeface="Times New Roman"/>
                <a:ea typeface="Times New Roman"/>
                <a:cs typeface="Times New Roman"/>
                <a:sym typeface="Times New Roman"/>
                <a:hlinkClick r:id="rId20">
                  <a:extLst>
                    <a:ext uri="{A12FA001-AC4F-418D-AE19-62706E023703}">
                      <ahyp:hlinkClr val="tx"/>
                    </a:ext>
                  </a:extLst>
                </a:hlinkClick>
              </a:rPr>
              <a:t>Ultra Accelerator Link™ Consortium (UALink™) Welcomes Alibaba, Apple and Synopsys to Board of Directors</a:t>
            </a:r>
            <a:endParaRPr sz="1000" u="sng">
              <a:solidFill>
                <a:schemeClr val="lt1"/>
              </a:solidFill>
              <a:latin typeface="Times New Roman"/>
              <a:ea typeface="Times New Roman"/>
              <a:cs typeface="Times New Roman"/>
              <a:sym typeface="Times New Roman"/>
            </a:endParaRPr>
          </a:p>
          <a:p>
            <a:pPr indent="-292100" lvl="0" marL="457200" rtl="0" algn="just">
              <a:lnSpc>
                <a:spcPct val="115000"/>
              </a:lnSpc>
              <a:spcBef>
                <a:spcPts val="0"/>
              </a:spcBef>
              <a:spcAft>
                <a:spcPts val="0"/>
              </a:spcAft>
              <a:buClr>
                <a:schemeClr val="lt1"/>
              </a:buClr>
              <a:buSzPts val="1000"/>
              <a:buFont typeface="Times New Roman"/>
              <a:buChar char="●"/>
            </a:pPr>
            <a:r>
              <a:rPr lang="es" sz="1000" u="sng">
                <a:solidFill>
                  <a:schemeClr val="lt1"/>
                </a:solidFill>
                <a:latin typeface="Times New Roman"/>
                <a:ea typeface="Times New Roman"/>
                <a:cs typeface="Times New Roman"/>
                <a:sym typeface="Times New Roman"/>
                <a:hlinkClick r:id="rId21">
                  <a:extLst>
                    <a:ext uri="{A12FA001-AC4F-418D-AE19-62706E023703}">
                      <ahyp:hlinkClr val="tx"/>
                    </a:ext>
                  </a:extLst>
                </a:hlinkClick>
              </a:rPr>
              <a:t>Everyone Except Nvidia Forms Ultra Accelerator Link (UALink) Consortium</a:t>
            </a:r>
            <a:endParaRPr sz="1000">
              <a:solidFill>
                <a:schemeClr val="lt1"/>
              </a:solidFill>
              <a:latin typeface="Times New Roman"/>
              <a:ea typeface="Times New Roman"/>
              <a:cs typeface="Times New Roman"/>
              <a:sym typeface="Times New Roman"/>
            </a:endParaRPr>
          </a:p>
          <a:p>
            <a:pPr indent="-292100" lvl="0" marL="457200" rtl="0" algn="just">
              <a:lnSpc>
                <a:spcPct val="115000"/>
              </a:lnSpc>
              <a:spcBef>
                <a:spcPts val="0"/>
              </a:spcBef>
              <a:spcAft>
                <a:spcPts val="0"/>
              </a:spcAft>
              <a:buClr>
                <a:schemeClr val="lt1"/>
              </a:buClr>
              <a:buSzPts val="1000"/>
              <a:buFont typeface="Times New Roman"/>
              <a:buChar char="●"/>
            </a:pPr>
            <a:r>
              <a:rPr lang="es" sz="1000" u="sng">
                <a:solidFill>
                  <a:schemeClr val="lt1"/>
                </a:solidFill>
                <a:latin typeface="Times New Roman"/>
                <a:ea typeface="Times New Roman"/>
                <a:cs typeface="Times New Roman"/>
                <a:sym typeface="Times New Roman"/>
                <a:hlinkClick r:id="rId22">
                  <a:extLst>
                    <a:ext uri="{A12FA001-AC4F-418D-AE19-62706E023703}">
                      <ahyp:hlinkClr val="tx"/>
                    </a:ext>
                  </a:extLst>
                </a:hlinkClick>
              </a:rPr>
              <a:t>PCI Express on CrossFire boards</a:t>
            </a:r>
            <a:endParaRPr sz="1000">
              <a:solidFill>
                <a:schemeClr val="lt1"/>
              </a:solidFill>
              <a:latin typeface="Times New Roman"/>
              <a:ea typeface="Times New Roman"/>
              <a:cs typeface="Times New Roman"/>
              <a:sym typeface="Times New Roman"/>
            </a:endParaRPr>
          </a:p>
          <a:p>
            <a:pPr indent="-292100" lvl="0" marL="457200" rtl="0" algn="just">
              <a:lnSpc>
                <a:spcPct val="115000"/>
              </a:lnSpc>
              <a:spcBef>
                <a:spcPts val="0"/>
              </a:spcBef>
              <a:spcAft>
                <a:spcPts val="0"/>
              </a:spcAft>
              <a:buClr>
                <a:schemeClr val="lt1"/>
              </a:buClr>
              <a:buSzPts val="1000"/>
              <a:buFont typeface="Times New Roman"/>
              <a:buChar char="●"/>
            </a:pPr>
            <a:r>
              <a:rPr lang="es" sz="1000" u="sng">
                <a:solidFill>
                  <a:schemeClr val="lt1"/>
                </a:solidFill>
                <a:latin typeface="Times New Roman"/>
                <a:ea typeface="Times New Roman"/>
                <a:cs typeface="Times New Roman"/>
                <a:sym typeface="Times New Roman"/>
                <a:hlinkClick r:id="rId23">
                  <a:extLst>
                    <a:ext uri="{A12FA001-AC4F-418D-AE19-62706E023703}">
                      <ahyp:hlinkClr val="tx"/>
                    </a:ext>
                  </a:extLst>
                </a:hlinkClick>
              </a:rPr>
              <a:t>Introduction to SLI</a:t>
            </a:r>
            <a:endParaRPr sz="1000">
              <a:solidFill>
                <a:schemeClr val="lt1"/>
              </a:solidFill>
              <a:latin typeface="Times New Roman"/>
              <a:ea typeface="Times New Roman"/>
              <a:cs typeface="Times New Roman"/>
              <a:sym typeface="Times New Roman"/>
            </a:endParaRPr>
          </a:p>
          <a:p>
            <a:pPr indent="-292100" lvl="0" marL="457200" rtl="0" algn="just">
              <a:lnSpc>
                <a:spcPct val="115000"/>
              </a:lnSpc>
              <a:spcBef>
                <a:spcPts val="0"/>
              </a:spcBef>
              <a:spcAft>
                <a:spcPts val="0"/>
              </a:spcAft>
              <a:buClr>
                <a:schemeClr val="lt1"/>
              </a:buClr>
              <a:buSzPts val="1000"/>
              <a:buFont typeface="Times New Roman"/>
              <a:buChar char="●"/>
            </a:pPr>
            <a:r>
              <a:rPr lang="es" sz="1000" u="sng">
                <a:solidFill>
                  <a:schemeClr val="lt1"/>
                </a:solidFill>
                <a:latin typeface="Times New Roman"/>
                <a:ea typeface="Times New Roman"/>
                <a:cs typeface="Times New Roman"/>
                <a:sym typeface="Times New Roman"/>
                <a:hlinkClick r:id="rId24">
                  <a:extLst>
                    <a:ext uri="{A12FA001-AC4F-418D-AE19-62706E023703}">
                      <ahyp:hlinkClr val="tx"/>
                    </a:ext>
                  </a:extLst>
                </a:hlinkClick>
              </a:rPr>
              <a:t>PCI Express</a:t>
            </a:r>
            <a:endParaRPr sz="1000">
              <a:solidFill>
                <a:schemeClr val="lt1"/>
              </a:solidFill>
              <a:latin typeface="Times New Roman"/>
              <a:ea typeface="Times New Roman"/>
              <a:cs typeface="Times New Roman"/>
              <a:sym typeface="Times New Roman"/>
            </a:endParaRPr>
          </a:p>
          <a:p>
            <a:pPr indent="-292100" lvl="0" marL="457200" rtl="0" algn="just">
              <a:lnSpc>
                <a:spcPct val="115000"/>
              </a:lnSpc>
              <a:spcBef>
                <a:spcPts val="0"/>
              </a:spcBef>
              <a:spcAft>
                <a:spcPts val="0"/>
              </a:spcAft>
              <a:buClr>
                <a:schemeClr val="lt1"/>
              </a:buClr>
              <a:buSzPts val="1000"/>
              <a:buFont typeface="Times New Roman"/>
              <a:buChar char="●"/>
            </a:pPr>
            <a:r>
              <a:rPr lang="es" sz="1000" u="sng">
                <a:solidFill>
                  <a:schemeClr val="lt1"/>
                </a:solidFill>
                <a:latin typeface="Times New Roman"/>
                <a:ea typeface="Times New Roman"/>
                <a:cs typeface="Times New Roman"/>
                <a:sym typeface="Times New Roman"/>
                <a:hlinkClick r:id="rId25">
                  <a:extLst>
                    <a:ext uri="{A12FA001-AC4F-418D-AE19-62706E023703}">
                      <ahyp:hlinkClr val="tx"/>
                    </a:ext>
                  </a:extLst>
                </a:hlinkClick>
              </a:rPr>
              <a:t>PCI Express 7 will be eight times faster than PCI Express 5</a:t>
            </a:r>
            <a:endParaRPr sz="1000">
              <a:solidFill>
                <a:schemeClr val="lt1"/>
              </a:solidFill>
              <a:latin typeface="Times New Roman"/>
              <a:ea typeface="Times New Roman"/>
              <a:cs typeface="Times New Roman"/>
              <a:sym typeface="Times New Roman"/>
            </a:endParaRPr>
          </a:p>
          <a:p>
            <a:pPr indent="-292100" lvl="0" marL="457200" rtl="0" algn="just">
              <a:lnSpc>
                <a:spcPct val="115000"/>
              </a:lnSpc>
              <a:spcBef>
                <a:spcPts val="0"/>
              </a:spcBef>
              <a:spcAft>
                <a:spcPts val="0"/>
              </a:spcAft>
              <a:buClr>
                <a:schemeClr val="lt1"/>
              </a:buClr>
              <a:buSzPts val="1000"/>
              <a:buFont typeface="Times New Roman"/>
              <a:buChar char="●"/>
            </a:pPr>
            <a:r>
              <a:rPr lang="es" sz="1000" u="sng">
                <a:solidFill>
                  <a:schemeClr val="lt1"/>
                </a:solidFill>
                <a:latin typeface="Times New Roman"/>
                <a:ea typeface="Times New Roman"/>
                <a:cs typeface="Times New Roman"/>
                <a:sym typeface="Times New Roman"/>
                <a:hlinkClick r:id="rId26">
                  <a:extLst>
                    <a:ext uri="{A12FA001-AC4F-418D-AE19-62706E023703}">
                      <ahyp:hlinkClr val="tx"/>
                    </a:ext>
                  </a:extLst>
                </a:hlinkClick>
              </a:rPr>
              <a:t>Puerto PCI Express, uno de los más importantes de la placa base</a:t>
            </a:r>
            <a:endParaRPr sz="1000">
              <a:solidFill>
                <a:schemeClr val="lt1"/>
              </a:solidFill>
            </a:endParaRPr>
          </a:p>
          <a:p>
            <a:pPr indent="0" lvl="0" marL="0" rtl="0" algn="l">
              <a:spcBef>
                <a:spcPts val="0"/>
              </a:spcBef>
              <a:spcAft>
                <a:spcPts val="0"/>
              </a:spcAft>
              <a:buNone/>
            </a:pPr>
            <a:r>
              <a:t/>
            </a:r>
            <a:endParaRPr sz="1300">
              <a:solidFill>
                <a:schemeClr val="dk2"/>
              </a:solidFill>
              <a:latin typeface="Nunito"/>
              <a:ea typeface="Nunito"/>
              <a:cs typeface="Nunito"/>
              <a:sym typeface="Nunito"/>
            </a:endParaRPr>
          </a:p>
        </p:txBody>
      </p:sp>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