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p:regular r:id="rId22"/>
      <p:bold r:id="rId23"/>
      <p:italic r:id="rId24"/>
      <p:boldItalic r:id="rId25"/>
    </p:embeddedFont>
    <p:embeddedFont>
      <p:font typeface="Merriweather"/>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E53B37-68C5-494E-BB81-6EE6FAB3ED8F}">
  <a:tblStyle styleId="{91E53B37-68C5-494E-BB81-6EE6FAB3ED8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regular.fntdata"/><Relationship Id="rId21" Type="http://schemas.openxmlformats.org/officeDocument/2006/relationships/slide" Target="slides/slide15.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erriweather-regular.fntdata"/><Relationship Id="rId25" Type="http://schemas.openxmlformats.org/officeDocument/2006/relationships/font" Target="fonts/Roboto-boldItalic.fntdata"/><Relationship Id="rId28" Type="http://schemas.openxmlformats.org/officeDocument/2006/relationships/font" Target="fonts/Merriweather-italic.fntdata"/><Relationship Id="rId27" Type="http://schemas.openxmlformats.org/officeDocument/2006/relationships/font" Target="fonts/Merriweath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erriweather-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95113f73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95113f73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b68ba156b_0_10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b68ba156b_0_1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95113f73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95113f73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95113f737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95113f737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95113f73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95113f73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95113f737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95113f737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b68ba156b_0_1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b68ba156b_0_1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95113f73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95113f73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b68ba156b_0_1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b68ba156b_0_1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b68ba156b_0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b68ba156b_0_1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d01ede7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d01ede7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d01ede77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d01ede77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95113f73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95113f73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b68ba156b_0_1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b68ba156b_0_1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1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www.techtarget.com/searchdatacenter/definition/multi-core-processor" TargetMode="External"/><Relationship Id="rId4" Type="http://schemas.openxmlformats.org/officeDocument/2006/relationships/hyperlink" Target="https://www.thoughtco.com/intel-history-1991923" TargetMode="External"/><Relationship Id="rId11" Type="http://schemas.openxmlformats.org/officeDocument/2006/relationships/hyperlink" Target="https://en.wikipedia.org/wiki/Multi-core_processor" TargetMode="External"/><Relationship Id="rId10" Type="http://schemas.openxmlformats.org/officeDocument/2006/relationships/hyperlink" Target="https://www.geeksforgeeks.org/computer-organization-architecture/what-is-a-multicore-processor/" TargetMode="External"/><Relationship Id="rId12" Type="http://schemas.openxmlformats.org/officeDocument/2006/relationships/hyperlink" Target="https://en.wikipedia.org/wiki/X86-64" TargetMode="External"/><Relationship Id="rId9" Type="http://schemas.openxmlformats.org/officeDocument/2006/relationships/hyperlink" Target="https://www.sciencedirect.com/topics/computer-science/intel-architecture" TargetMode="External"/><Relationship Id="rId5" Type="http://schemas.openxmlformats.org/officeDocument/2006/relationships/hyperlink" Target="https://www.intel.com/content/www/us/en/history/virtual-vault/articles/intels-founding.html" TargetMode="External"/><Relationship Id="rId6" Type="http://schemas.openxmlformats.org/officeDocument/2006/relationships/hyperlink" Target="https://pvs-studio.com/en/blog/posts/a0029/" TargetMode="External"/><Relationship Id="rId7" Type="http://schemas.openxmlformats.org/officeDocument/2006/relationships/hyperlink" Target="https://www.geeksforgeeks.org/computer-organization-architecture/microprocessor-intel-x86-evolution-and-main-features/" TargetMode="External"/><Relationship Id="rId8" Type="http://schemas.openxmlformats.org/officeDocument/2006/relationships/hyperlink" Target="https://www.ti.com/lit/an/sprab27b/sprab27b.pdf?&amp;ts=1763397440006&amp;ref_url=https%253A%252F%252F%252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769950" y="297625"/>
            <a:ext cx="7604100" cy="11964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1200"/>
              </a:spcAft>
              <a:buClr>
                <a:schemeClr val="dk1"/>
              </a:buClr>
              <a:buSzPts val="1100"/>
              <a:buFont typeface="Arial"/>
              <a:buNone/>
            </a:pPr>
            <a:r>
              <a:rPr lang="es" sz="3000">
                <a:solidFill>
                  <a:srgbClr val="1C4587"/>
                </a:solidFill>
              </a:rPr>
              <a:t>Evaluación de dos procesadores multinúcleos (AMD e Intel).</a:t>
            </a:r>
            <a:endParaRPr sz="5700"/>
          </a:p>
        </p:txBody>
      </p:sp>
      <p:sp>
        <p:nvSpPr>
          <p:cNvPr id="65" name="Google Shape;65;p13"/>
          <p:cNvSpPr txBox="1"/>
          <p:nvPr/>
        </p:nvSpPr>
        <p:spPr>
          <a:xfrm>
            <a:off x="3070650" y="3932325"/>
            <a:ext cx="3002700" cy="102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700">
                <a:solidFill>
                  <a:schemeClr val="lt1"/>
                </a:solidFill>
                <a:highlight>
                  <a:srgbClr val="073763"/>
                </a:highlight>
                <a:latin typeface="Times New Roman"/>
                <a:ea typeface="Times New Roman"/>
                <a:cs typeface="Times New Roman"/>
                <a:sym typeface="Times New Roman"/>
              </a:rPr>
              <a:t>Realizado por:</a:t>
            </a:r>
            <a:endParaRPr sz="1700">
              <a:solidFill>
                <a:schemeClr val="lt1"/>
              </a:solidFill>
              <a:highlight>
                <a:srgbClr val="073763"/>
              </a:highlight>
              <a:latin typeface="Times New Roman"/>
              <a:ea typeface="Times New Roman"/>
              <a:cs typeface="Times New Roman"/>
              <a:sym typeface="Times New Roman"/>
            </a:endParaRPr>
          </a:p>
          <a:p>
            <a:pPr indent="0" lvl="0" marL="0" rtl="0" algn="ctr">
              <a:spcBef>
                <a:spcPts val="0"/>
              </a:spcBef>
              <a:spcAft>
                <a:spcPts val="0"/>
              </a:spcAft>
              <a:buNone/>
            </a:pPr>
            <a:r>
              <a:rPr lang="es" sz="1500">
                <a:solidFill>
                  <a:srgbClr val="CFE2F3"/>
                </a:solidFill>
                <a:latin typeface="Times New Roman"/>
                <a:ea typeface="Times New Roman"/>
                <a:cs typeface="Times New Roman"/>
                <a:sym typeface="Times New Roman"/>
              </a:rPr>
              <a:t>Ignacio Caballero Román.</a:t>
            </a:r>
            <a:endParaRPr sz="1500">
              <a:solidFill>
                <a:srgbClr val="CFE2F3"/>
              </a:solidFill>
              <a:latin typeface="Times New Roman"/>
              <a:ea typeface="Times New Roman"/>
              <a:cs typeface="Times New Roman"/>
              <a:sym typeface="Times New Roman"/>
            </a:endParaRPr>
          </a:p>
          <a:p>
            <a:pPr indent="0" lvl="0" marL="0" rtl="0" algn="ctr">
              <a:spcBef>
                <a:spcPts val="0"/>
              </a:spcBef>
              <a:spcAft>
                <a:spcPts val="0"/>
              </a:spcAft>
              <a:buNone/>
            </a:pPr>
            <a:r>
              <a:rPr lang="es" sz="1500">
                <a:solidFill>
                  <a:srgbClr val="CFE2F3"/>
                </a:solidFill>
                <a:latin typeface="Times New Roman"/>
                <a:ea typeface="Times New Roman"/>
                <a:cs typeface="Times New Roman"/>
                <a:sym typeface="Times New Roman"/>
              </a:rPr>
              <a:t>Daniel Sánchez Gutiérrez.</a:t>
            </a:r>
            <a:endParaRPr sz="1500">
              <a:solidFill>
                <a:srgbClr val="CFE2F3"/>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pic>
        <p:nvPicPr>
          <p:cNvPr id="66" name="Google Shape;66;p13"/>
          <p:cNvPicPr preferRelativeResize="0"/>
          <p:nvPr/>
        </p:nvPicPr>
        <p:blipFill>
          <a:blip r:embed="rId3">
            <a:alphaModFix/>
          </a:blip>
          <a:stretch>
            <a:fillRect/>
          </a:stretch>
        </p:blipFill>
        <p:spPr>
          <a:xfrm>
            <a:off x="2848888" y="1494025"/>
            <a:ext cx="3446225" cy="2155450"/>
          </a:xfrm>
          <a:prstGeom prst="rect">
            <a:avLst/>
          </a:prstGeom>
          <a:noFill/>
          <a:ln>
            <a:noFill/>
          </a:ln>
        </p:spPr>
      </p:pic>
    </p:spTree>
  </p:cSld>
  <p:clrMapOvr>
    <a:masterClrMapping/>
  </p:clrMapOvr>
  <mc:AlternateContent>
    <mc:Choice Requires="p14">
      <p:transition spd="slow" p14:dur="1100">
        <p14:prism dir="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3580">
                <a:solidFill>
                  <a:schemeClr val="dk1"/>
                </a:solidFill>
              </a:rPr>
              <a:t>Índice</a:t>
            </a:r>
            <a:endParaRPr sz="3580">
              <a:solidFill>
                <a:schemeClr val="dk1"/>
              </a:solidFill>
            </a:endParaRPr>
          </a:p>
        </p:txBody>
      </p:sp>
      <p:sp>
        <p:nvSpPr>
          <p:cNvPr id="72" name="Google Shape;72;p14"/>
          <p:cNvSpPr txBox="1"/>
          <p:nvPr>
            <p:ph idx="2" type="body"/>
          </p:nvPr>
        </p:nvSpPr>
        <p:spPr>
          <a:xfrm>
            <a:off x="4878900" y="261200"/>
            <a:ext cx="4265100" cy="4704000"/>
          </a:xfrm>
          <a:prstGeom prst="rect">
            <a:avLst/>
          </a:prstGeom>
        </p:spPr>
        <p:txBody>
          <a:bodyPr anchorCtr="0" anchor="t" bIns="91425" lIns="91425" spcFirstLastPara="1" rIns="91425" wrap="square" tIns="91425">
            <a:noAutofit/>
          </a:bodyPr>
          <a:lstStyle/>
          <a:p>
            <a:pPr indent="-311150" lvl="0" marL="457200" rtl="0" algn="just">
              <a:lnSpc>
                <a:spcPct val="90000"/>
              </a:lnSpc>
              <a:spcBef>
                <a:spcPts val="0"/>
              </a:spcBef>
              <a:spcAft>
                <a:spcPts val="0"/>
              </a:spcAft>
              <a:buClr>
                <a:schemeClr val="dk1"/>
              </a:buClr>
              <a:buSzPts val="1300"/>
              <a:buFont typeface="Times New Roman"/>
              <a:buAutoNum type="arabicPeriod"/>
            </a:pPr>
            <a:r>
              <a:rPr b="1" lang="es">
                <a:solidFill>
                  <a:schemeClr val="dk1"/>
                </a:solidFill>
                <a:latin typeface="Times New Roman"/>
                <a:ea typeface="Times New Roman"/>
                <a:cs typeface="Times New Roman"/>
                <a:sym typeface="Times New Roman"/>
              </a:rPr>
              <a:t>I</a:t>
            </a:r>
            <a:r>
              <a:rPr b="1" lang="es">
                <a:solidFill>
                  <a:schemeClr val="dk1"/>
                </a:solidFill>
                <a:latin typeface="Times New Roman"/>
                <a:ea typeface="Times New Roman"/>
                <a:cs typeface="Times New Roman"/>
                <a:sym typeface="Times New Roman"/>
              </a:rPr>
              <a:t>ntroducción a los procesadores multinúcleo.</a:t>
            </a:r>
            <a:endParaRPr b="1">
              <a:solidFill>
                <a:schemeClr val="dk1"/>
              </a:solidFill>
              <a:latin typeface="Times New Roman"/>
              <a:ea typeface="Times New Roman"/>
              <a:cs typeface="Times New Roman"/>
              <a:sym typeface="Times New Roman"/>
            </a:endParaRPr>
          </a:p>
          <a:p>
            <a:pPr indent="-311150" lvl="1" marL="9144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¿Qué son?</a:t>
            </a:r>
            <a:endParaRPr sz="1300">
              <a:solidFill>
                <a:schemeClr val="dk1"/>
              </a:solidFill>
              <a:latin typeface="Times New Roman"/>
              <a:ea typeface="Times New Roman"/>
              <a:cs typeface="Times New Roman"/>
              <a:sym typeface="Times New Roman"/>
            </a:endParaRPr>
          </a:p>
          <a:p>
            <a:pPr indent="-311150" lvl="1" marL="9144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¿Porque surgieron?</a:t>
            </a:r>
            <a:endParaRPr sz="1300">
              <a:solidFill>
                <a:schemeClr val="dk1"/>
              </a:solidFill>
              <a:latin typeface="Times New Roman"/>
              <a:ea typeface="Times New Roman"/>
              <a:cs typeface="Times New Roman"/>
              <a:sym typeface="Times New Roman"/>
            </a:endParaRPr>
          </a:p>
          <a:p>
            <a:pPr indent="-311150" lvl="1" marL="9144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¿Cómo trabajan los núcleos entre </a:t>
            </a:r>
            <a:r>
              <a:rPr lang="es" sz="1300">
                <a:solidFill>
                  <a:schemeClr val="dk1"/>
                </a:solidFill>
                <a:latin typeface="Times New Roman"/>
                <a:ea typeface="Times New Roman"/>
                <a:cs typeface="Times New Roman"/>
                <a:sym typeface="Times New Roman"/>
              </a:rPr>
              <a:t>sí</a:t>
            </a:r>
            <a:r>
              <a:rPr lang="es" sz="1300">
                <a:solidFill>
                  <a:schemeClr val="dk1"/>
                </a:solidFill>
                <a:latin typeface="Times New Roman"/>
                <a:ea typeface="Times New Roman"/>
                <a:cs typeface="Times New Roman"/>
                <a:sym typeface="Times New Roman"/>
              </a:rPr>
              <a:t>?</a:t>
            </a:r>
            <a:endParaRPr sz="1300">
              <a:solidFill>
                <a:schemeClr val="dk1"/>
              </a:solidFill>
              <a:latin typeface="Times New Roman"/>
              <a:ea typeface="Times New Roman"/>
              <a:cs typeface="Times New Roman"/>
              <a:sym typeface="Times New Roman"/>
            </a:endParaRPr>
          </a:p>
          <a:p>
            <a:pPr indent="-311150" lvl="1" marL="9144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Ventajas y desventajas principales.</a:t>
            </a:r>
            <a:endParaRPr sz="1300">
              <a:solidFill>
                <a:schemeClr val="dk1"/>
              </a:solidFill>
              <a:latin typeface="Times New Roman"/>
              <a:ea typeface="Times New Roman"/>
              <a:cs typeface="Times New Roman"/>
              <a:sym typeface="Times New Roman"/>
            </a:endParaRPr>
          </a:p>
          <a:p>
            <a:pPr indent="0" lvl="0" marL="914400" rtl="0" algn="just">
              <a:lnSpc>
                <a:spcPct val="9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311150" lvl="0" marL="457200" rtl="0" algn="just">
              <a:lnSpc>
                <a:spcPct val="90000"/>
              </a:lnSpc>
              <a:spcBef>
                <a:spcPts val="0"/>
              </a:spcBef>
              <a:spcAft>
                <a:spcPts val="0"/>
              </a:spcAft>
              <a:buClr>
                <a:schemeClr val="dk1"/>
              </a:buClr>
              <a:buSzPts val="1300"/>
              <a:buFont typeface="Times New Roman"/>
              <a:buAutoNum type="arabicPeriod"/>
            </a:pPr>
            <a:r>
              <a:rPr b="1" lang="es">
                <a:solidFill>
                  <a:schemeClr val="dk1"/>
                </a:solidFill>
                <a:latin typeface="Times New Roman"/>
                <a:ea typeface="Times New Roman"/>
                <a:cs typeface="Times New Roman"/>
                <a:sym typeface="Times New Roman"/>
              </a:rPr>
              <a:t>AMD.</a:t>
            </a:r>
            <a:endParaRPr b="1">
              <a:solidFill>
                <a:schemeClr val="dk1"/>
              </a:solidFill>
              <a:latin typeface="Times New Roman"/>
              <a:ea typeface="Times New Roman"/>
              <a:cs typeface="Times New Roman"/>
              <a:sym typeface="Times New Roman"/>
            </a:endParaRPr>
          </a:p>
          <a:p>
            <a:pPr indent="-311150" lvl="1" marL="9144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Introducción a AMD.</a:t>
            </a:r>
            <a:endParaRPr sz="1300">
              <a:solidFill>
                <a:schemeClr val="dk1"/>
              </a:solidFill>
              <a:latin typeface="Times New Roman"/>
              <a:ea typeface="Times New Roman"/>
              <a:cs typeface="Times New Roman"/>
              <a:sym typeface="Times New Roman"/>
            </a:endParaRPr>
          </a:p>
          <a:p>
            <a:pPr indent="-311150" lvl="2" marL="13716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¿Cómo surgió?</a:t>
            </a:r>
            <a:endParaRPr sz="1300">
              <a:solidFill>
                <a:schemeClr val="dk1"/>
              </a:solidFill>
              <a:latin typeface="Times New Roman"/>
              <a:ea typeface="Times New Roman"/>
              <a:cs typeface="Times New Roman"/>
              <a:sym typeface="Times New Roman"/>
            </a:endParaRPr>
          </a:p>
          <a:p>
            <a:pPr indent="-311150" lvl="2" marL="13716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¿Motivos por los que surgieron?</a:t>
            </a:r>
            <a:endParaRPr sz="1300">
              <a:solidFill>
                <a:schemeClr val="dk1"/>
              </a:solidFill>
              <a:latin typeface="Times New Roman"/>
              <a:ea typeface="Times New Roman"/>
              <a:cs typeface="Times New Roman"/>
              <a:sym typeface="Times New Roman"/>
            </a:endParaRPr>
          </a:p>
          <a:p>
            <a:pPr indent="-311150" lvl="2" marL="13716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Progreso a lo largo de la historia.</a:t>
            </a:r>
            <a:endParaRPr sz="1300">
              <a:solidFill>
                <a:schemeClr val="dk1"/>
              </a:solidFill>
              <a:latin typeface="Times New Roman"/>
              <a:ea typeface="Times New Roman"/>
              <a:cs typeface="Times New Roman"/>
              <a:sym typeface="Times New Roman"/>
            </a:endParaRPr>
          </a:p>
          <a:p>
            <a:pPr indent="-311150" lvl="1" marL="9144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Características de su arquitectura.</a:t>
            </a:r>
            <a:endParaRPr sz="1300">
              <a:solidFill>
                <a:schemeClr val="dk1"/>
              </a:solidFill>
              <a:latin typeface="Times New Roman"/>
              <a:ea typeface="Times New Roman"/>
              <a:cs typeface="Times New Roman"/>
              <a:sym typeface="Times New Roman"/>
            </a:endParaRPr>
          </a:p>
          <a:p>
            <a:pPr indent="0" lvl="0" marL="914400" rtl="0" algn="just">
              <a:lnSpc>
                <a:spcPct val="9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311150" lvl="0" marL="457200" rtl="0" algn="just">
              <a:lnSpc>
                <a:spcPct val="90000"/>
              </a:lnSpc>
              <a:spcBef>
                <a:spcPts val="0"/>
              </a:spcBef>
              <a:spcAft>
                <a:spcPts val="0"/>
              </a:spcAft>
              <a:buClr>
                <a:schemeClr val="dk1"/>
              </a:buClr>
              <a:buSzPts val="1300"/>
              <a:buFont typeface="Times New Roman"/>
              <a:buAutoNum type="arabicPeriod"/>
            </a:pPr>
            <a:r>
              <a:rPr b="1" lang="es">
                <a:solidFill>
                  <a:schemeClr val="dk1"/>
                </a:solidFill>
                <a:latin typeface="Times New Roman"/>
                <a:ea typeface="Times New Roman"/>
                <a:cs typeface="Times New Roman"/>
                <a:sym typeface="Times New Roman"/>
              </a:rPr>
              <a:t>Intel.</a:t>
            </a:r>
            <a:endParaRPr b="1">
              <a:solidFill>
                <a:schemeClr val="dk1"/>
              </a:solidFill>
              <a:latin typeface="Times New Roman"/>
              <a:ea typeface="Times New Roman"/>
              <a:cs typeface="Times New Roman"/>
              <a:sym typeface="Times New Roman"/>
            </a:endParaRPr>
          </a:p>
          <a:p>
            <a:pPr indent="-311150" lvl="1" marL="9144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Introducción a Intel.</a:t>
            </a:r>
            <a:endParaRPr sz="1300">
              <a:solidFill>
                <a:schemeClr val="dk1"/>
              </a:solidFill>
              <a:latin typeface="Times New Roman"/>
              <a:ea typeface="Times New Roman"/>
              <a:cs typeface="Times New Roman"/>
              <a:sym typeface="Times New Roman"/>
            </a:endParaRPr>
          </a:p>
          <a:p>
            <a:pPr indent="-311150" lvl="2" marL="13716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¿Cómo surgió?</a:t>
            </a:r>
            <a:endParaRPr sz="1300">
              <a:solidFill>
                <a:schemeClr val="dk1"/>
              </a:solidFill>
              <a:latin typeface="Times New Roman"/>
              <a:ea typeface="Times New Roman"/>
              <a:cs typeface="Times New Roman"/>
              <a:sym typeface="Times New Roman"/>
            </a:endParaRPr>
          </a:p>
          <a:p>
            <a:pPr indent="-311150" lvl="2" marL="13716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¿Motivos por los que surgieron?</a:t>
            </a:r>
            <a:endParaRPr sz="1300">
              <a:solidFill>
                <a:schemeClr val="dk1"/>
              </a:solidFill>
              <a:latin typeface="Times New Roman"/>
              <a:ea typeface="Times New Roman"/>
              <a:cs typeface="Times New Roman"/>
              <a:sym typeface="Times New Roman"/>
            </a:endParaRPr>
          </a:p>
          <a:p>
            <a:pPr indent="-311150" lvl="2" marL="13716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Progreso a lo largo de la historia.</a:t>
            </a:r>
            <a:endParaRPr sz="1300">
              <a:solidFill>
                <a:schemeClr val="dk1"/>
              </a:solidFill>
              <a:latin typeface="Times New Roman"/>
              <a:ea typeface="Times New Roman"/>
              <a:cs typeface="Times New Roman"/>
              <a:sym typeface="Times New Roman"/>
            </a:endParaRPr>
          </a:p>
          <a:p>
            <a:pPr indent="-311150" lvl="1" marL="9144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Características de su arquitectura.</a:t>
            </a:r>
            <a:endParaRPr sz="1300">
              <a:solidFill>
                <a:schemeClr val="dk1"/>
              </a:solidFill>
              <a:latin typeface="Times New Roman"/>
              <a:ea typeface="Times New Roman"/>
              <a:cs typeface="Times New Roman"/>
              <a:sym typeface="Times New Roman"/>
            </a:endParaRPr>
          </a:p>
          <a:p>
            <a:pPr indent="0" lvl="0" marL="0" rtl="0" algn="just">
              <a:lnSpc>
                <a:spcPct val="9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311150" lvl="0" marL="457200" rtl="0" algn="just">
              <a:lnSpc>
                <a:spcPct val="90000"/>
              </a:lnSpc>
              <a:spcBef>
                <a:spcPts val="0"/>
              </a:spcBef>
              <a:spcAft>
                <a:spcPts val="0"/>
              </a:spcAft>
              <a:buClr>
                <a:schemeClr val="dk1"/>
              </a:buClr>
              <a:buSzPts val="1300"/>
              <a:buFont typeface="Times New Roman"/>
              <a:buAutoNum type="arabicPeriod"/>
            </a:pPr>
            <a:r>
              <a:rPr b="1" lang="es">
                <a:solidFill>
                  <a:schemeClr val="dk1"/>
                </a:solidFill>
                <a:latin typeface="Times New Roman"/>
                <a:ea typeface="Times New Roman"/>
                <a:cs typeface="Times New Roman"/>
                <a:sym typeface="Times New Roman"/>
              </a:rPr>
              <a:t>Benchmarking</a:t>
            </a:r>
            <a:endParaRPr b="1">
              <a:solidFill>
                <a:schemeClr val="dk1"/>
              </a:solidFill>
              <a:latin typeface="Times New Roman"/>
              <a:ea typeface="Times New Roman"/>
              <a:cs typeface="Times New Roman"/>
              <a:sym typeface="Times New Roman"/>
            </a:endParaRPr>
          </a:p>
          <a:p>
            <a:pPr indent="-311150" lvl="1" marL="9144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Introducción al benchmarking</a:t>
            </a:r>
            <a:endParaRPr sz="1300">
              <a:solidFill>
                <a:schemeClr val="dk1"/>
              </a:solidFill>
              <a:latin typeface="Times New Roman"/>
              <a:ea typeface="Times New Roman"/>
              <a:cs typeface="Times New Roman"/>
              <a:sym typeface="Times New Roman"/>
            </a:endParaRPr>
          </a:p>
          <a:p>
            <a:pPr indent="-311150" lvl="1" marL="914400" rtl="0" algn="just">
              <a:lnSpc>
                <a:spcPct val="90000"/>
              </a:lnSpc>
              <a:spcBef>
                <a:spcPts val="0"/>
              </a:spcBef>
              <a:spcAft>
                <a:spcPts val="0"/>
              </a:spcAft>
              <a:buClr>
                <a:schemeClr val="dk1"/>
              </a:buClr>
              <a:buSzPts val="1300"/>
              <a:buFont typeface="Times New Roman"/>
              <a:buAutoNum type="arabicPeriod"/>
            </a:pPr>
            <a:r>
              <a:rPr lang="es" sz="1300">
                <a:solidFill>
                  <a:schemeClr val="dk1"/>
                </a:solidFill>
                <a:latin typeface="Times New Roman"/>
                <a:ea typeface="Times New Roman"/>
                <a:cs typeface="Times New Roman"/>
                <a:sym typeface="Times New Roman"/>
              </a:rPr>
              <a:t>Análisis de </a:t>
            </a:r>
            <a:r>
              <a:rPr lang="es" sz="1300">
                <a:solidFill>
                  <a:schemeClr val="dk1"/>
                </a:solidFill>
                <a:latin typeface="Times New Roman"/>
                <a:ea typeface="Times New Roman"/>
                <a:cs typeface="Times New Roman"/>
                <a:sym typeface="Times New Roman"/>
              </a:rPr>
              <a:t>resultados</a:t>
            </a:r>
            <a:endParaRPr sz="1300">
              <a:solidFill>
                <a:schemeClr val="dk1"/>
              </a:solidFill>
              <a:latin typeface="Times New Roman"/>
              <a:ea typeface="Times New Roman"/>
              <a:cs typeface="Times New Roman"/>
              <a:sym typeface="Times New Roman"/>
            </a:endParaRPr>
          </a:p>
          <a:p>
            <a:pPr indent="-311150" lvl="0" marL="457200" rtl="0" algn="just">
              <a:lnSpc>
                <a:spcPct val="90000"/>
              </a:lnSpc>
              <a:spcBef>
                <a:spcPts val="0"/>
              </a:spcBef>
              <a:spcAft>
                <a:spcPts val="0"/>
              </a:spcAft>
              <a:buClr>
                <a:schemeClr val="dk1"/>
              </a:buClr>
              <a:buSzPts val="1300"/>
              <a:buFont typeface="Times New Roman"/>
              <a:buAutoNum type="arabicPeriod"/>
            </a:pPr>
            <a:r>
              <a:rPr b="1" lang="es">
                <a:solidFill>
                  <a:schemeClr val="dk1"/>
                </a:solidFill>
                <a:latin typeface="Times New Roman"/>
                <a:ea typeface="Times New Roman"/>
                <a:cs typeface="Times New Roman"/>
                <a:sym typeface="Times New Roman"/>
              </a:rPr>
              <a:t>Webgrafía</a:t>
            </a:r>
            <a:endParaRPr b="1">
              <a:solidFill>
                <a:schemeClr val="dk1"/>
              </a:solidFill>
              <a:latin typeface="Times New Roman"/>
              <a:ea typeface="Times New Roman"/>
              <a:cs typeface="Times New Roman"/>
              <a:sym typeface="Times New Roman"/>
            </a:endParaRPr>
          </a:p>
        </p:txBody>
      </p:sp>
      <p:pic>
        <p:nvPicPr>
          <p:cNvPr id="73" name="Google Shape;73;p14"/>
          <p:cNvPicPr preferRelativeResize="0"/>
          <p:nvPr/>
        </p:nvPicPr>
        <p:blipFill>
          <a:blip r:embed="rId3">
            <a:alphaModFix/>
          </a:blip>
          <a:stretch>
            <a:fillRect/>
          </a:stretch>
        </p:blipFill>
        <p:spPr>
          <a:xfrm>
            <a:off x="454625" y="1506300"/>
            <a:ext cx="3646350" cy="2002201"/>
          </a:xfrm>
          <a:prstGeom prst="rect">
            <a:avLst/>
          </a:prstGeom>
          <a:noFill/>
          <a:ln>
            <a:noFill/>
          </a:ln>
        </p:spPr>
      </p:pic>
      <p:sp>
        <p:nvSpPr>
          <p:cNvPr id="74" name="Google Shape;74;p14"/>
          <p:cNvSpPr txBox="1"/>
          <p:nvPr>
            <p:ph idx="1" type="subTitle"/>
          </p:nvPr>
        </p:nvSpPr>
        <p:spPr>
          <a:xfrm>
            <a:off x="4658450" y="0"/>
            <a:ext cx="3704400" cy="60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00"/>
                </a:solidFill>
                <a:latin typeface="Merriweather"/>
                <a:ea typeface="Merriweather"/>
                <a:cs typeface="Merriweather"/>
                <a:sym typeface="Merriweather"/>
              </a:rPr>
              <a:t>ÍNDICE.</a:t>
            </a:r>
            <a:endParaRPr b="1" sz="2400">
              <a:solidFill>
                <a:srgbClr val="000000"/>
              </a:solidFill>
              <a:latin typeface="Merriweather"/>
              <a:ea typeface="Merriweather"/>
              <a:cs typeface="Merriweather"/>
              <a:sym typeface="Merriweather"/>
            </a:endParaRPr>
          </a:p>
        </p:txBody>
      </p:sp>
    </p:spTree>
  </p:cSld>
  <p:clrMapOvr>
    <a:masterClrMapping/>
  </p:clrMapOvr>
  <mc:AlternateContent>
    <mc:Choice Requires="p14">
      <p:transition spd="slow" p14:dur="1100">
        <p14:prism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62525" y="1694175"/>
            <a:ext cx="3127500" cy="2354400"/>
          </a:xfrm>
          <a:prstGeom prst="rect">
            <a:avLst/>
          </a:prstGeom>
        </p:spPr>
        <p:txBody>
          <a:bodyPr anchorCtr="0" anchor="t" bIns="91425" lIns="91425" spcFirstLastPara="1" rIns="91425" wrap="square" tIns="91425">
            <a:normAutofit/>
          </a:bodyPr>
          <a:lstStyle/>
          <a:p>
            <a:pPr indent="0" lvl="0" marL="0" rtl="0" algn="ctr">
              <a:lnSpc>
                <a:spcPct val="115000"/>
              </a:lnSpc>
              <a:spcBef>
                <a:spcPts val="2000"/>
              </a:spcBef>
              <a:spcAft>
                <a:spcPts val="600"/>
              </a:spcAft>
              <a:buNone/>
            </a:pPr>
            <a:r>
              <a:rPr b="1" lang="es" sz="2900">
                <a:solidFill>
                  <a:schemeClr val="accent6"/>
                </a:solidFill>
                <a:latin typeface="Times New Roman"/>
                <a:ea typeface="Times New Roman"/>
                <a:cs typeface="Times New Roman"/>
                <a:sym typeface="Times New Roman"/>
              </a:rPr>
              <a:t>1</a:t>
            </a:r>
            <a:r>
              <a:rPr b="1" lang="es" sz="2900">
                <a:solidFill>
                  <a:schemeClr val="accent6"/>
                </a:solidFill>
                <a:latin typeface="Times New Roman"/>
                <a:ea typeface="Times New Roman"/>
                <a:cs typeface="Times New Roman"/>
                <a:sym typeface="Times New Roman"/>
              </a:rPr>
              <a:t>. </a:t>
            </a:r>
            <a:r>
              <a:rPr b="1" lang="es">
                <a:solidFill>
                  <a:srgbClr val="CFE2F3"/>
                </a:solidFill>
                <a:latin typeface="Times New Roman"/>
                <a:ea typeface="Times New Roman"/>
                <a:cs typeface="Times New Roman"/>
                <a:sym typeface="Times New Roman"/>
              </a:rPr>
              <a:t>Introducción a los procesadores multinúcleos.</a:t>
            </a:r>
            <a:endParaRPr b="1" sz="1700">
              <a:latin typeface="Times New Roman"/>
              <a:ea typeface="Times New Roman"/>
              <a:cs typeface="Times New Roman"/>
              <a:sym typeface="Times New Roman"/>
            </a:endParaRPr>
          </a:p>
        </p:txBody>
      </p:sp>
      <p:sp>
        <p:nvSpPr>
          <p:cNvPr id="80" name="Google Shape;80;p15"/>
          <p:cNvSpPr txBox="1"/>
          <p:nvPr>
            <p:ph idx="1" type="body"/>
          </p:nvPr>
        </p:nvSpPr>
        <p:spPr>
          <a:xfrm>
            <a:off x="4053850" y="830575"/>
            <a:ext cx="4889400" cy="4127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sz="1700">
                <a:solidFill>
                  <a:srgbClr val="000000"/>
                </a:solidFill>
                <a:latin typeface="Times New Roman"/>
                <a:ea typeface="Times New Roman"/>
                <a:cs typeface="Times New Roman"/>
                <a:sym typeface="Times New Roman"/>
              </a:rPr>
              <a:t>1.1. ¿Qué son?</a:t>
            </a:r>
            <a:endParaRPr sz="125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1250">
                <a:solidFill>
                  <a:srgbClr val="000000"/>
                </a:solidFill>
                <a:latin typeface="Times New Roman"/>
                <a:ea typeface="Times New Roman"/>
                <a:cs typeface="Times New Roman"/>
                <a:sym typeface="Times New Roman"/>
              </a:rPr>
              <a:t>Los procesadores multinúcleos son circuitos integrados con múltiples núcleos en un solo chip, que comparten memoria principal y, a veces, niveles de caché.</a:t>
            </a:r>
            <a:endParaRPr sz="125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25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b="1" lang="es" sz="1700">
                <a:solidFill>
                  <a:srgbClr val="000000"/>
                </a:solidFill>
                <a:latin typeface="Times New Roman"/>
                <a:ea typeface="Times New Roman"/>
                <a:cs typeface="Times New Roman"/>
                <a:sym typeface="Times New Roman"/>
              </a:rPr>
              <a:t>1.2. ¿Por qué surgieron?</a:t>
            </a:r>
            <a:endParaRPr b="1" sz="17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rPr lang="es" sz="1250">
                <a:solidFill>
                  <a:srgbClr val="000000"/>
                </a:solidFill>
                <a:latin typeface="Times New Roman"/>
                <a:ea typeface="Times New Roman"/>
                <a:cs typeface="Times New Roman"/>
                <a:sym typeface="Times New Roman"/>
              </a:rPr>
              <a:t>Durante años, para hacer más rápidos los procesadores, se aumentaba la frecuencia de reloj y se añadían técnicas como el superescalar y el pipelining, pero esto generaba más calor y consumía más energía.</a:t>
            </a:r>
            <a:endParaRPr sz="125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1250">
                <a:solidFill>
                  <a:srgbClr val="000000"/>
                </a:solidFill>
                <a:latin typeface="Times New Roman"/>
                <a:ea typeface="Times New Roman"/>
                <a:cs typeface="Times New Roman"/>
                <a:sym typeface="Times New Roman"/>
              </a:rPr>
              <a:t>A partir de cierto punto, se cambió la estrategia, optando por incorporar varios núcleos razonablemente rápidos en un solo chip en lugar de seguir aumentando la velocidad de un único núcleo.</a:t>
            </a:r>
            <a:endParaRPr sz="125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250">
              <a:solidFill>
                <a:srgbClr val="000000"/>
              </a:solidFill>
              <a:latin typeface="Times New Roman"/>
              <a:ea typeface="Times New Roman"/>
              <a:cs typeface="Times New Roman"/>
              <a:sym typeface="Times New Roman"/>
            </a:endParaRPr>
          </a:p>
          <a:p>
            <a:pPr indent="457200" lvl="0" marL="0" rtl="0" algn="l">
              <a:spcBef>
                <a:spcPts val="1200"/>
              </a:spcBef>
              <a:spcAft>
                <a:spcPts val="1200"/>
              </a:spcAft>
              <a:buNone/>
            </a:pPr>
            <a:r>
              <a:t/>
            </a:r>
            <a:endParaRPr sz="1400" u="sng">
              <a:solidFill>
                <a:srgbClr val="434343"/>
              </a:solidFill>
              <a:latin typeface="Times New Roman"/>
              <a:ea typeface="Times New Roman"/>
              <a:cs typeface="Times New Roman"/>
              <a:sym typeface="Times New Roman"/>
            </a:endParaRPr>
          </a:p>
        </p:txBody>
      </p:sp>
    </p:spTree>
  </p:cSld>
  <p:clrMapOvr>
    <a:masterClrMapping/>
  </p:clrMapOvr>
  <mc:AlternateContent>
    <mc:Choice Requires="p14">
      <p:transition spd="slow" p14:dur="1100">
        <p14:prism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297725"/>
            <a:ext cx="8520600" cy="623700"/>
          </a:xfrm>
          <a:prstGeom prst="rect">
            <a:avLst/>
          </a:prstGeom>
        </p:spPr>
        <p:txBody>
          <a:bodyPr anchorCtr="0" anchor="t" bIns="91425" lIns="91425" spcFirstLastPara="1" rIns="91425" wrap="square" tIns="91425">
            <a:normAutofit/>
          </a:bodyPr>
          <a:lstStyle/>
          <a:p>
            <a:pPr indent="-406400" lvl="0" marL="457200" rtl="0" algn="ctr">
              <a:lnSpc>
                <a:spcPct val="115000"/>
              </a:lnSpc>
              <a:spcBef>
                <a:spcPts val="2000"/>
              </a:spcBef>
              <a:spcAft>
                <a:spcPts val="0"/>
              </a:spcAft>
              <a:buClr>
                <a:srgbClr val="CFE2F3"/>
              </a:buClr>
              <a:buSzPts val="2800"/>
              <a:buFont typeface="Times New Roman"/>
              <a:buAutoNum type="arabicPeriod"/>
            </a:pPr>
            <a:r>
              <a:rPr b="1" lang="es">
                <a:solidFill>
                  <a:srgbClr val="CFE2F3"/>
                </a:solidFill>
                <a:latin typeface="Times New Roman"/>
                <a:ea typeface="Times New Roman"/>
                <a:cs typeface="Times New Roman"/>
                <a:sym typeface="Times New Roman"/>
              </a:rPr>
              <a:t>Introducción a los procesadores multinúcleos.</a:t>
            </a:r>
            <a:endParaRPr sz="3900">
              <a:solidFill>
                <a:srgbClr val="CFE2F3"/>
              </a:solidFill>
            </a:endParaRPr>
          </a:p>
        </p:txBody>
      </p:sp>
      <p:sp>
        <p:nvSpPr>
          <p:cNvPr id="86" name="Google Shape;86;p16"/>
          <p:cNvSpPr txBox="1"/>
          <p:nvPr>
            <p:ph idx="4294967295" type="body"/>
          </p:nvPr>
        </p:nvSpPr>
        <p:spPr>
          <a:xfrm>
            <a:off x="524400" y="1694175"/>
            <a:ext cx="8095200" cy="3449400"/>
          </a:xfrm>
          <a:prstGeom prst="rect">
            <a:avLst/>
          </a:prstGeom>
        </p:spPr>
        <p:txBody>
          <a:bodyPr anchorCtr="0" anchor="t" bIns="91425" lIns="91425" spcFirstLastPara="1" rIns="91425" wrap="square" tIns="91425">
            <a:normAutofit/>
          </a:bodyPr>
          <a:lstStyle/>
          <a:p>
            <a:pPr indent="-332860" lvl="0" marL="457200" rtl="0" algn="just">
              <a:spcBef>
                <a:spcPts val="1800"/>
              </a:spcBef>
              <a:spcAft>
                <a:spcPts val="0"/>
              </a:spcAft>
              <a:buClr>
                <a:srgbClr val="000000"/>
              </a:buClr>
              <a:buSzPts val="1642"/>
              <a:buFont typeface="Times New Roman"/>
              <a:buAutoNum type="arabicPeriod"/>
            </a:pPr>
            <a:r>
              <a:rPr b="1" lang="es" sz="1641">
                <a:solidFill>
                  <a:srgbClr val="000000"/>
                </a:solidFill>
                <a:latin typeface="Times New Roman"/>
                <a:ea typeface="Times New Roman"/>
                <a:cs typeface="Times New Roman"/>
                <a:sym typeface="Times New Roman"/>
              </a:rPr>
              <a:t>Tareas paralelas: </a:t>
            </a:r>
            <a:r>
              <a:rPr lang="es" sz="1641">
                <a:solidFill>
                  <a:srgbClr val="000000"/>
                </a:solidFill>
                <a:latin typeface="Times New Roman"/>
                <a:ea typeface="Times New Roman"/>
                <a:cs typeface="Times New Roman"/>
                <a:sym typeface="Times New Roman"/>
              </a:rPr>
              <a:t>c</a:t>
            </a:r>
            <a:r>
              <a:rPr lang="es" sz="1641">
                <a:solidFill>
                  <a:srgbClr val="000000"/>
                </a:solidFill>
                <a:latin typeface="Times New Roman"/>
                <a:ea typeface="Times New Roman"/>
                <a:cs typeface="Times New Roman"/>
                <a:sym typeface="Times New Roman"/>
              </a:rPr>
              <a:t>ada núcleo puede ejecutar su propia tarea o hilo de manera independiente. </a:t>
            </a:r>
            <a:endParaRPr sz="1641">
              <a:solidFill>
                <a:srgbClr val="000000"/>
              </a:solidFill>
              <a:latin typeface="Times New Roman"/>
              <a:ea typeface="Times New Roman"/>
              <a:cs typeface="Times New Roman"/>
              <a:sym typeface="Times New Roman"/>
            </a:endParaRPr>
          </a:p>
          <a:p>
            <a:pPr indent="-332860" lvl="0" marL="457200" rtl="0" algn="just">
              <a:spcBef>
                <a:spcPts val="1000"/>
              </a:spcBef>
              <a:spcAft>
                <a:spcPts val="0"/>
              </a:spcAft>
              <a:buClr>
                <a:srgbClr val="000000"/>
              </a:buClr>
              <a:buSzPts val="1642"/>
              <a:buFont typeface="Times New Roman"/>
              <a:buAutoNum type="arabicPeriod"/>
            </a:pPr>
            <a:r>
              <a:rPr b="1" lang="es" sz="1641">
                <a:solidFill>
                  <a:srgbClr val="000000"/>
                </a:solidFill>
                <a:latin typeface="Times New Roman"/>
                <a:ea typeface="Times New Roman"/>
                <a:cs typeface="Times New Roman"/>
                <a:sym typeface="Times New Roman"/>
              </a:rPr>
              <a:t>Acceso compartido a la memoria: </a:t>
            </a:r>
            <a:r>
              <a:rPr lang="es" sz="1641">
                <a:solidFill>
                  <a:srgbClr val="000000"/>
                </a:solidFill>
                <a:latin typeface="Times New Roman"/>
                <a:ea typeface="Times New Roman"/>
                <a:cs typeface="Times New Roman"/>
                <a:sym typeface="Times New Roman"/>
              </a:rPr>
              <a:t>t</a:t>
            </a:r>
            <a:r>
              <a:rPr lang="es" sz="1641">
                <a:solidFill>
                  <a:srgbClr val="000000"/>
                </a:solidFill>
                <a:latin typeface="Times New Roman"/>
                <a:ea typeface="Times New Roman"/>
                <a:cs typeface="Times New Roman"/>
                <a:sym typeface="Times New Roman"/>
              </a:rPr>
              <a:t>odos los núcleos comparten acceso a la memoria principal, lo que puede generar conflictos si no se sincronizan adecuadamente.</a:t>
            </a:r>
            <a:endParaRPr sz="1641">
              <a:solidFill>
                <a:srgbClr val="000000"/>
              </a:solidFill>
              <a:latin typeface="Times New Roman"/>
              <a:ea typeface="Times New Roman"/>
              <a:cs typeface="Times New Roman"/>
              <a:sym typeface="Times New Roman"/>
            </a:endParaRPr>
          </a:p>
          <a:p>
            <a:pPr indent="-332860" lvl="0" marL="457200" rtl="0" algn="just">
              <a:spcBef>
                <a:spcPts val="1000"/>
              </a:spcBef>
              <a:spcAft>
                <a:spcPts val="0"/>
              </a:spcAft>
              <a:buClr>
                <a:srgbClr val="000000"/>
              </a:buClr>
              <a:buSzPts val="1642"/>
              <a:buFont typeface="Times New Roman"/>
              <a:buAutoNum type="arabicPeriod"/>
            </a:pPr>
            <a:r>
              <a:rPr b="1" lang="es" sz="1641">
                <a:solidFill>
                  <a:srgbClr val="000000"/>
                </a:solidFill>
                <a:latin typeface="Times New Roman"/>
                <a:ea typeface="Times New Roman"/>
                <a:cs typeface="Times New Roman"/>
                <a:sym typeface="Times New Roman"/>
              </a:rPr>
              <a:t>Distribución de cargas: </a:t>
            </a:r>
            <a:r>
              <a:rPr lang="es" sz="1641">
                <a:solidFill>
                  <a:srgbClr val="000000"/>
                </a:solidFill>
                <a:latin typeface="Times New Roman"/>
                <a:ea typeface="Times New Roman"/>
                <a:cs typeface="Times New Roman"/>
                <a:sym typeface="Times New Roman"/>
              </a:rPr>
              <a:t>el </a:t>
            </a:r>
            <a:r>
              <a:rPr lang="es" sz="1641">
                <a:solidFill>
                  <a:srgbClr val="000000"/>
                </a:solidFill>
                <a:latin typeface="Times New Roman"/>
                <a:ea typeface="Times New Roman"/>
                <a:cs typeface="Times New Roman"/>
                <a:sym typeface="Times New Roman"/>
              </a:rPr>
              <a:t>sistema operativo distribuye las tareas entre los núcleos para evitar la sobrecarga de algunos y la inactividad de otros.</a:t>
            </a:r>
            <a:endParaRPr sz="1641">
              <a:solidFill>
                <a:srgbClr val="000000"/>
              </a:solidFill>
              <a:latin typeface="Times New Roman"/>
              <a:ea typeface="Times New Roman"/>
              <a:cs typeface="Times New Roman"/>
              <a:sym typeface="Times New Roman"/>
            </a:endParaRPr>
          </a:p>
          <a:p>
            <a:pPr indent="-332860" lvl="0" marL="457200" rtl="0" algn="just">
              <a:spcBef>
                <a:spcPts val="1200"/>
              </a:spcBef>
              <a:spcAft>
                <a:spcPts val="0"/>
              </a:spcAft>
              <a:buClr>
                <a:srgbClr val="000000"/>
              </a:buClr>
              <a:buSzPts val="1642"/>
              <a:buFont typeface="Times New Roman"/>
              <a:buAutoNum type="arabicPeriod"/>
            </a:pPr>
            <a:r>
              <a:rPr b="1" lang="es" sz="1641">
                <a:solidFill>
                  <a:srgbClr val="000000"/>
                </a:solidFill>
                <a:latin typeface="Times New Roman"/>
                <a:ea typeface="Times New Roman"/>
                <a:cs typeface="Times New Roman"/>
                <a:sym typeface="Times New Roman"/>
              </a:rPr>
              <a:t>Comunicación entre núcleos</a:t>
            </a:r>
            <a:r>
              <a:rPr lang="es" sz="1641">
                <a:solidFill>
                  <a:srgbClr val="000000"/>
                </a:solidFill>
                <a:latin typeface="Times New Roman"/>
                <a:ea typeface="Times New Roman"/>
                <a:cs typeface="Times New Roman"/>
                <a:sym typeface="Times New Roman"/>
              </a:rPr>
              <a:t>: los núcleos se comunican entre sí mediante canales internos cuando necesitan intercambiar información o resultados.</a:t>
            </a:r>
            <a:endParaRPr sz="1641">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700">
              <a:solidFill>
                <a:srgbClr val="000000"/>
              </a:solidFill>
              <a:latin typeface="Times New Roman"/>
              <a:ea typeface="Times New Roman"/>
              <a:cs typeface="Times New Roman"/>
              <a:sym typeface="Times New Roman"/>
            </a:endParaRPr>
          </a:p>
        </p:txBody>
      </p:sp>
      <p:sp>
        <p:nvSpPr>
          <p:cNvPr id="87" name="Google Shape;87;p16"/>
          <p:cNvSpPr txBox="1"/>
          <p:nvPr/>
        </p:nvSpPr>
        <p:spPr>
          <a:xfrm>
            <a:off x="1127550" y="811850"/>
            <a:ext cx="6888900" cy="436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600"/>
              </a:spcAft>
              <a:buNone/>
            </a:pPr>
            <a:r>
              <a:rPr b="1" lang="es" sz="1700">
                <a:solidFill>
                  <a:schemeClr val="lt1"/>
                </a:solidFill>
                <a:latin typeface="Times New Roman"/>
                <a:ea typeface="Times New Roman"/>
                <a:cs typeface="Times New Roman"/>
                <a:sym typeface="Times New Roman"/>
              </a:rPr>
              <a:t>1.3. ¿Cómo trabajan los núcleos entre sí?</a:t>
            </a:r>
            <a:endParaRPr sz="1700">
              <a:solidFill>
                <a:schemeClr val="lt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289375"/>
            <a:ext cx="8520600" cy="623700"/>
          </a:xfrm>
          <a:prstGeom prst="rect">
            <a:avLst/>
          </a:prstGeom>
        </p:spPr>
        <p:txBody>
          <a:bodyPr anchorCtr="0" anchor="t" bIns="91425" lIns="91425" spcFirstLastPara="1" rIns="91425" wrap="square" tIns="91425">
            <a:normAutofit/>
          </a:bodyPr>
          <a:lstStyle/>
          <a:p>
            <a:pPr indent="-406400" lvl="0" marL="457200" rtl="0" algn="ctr">
              <a:lnSpc>
                <a:spcPct val="115000"/>
              </a:lnSpc>
              <a:spcBef>
                <a:spcPts val="2000"/>
              </a:spcBef>
              <a:spcAft>
                <a:spcPts val="0"/>
              </a:spcAft>
              <a:buClr>
                <a:schemeClr val="accent6"/>
              </a:buClr>
              <a:buSzPts val="2800"/>
              <a:buFont typeface="Times New Roman"/>
              <a:buAutoNum type="arabicPeriod"/>
            </a:pPr>
            <a:r>
              <a:rPr b="1" lang="es">
                <a:solidFill>
                  <a:schemeClr val="accent6"/>
                </a:solidFill>
                <a:latin typeface="Times New Roman"/>
                <a:ea typeface="Times New Roman"/>
                <a:cs typeface="Times New Roman"/>
                <a:sym typeface="Times New Roman"/>
              </a:rPr>
              <a:t>Introducción a los procesadores multinúcleos.</a:t>
            </a:r>
            <a:endParaRPr sz="3900">
              <a:solidFill>
                <a:schemeClr val="accent6"/>
              </a:solidFill>
            </a:endParaRPr>
          </a:p>
        </p:txBody>
      </p:sp>
      <p:sp>
        <p:nvSpPr>
          <p:cNvPr id="93" name="Google Shape;93;p17"/>
          <p:cNvSpPr txBox="1"/>
          <p:nvPr>
            <p:ph idx="1" type="body"/>
          </p:nvPr>
        </p:nvSpPr>
        <p:spPr>
          <a:xfrm>
            <a:off x="311700" y="1505700"/>
            <a:ext cx="3999900" cy="30762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1800"/>
              </a:spcBef>
              <a:spcAft>
                <a:spcPts val="0"/>
              </a:spcAft>
              <a:buNone/>
            </a:pPr>
            <a:r>
              <a:rPr b="1" lang="es" sz="6000">
                <a:solidFill>
                  <a:srgbClr val="000000"/>
                </a:solidFill>
                <a:latin typeface="Times New Roman"/>
                <a:ea typeface="Times New Roman"/>
                <a:cs typeface="Times New Roman"/>
                <a:sym typeface="Times New Roman"/>
              </a:rPr>
              <a:t>VENTAJAS.</a:t>
            </a:r>
            <a:endParaRPr b="1" sz="6000">
              <a:solidFill>
                <a:srgbClr val="000000"/>
              </a:solidFill>
              <a:latin typeface="Times New Roman"/>
              <a:ea typeface="Times New Roman"/>
              <a:cs typeface="Times New Roman"/>
              <a:sym typeface="Times New Roman"/>
            </a:endParaRPr>
          </a:p>
          <a:p>
            <a:pPr indent="-311150" lvl="0" marL="457200" rtl="0" algn="just">
              <a:spcBef>
                <a:spcPts val="1800"/>
              </a:spcBef>
              <a:spcAft>
                <a:spcPts val="0"/>
              </a:spcAft>
              <a:buClr>
                <a:srgbClr val="000000"/>
              </a:buClr>
              <a:buSzPct val="100000"/>
              <a:buFont typeface="Times New Roman"/>
              <a:buAutoNum type="arabicPeriod"/>
            </a:pPr>
            <a:r>
              <a:rPr b="1" lang="es" sz="5200">
                <a:solidFill>
                  <a:srgbClr val="000000"/>
                </a:solidFill>
                <a:latin typeface="Times New Roman"/>
                <a:ea typeface="Times New Roman"/>
                <a:cs typeface="Times New Roman"/>
                <a:sym typeface="Times New Roman"/>
              </a:rPr>
              <a:t>Mayor rendimiento en paralelo</a:t>
            </a:r>
            <a:r>
              <a:rPr lang="es" sz="5200">
                <a:solidFill>
                  <a:srgbClr val="000000"/>
                </a:solidFill>
                <a:latin typeface="Times New Roman"/>
                <a:ea typeface="Times New Roman"/>
                <a:cs typeface="Times New Roman"/>
                <a:sym typeface="Times New Roman"/>
              </a:rPr>
              <a:t>. Aprovechando múltiples núcleos y hilos, el trabajo se distribuye mejor, mejorando la velocidad de respuesta.</a:t>
            </a:r>
            <a:br>
              <a:rPr lang="es" sz="5200">
                <a:solidFill>
                  <a:srgbClr val="000000"/>
                </a:solidFill>
                <a:latin typeface="Times New Roman"/>
                <a:ea typeface="Times New Roman"/>
                <a:cs typeface="Times New Roman"/>
                <a:sym typeface="Times New Roman"/>
              </a:rPr>
            </a:br>
            <a:endParaRPr sz="5200">
              <a:solidFill>
                <a:srgbClr val="000000"/>
              </a:solidFill>
              <a:latin typeface="Times New Roman"/>
              <a:ea typeface="Times New Roman"/>
              <a:cs typeface="Times New Roman"/>
              <a:sym typeface="Times New Roman"/>
            </a:endParaRPr>
          </a:p>
          <a:p>
            <a:pPr indent="-311150" lvl="0" marL="457200" rtl="0" algn="just">
              <a:spcBef>
                <a:spcPts val="0"/>
              </a:spcBef>
              <a:spcAft>
                <a:spcPts val="0"/>
              </a:spcAft>
              <a:buClr>
                <a:srgbClr val="000000"/>
              </a:buClr>
              <a:buSzPct val="100000"/>
              <a:buFont typeface="Times New Roman"/>
              <a:buAutoNum type="arabicPeriod"/>
            </a:pPr>
            <a:r>
              <a:rPr b="1" lang="es" sz="5200">
                <a:solidFill>
                  <a:srgbClr val="000000"/>
                </a:solidFill>
                <a:latin typeface="Times New Roman"/>
                <a:ea typeface="Times New Roman"/>
                <a:cs typeface="Times New Roman"/>
                <a:sym typeface="Times New Roman"/>
              </a:rPr>
              <a:t>Mejor relación rendimiento/consumo</a:t>
            </a:r>
            <a:r>
              <a:rPr lang="es" sz="5200">
                <a:solidFill>
                  <a:srgbClr val="000000"/>
                </a:solidFill>
                <a:latin typeface="Times New Roman"/>
                <a:ea typeface="Times New Roman"/>
                <a:cs typeface="Times New Roman"/>
                <a:sym typeface="Times New Roman"/>
              </a:rPr>
              <a:t>. Varias unidades trabajando a menor frecuencia son más eficientes que un solo núcleo a alta frecuencia.</a:t>
            </a:r>
            <a:br>
              <a:rPr lang="es" sz="5200">
                <a:solidFill>
                  <a:srgbClr val="000000"/>
                </a:solidFill>
                <a:latin typeface="Times New Roman"/>
                <a:ea typeface="Times New Roman"/>
                <a:cs typeface="Times New Roman"/>
                <a:sym typeface="Times New Roman"/>
              </a:rPr>
            </a:br>
            <a:endParaRPr sz="5200">
              <a:solidFill>
                <a:srgbClr val="000000"/>
              </a:solidFill>
              <a:latin typeface="Times New Roman"/>
              <a:ea typeface="Times New Roman"/>
              <a:cs typeface="Times New Roman"/>
              <a:sym typeface="Times New Roman"/>
            </a:endParaRPr>
          </a:p>
          <a:p>
            <a:pPr indent="-311150" lvl="0" marL="457200" rtl="0" algn="just">
              <a:spcBef>
                <a:spcPts val="0"/>
              </a:spcBef>
              <a:spcAft>
                <a:spcPts val="0"/>
              </a:spcAft>
              <a:buClr>
                <a:srgbClr val="000000"/>
              </a:buClr>
              <a:buSzPct val="100000"/>
              <a:buFont typeface="Times New Roman"/>
              <a:buAutoNum type="arabicPeriod"/>
            </a:pPr>
            <a:r>
              <a:rPr b="1" lang="es" sz="5200">
                <a:solidFill>
                  <a:srgbClr val="000000"/>
                </a:solidFill>
                <a:latin typeface="Times New Roman"/>
                <a:ea typeface="Times New Roman"/>
                <a:cs typeface="Times New Roman"/>
                <a:sym typeface="Times New Roman"/>
              </a:rPr>
              <a:t>Multitarea más fluida</a:t>
            </a:r>
            <a:r>
              <a:rPr lang="es" sz="5200">
                <a:solidFill>
                  <a:srgbClr val="000000"/>
                </a:solidFill>
                <a:latin typeface="Times New Roman"/>
                <a:ea typeface="Times New Roman"/>
                <a:cs typeface="Times New Roman"/>
                <a:sym typeface="Times New Roman"/>
              </a:rPr>
              <a:t>. El sistema operativo puede asignar programas a núcleos distintos de manera eficiente.</a:t>
            </a:r>
            <a:endParaRPr sz="17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700">
              <a:solidFill>
                <a:srgbClr val="000000"/>
              </a:solidFill>
              <a:latin typeface="Times New Roman"/>
              <a:ea typeface="Times New Roman"/>
              <a:cs typeface="Times New Roman"/>
              <a:sym typeface="Times New Roman"/>
            </a:endParaRPr>
          </a:p>
        </p:txBody>
      </p:sp>
      <p:sp>
        <p:nvSpPr>
          <p:cNvPr id="94" name="Google Shape;94;p17"/>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1800"/>
              </a:spcBef>
              <a:spcAft>
                <a:spcPts val="0"/>
              </a:spcAft>
              <a:buNone/>
            </a:pPr>
            <a:r>
              <a:rPr b="1" lang="es" sz="6000">
                <a:solidFill>
                  <a:srgbClr val="000000"/>
                </a:solidFill>
                <a:latin typeface="Times New Roman"/>
                <a:ea typeface="Times New Roman"/>
                <a:cs typeface="Times New Roman"/>
                <a:sym typeface="Times New Roman"/>
              </a:rPr>
              <a:t>DESVENTAJAS</a:t>
            </a:r>
            <a:r>
              <a:rPr b="1" lang="es" sz="6000">
                <a:solidFill>
                  <a:srgbClr val="000000"/>
                </a:solidFill>
                <a:latin typeface="Times New Roman"/>
                <a:ea typeface="Times New Roman"/>
                <a:cs typeface="Times New Roman"/>
                <a:sym typeface="Times New Roman"/>
              </a:rPr>
              <a:t>.</a:t>
            </a:r>
            <a:endParaRPr b="1" sz="6000">
              <a:solidFill>
                <a:srgbClr val="000000"/>
              </a:solidFill>
              <a:latin typeface="Times New Roman"/>
              <a:ea typeface="Times New Roman"/>
              <a:cs typeface="Times New Roman"/>
              <a:sym typeface="Times New Roman"/>
            </a:endParaRPr>
          </a:p>
          <a:p>
            <a:pPr indent="-311150" lvl="0" marL="457200" rtl="0" algn="just">
              <a:spcBef>
                <a:spcPts val="1200"/>
              </a:spcBef>
              <a:spcAft>
                <a:spcPts val="0"/>
              </a:spcAft>
              <a:buClr>
                <a:srgbClr val="000000"/>
              </a:buClr>
              <a:buSzPct val="100000"/>
              <a:buFont typeface="Times New Roman"/>
              <a:buAutoNum type="arabicPeriod"/>
            </a:pPr>
            <a:r>
              <a:rPr b="1" lang="es" sz="5200">
                <a:solidFill>
                  <a:srgbClr val="000000"/>
                </a:solidFill>
                <a:latin typeface="Times New Roman"/>
                <a:ea typeface="Times New Roman"/>
                <a:cs typeface="Times New Roman"/>
                <a:sym typeface="Times New Roman"/>
              </a:rPr>
              <a:t>Software no optimizado</a:t>
            </a:r>
            <a:r>
              <a:rPr lang="es" sz="5200">
                <a:solidFill>
                  <a:srgbClr val="000000"/>
                </a:solidFill>
                <a:latin typeface="Times New Roman"/>
                <a:ea typeface="Times New Roman"/>
                <a:cs typeface="Times New Roman"/>
                <a:sym typeface="Times New Roman"/>
              </a:rPr>
              <a:t>. Los programas deben aprovechar el paralelismo, si no, los núcleos adicionales no mejorarán el rendimiento.</a:t>
            </a:r>
            <a:br>
              <a:rPr lang="es" sz="5200">
                <a:solidFill>
                  <a:srgbClr val="000000"/>
                </a:solidFill>
                <a:latin typeface="Times New Roman"/>
                <a:ea typeface="Times New Roman"/>
                <a:cs typeface="Times New Roman"/>
                <a:sym typeface="Times New Roman"/>
              </a:rPr>
            </a:br>
            <a:endParaRPr sz="5200">
              <a:solidFill>
                <a:srgbClr val="000000"/>
              </a:solidFill>
              <a:latin typeface="Times New Roman"/>
              <a:ea typeface="Times New Roman"/>
              <a:cs typeface="Times New Roman"/>
              <a:sym typeface="Times New Roman"/>
            </a:endParaRPr>
          </a:p>
          <a:p>
            <a:pPr indent="-311150" lvl="0" marL="457200" rtl="0" algn="just">
              <a:spcBef>
                <a:spcPts val="0"/>
              </a:spcBef>
              <a:spcAft>
                <a:spcPts val="0"/>
              </a:spcAft>
              <a:buClr>
                <a:srgbClr val="000000"/>
              </a:buClr>
              <a:buSzPct val="100000"/>
              <a:buFont typeface="Times New Roman"/>
              <a:buAutoNum type="arabicPeriod"/>
            </a:pPr>
            <a:r>
              <a:rPr b="1" lang="es" sz="5200">
                <a:solidFill>
                  <a:srgbClr val="000000"/>
                </a:solidFill>
                <a:latin typeface="Times New Roman"/>
                <a:ea typeface="Times New Roman"/>
                <a:cs typeface="Times New Roman"/>
                <a:sym typeface="Times New Roman"/>
              </a:rPr>
              <a:t>Complejidad en la programación</a:t>
            </a:r>
            <a:r>
              <a:rPr lang="es" sz="5200">
                <a:solidFill>
                  <a:srgbClr val="000000"/>
                </a:solidFill>
                <a:latin typeface="Times New Roman"/>
                <a:ea typeface="Times New Roman"/>
                <a:cs typeface="Times New Roman"/>
                <a:sym typeface="Times New Roman"/>
              </a:rPr>
              <a:t>. Programar para múltiples núcleos es más complicado y puede generar errores.</a:t>
            </a:r>
            <a:br>
              <a:rPr lang="es" sz="5200">
                <a:solidFill>
                  <a:srgbClr val="000000"/>
                </a:solidFill>
                <a:latin typeface="Times New Roman"/>
                <a:ea typeface="Times New Roman"/>
                <a:cs typeface="Times New Roman"/>
                <a:sym typeface="Times New Roman"/>
              </a:rPr>
            </a:br>
            <a:endParaRPr sz="5200">
              <a:solidFill>
                <a:srgbClr val="000000"/>
              </a:solidFill>
              <a:latin typeface="Times New Roman"/>
              <a:ea typeface="Times New Roman"/>
              <a:cs typeface="Times New Roman"/>
              <a:sym typeface="Times New Roman"/>
            </a:endParaRPr>
          </a:p>
          <a:p>
            <a:pPr indent="-311150" lvl="0" marL="457200" rtl="0" algn="just">
              <a:spcBef>
                <a:spcPts val="0"/>
              </a:spcBef>
              <a:spcAft>
                <a:spcPts val="0"/>
              </a:spcAft>
              <a:buClr>
                <a:srgbClr val="000000"/>
              </a:buClr>
              <a:buSzPct val="100000"/>
              <a:buFont typeface="Times New Roman"/>
              <a:buAutoNum type="arabicPeriod"/>
            </a:pPr>
            <a:r>
              <a:rPr b="1" lang="es" sz="5200">
                <a:solidFill>
                  <a:srgbClr val="000000"/>
                </a:solidFill>
                <a:latin typeface="Times New Roman"/>
                <a:ea typeface="Times New Roman"/>
                <a:cs typeface="Times New Roman"/>
                <a:sym typeface="Times New Roman"/>
              </a:rPr>
              <a:t>Sobrecarga de comunicación entre núcleos</a:t>
            </a:r>
            <a:r>
              <a:rPr lang="es" sz="5200">
                <a:solidFill>
                  <a:srgbClr val="000000"/>
                </a:solidFill>
                <a:latin typeface="Times New Roman"/>
                <a:ea typeface="Times New Roman"/>
                <a:cs typeface="Times New Roman"/>
                <a:sym typeface="Times New Roman"/>
              </a:rPr>
              <a:t>. La comunicación entre núcleos puede generar un costo adicional que reduce el rendimiento.</a:t>
            </a:r>
            <a:endParaRPr sz="5200">
              <a:solidFill>
                <a:srgbClr val="000000"/>
              </a:solidFill>
              <a:latin typeface="Times New Roman"/>
              <a:ea typeface="Times New Roman"/>
              <a:cs typeface="Times New Roman"/>
              <a:sym typeface="Times New Roman"/>
            </a:endParaRPr>
          </a:p>
          <a:p>
            <a:pPr indent="0" lvl="0" marL="0" rtl="0" algn="l">
              <a:spcBef>
                <a:spcPts val="1800"/>
              </a:spcBef>
              <a:spcAft>
                <a:spcPts val="0"/>
              </a:spcAft>
              <a:buNone/>
            </a:pPr>
            <a:r>
              <a:t/>
            </a:r>
            <a:endParaRPr b="1" sz="1700">
              <a:solidFill>
                <a:srgbClr val="000000"/>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a:p>
        </p:txBody>
      </p:sp>
      <p:sp>
        <p:nvSpPr>
          <p:cNvPr id="95" name="Google Shape;95;p17"/>
          <p:cNvSpPr txBox="1"/>
          <p:nvPr/>
        </p:nvSpPr>
        <p:spPr>
          <a:xfrm>
            <a:off x="1127550" y="811850"/>
            <a:ext cx="6888900" cy="436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600"/>
              </a:spcAft>
              <a:buNone/>
            </a:pPr>
            <a:r>
              <a:rPr b="1" lang="es" sz="1700">
                <a:solidFill>
                  <a:schemeClr val="lt1"/>
                </a:solidFill>
                <a:latin typeface="Times New Roman"/>
                <a:ea typeface="Times New Roman"/>
                <a:cs typeface="Times New Roman"/>
                <a:sym typeface="Times New Roman"/>
              </a:rPr>
              <a:t>1.4. Ventajas y desventajas principales.</a:t>
            </a:r>
            <a:endParaRPr sz="1700">
              <a:solidFill>
                <a:schemeClr val="lt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75225" y="1452875"/>
            <a:ext cx="3127500" cy="2468700"/>
          </a:xfrm>
          <a:prstGeom prst="rect">
            <a:avLst/>
          </a:prstGeom>
        </p:spPr>
        <p:txBody>
          <a:bodyPr anchorCtr="0" anchor="t" bIns="91425" lIns="91425" spcFirstLastPara="1" rIns="91425" wrap="square" tIns="91425">
            <a:normAutofit/>
          </a:bodyPr>
          <a:lstStyle/>
          <a:p>
            <a:pPr indent="0" lvl="0" marL="0" rtl="0" algn="ctr">
              <a:lnSpc>
                <a:spcPct val="115000"/>
              </a:lnSpc>
              <a:spcBef>
                <a:spcPts val="2000"/>
              </a:spcBef>
              <a:spcAft>
                <a:spcPts val="0"/>
              </a:spcAft>
              <a:buNone/>
            </a:pPr>
            <a:r>
              <a:t/>
            </a:r>
            <a:endParaRPr b="1" sz="2900">
              <a:solidFill>
                <a:schemeClr val="accent6"/>
              </a:solidFill>
              <a:latin typeface="Times New Roman"/>
              <a:ea typeface="Times New Roman"/>
              <a:cs typeface="Times New Roman"/>
              <a:sym typeface="Times New Roman"/>
            </a:endParaRPr>
          </a:p>
          <a:p>
            <a:pPr indent="0" lvl="0" marL="0" rtl="0" algn="ctr">
              <a:lnSpc>
                <a:spcPct val="115000"/>
              </a:lnSpc>
              <a:spcBef>
                <a:spcPts val="2000"/>
              </a:spcBef>
              <a:spcAft>
                <a:spcPts val="0"/>
              </a:spcAft>
              <a:buNone/>
            </a:pPr>
            <a:r>
              <a:rPr b="1" lang="es" sz="2900">
                <a:solidFill>
                  <a:schemeClr val="accent6"/>
                </a:solidFill>
                <a:latin typeface="Times New Roman"/>
                <a:ea typeface="Times New Roman"/>
                <a:cs typeface="Times New Roman"/>
                <a:sym typeface="Times New Roman"/>
              </a:rPr>
              <a:t>2. AMD.</a:t>
            </a:r>
            <a:endParaRPr b="1" sz="2900">
              <a:solidFill>
                <a:schemeClr val="accent6"/>
              </a:solidFill>
              <a:latin typeface="Times New Roman"/>
              <a:ea typeface="Times New Roman"/>
              <a:cs typeface="Times New Roman"/>
              <a:sym typeface="Times New Roman"/>
            </a:endParaRPr>
          </a:p>
          <a:p>
            <a:pPr indent="0" lvl="0" marL="0" rtl="0" algn="ctr">
              <a:lnSpc>
                <a:spcPct val="115000"/>
              </a:lnSpc>
              <a:spcBef>
                <a:spcPts val="2000"/>
              </a:spcBef>
              <a:spcAft>
                <a:spcPts val="600"/>
              </a:spcAft>
              <a:buNone/>
            </a:pPr>
            <a:r>
              <a:t/>
            </a:r>
            <a:endParaRPr b="1" sz="1700">
              <a:latin typeface="Times New Roman"/>
              <a:ea typeface="Times New Roman"/>
              <a:cs typeface="Times New Roman"/>
              <a:sym typeface="Times New Roman"/>
            </a:endParaRPr>
          </a:p>
        </p:txBody>
      </p:sp>
      <p:sp>
        <p:nvSpPr>
          <p:cNvPr id="101" name="Google Shape;101;p18"/>
          <p:cNvSpPr txBox="1"/>
          <p:nvPr>
            <p:ph idx="1" type="body"/>
          </p:nvPr>
        </p:nvSpPr>
        <p:spPr>
          <a:xfrm>
            <a:off x="4053850" y="182875"/>
            <a:ext cx="4889400" cy="4902300"/>
          </a:xfrm>
          <a:prstGeom prst="rect">
            <a:avLst/>
          </a:prstGeom>
        </p:spPr>
        <p:txBody>
          <a:bodyPr anchorCtr="0" anchor="t" bIns="91425" lIns="91425" spcFirstLastPara="1" rIns="91425" wrap="square" tIns="91425">
            <a:normAutofit/>
          </a:bodyPr>
          <a:lstStyle/>
          <a:p>
            <a:pPr indent="0" lvl="0" marL="0" rtl="0" algn="l">
              <a:spcBef>
                <a:spcPts val="2000"/>
              </a:spcBef>
              <a:spcAft>
                <a:spcPts val="0"/>
              </a:spcAft>
              <a:buNone/>
            </a:pPr>
            <a:r>
              <a:rPr b="1" lang="es" sz="1700">
                <a:solidFill>
                  <a:srgbClr val="000000"/>
                </a:solidFill>
                <a:latin typeface="Times New Roman"/>
                <a:ea typeface="Times New Roman"/>
                <a:cs typeface="Times New Roman"/>
                <a:sym typeface="Times New Roman"/>
              </a:rPr>
              <a:t>2.1. Introducción a AMD.</a:t>
            </a:r>
            <a:r>
              <a:rPr b="1" lang="es" sz="1700">
                <a:solidFill>
                  <a:schemeClr val="lt1"/>
                </a:solidFill>
                <a:latin typeface="Times New Roman"/>
                <a:ea typeface="Times New Roman"/>
                <a:cs typeface="Times New Roman"/>
                <a:sym typeface="Times New Roman"/>
              </a:rPr>
              <a:t>a AMD.</a:t>
            </a:r>
            <a:endParaRPr sz="1400" u="sng">
              <a:solidFill>
                <a:srgbClr val="000000"/>
              </a:solidFill>
              <a:latin typeface="Times New Roman"/>
              <a:ea typeface="Times New Roman"/>
              <a:cs typeface="Times New Roman"/>
              <a:sym typeface="Times New Roman"/>
            </a:endParaRPr>
          </a:p>
          <a:p>
            <a:pPr indent="457200" lvl="0" marL="0" rtl="0" algn="l">
              <a:spcBef>
                <a:spcPts val="1600"/>
              </a:spcBef>
              <a:spcAft>
                <a:spcPts val="0"/>
              </a:spcAft>
              <a:buNone/>
            </a:pPr>
            <a:r>
              <a:rPr lang="es" sz="1400" u="sng">
                <a:solidFill>
                  <a:srgbClr val="000000"/>
                </a:solidFill>
                <a:latin typeface="Times New Roman"/>
                <a:ea typeface="Times New Roman"/>
                <a:cs typeface="Times New Roman"/>
                <a:sym typeface="Times New Roman"/>
              </a:rPr>
              <a:t>2.1.1 ¿Cómo surgió?</a:t>
            </a:r>
            <a:endParaRPr sz="1400" u="sng">
              <a:solidFill>
                <a:srgbClr val="000000"/>
              </a:solidFill>
              <a:latin typeface="Times New Roman"/>
              <a:ea typeface="Times New Roman"/>
              <a:cs typeface="Times New Roman"/>
              <a:sym typeface="Times New Roman"/>
            </a:endParaRPr>
          </a:p>
          <a:p>
            <a:pPr indent="0" lvl="0" marL="0" rtl="0" algn="just">
              <a:spcBef>
                <a:spcPts val="1600"/>
              </a:spcBef>
              <a:spcAft>
                <a:spcPts val="0"/>
              </a:spcAft>
              <a:buNone/>
            </a:pPr>
            <a:r>
              <a:rPr lang="es" sz="1400">
                <a:solidFill>
                  <a:srgbClr val="000000"/>
                </a:solidFill>
                <a:latin typeface="Times New Roman"/>
                <a:ea typeface="Times New Roman"/>
                <a:cs typeface="Times New Roman"/>
                <a:sym typeface="Times New Roman"/>
              </a:rPr>
              <a:t>Surgió el 1 de mayo de 1969.</a:t>
            </a:r>
            <a:endParaRPr sz="1400">
              <a:solidFill>
                <a:srgbClr val="000000"/>
              </a:solidFill>
              <a:latin typeface="Times New Roman"/>
              <a:ea typeface="Times New Roman"/>
              <a:cs typeface="Times New Roman"/>
              <a:sym typeface="Times New Roman"/>
            </a:endParaRPr>
          </a:p>
          <a:p>
            <a:pPr indent="457200" lvl="0" marL="0" rtl="0" algn="l">
              <a:spcBef>
                <a:spcPts val="1200"/>
              </a:spcBef>
              <a:spcAft>
                <a:spcPts val="0"/>
              </a:spcAft>
              <a:buNone/>
            </a:pPr>
            <a:r>
              <a:rPr lang="es" sz="1400" u="sng">
                <a:solidFill>
                  <a:srgbClr val="000000"/>
                </a:solidFill>
                <a:latin typeface="Times New Roman"/>
                <a:ea typeface="Times New Roman"/>
                <a:cs typeface="Times New Roman"/>
                <a:sym typeface="Times New Roman"/>
              </a:rPr>
              <a:t>2.1.2 ¿Motivos por los que surgieron?</a:t>
            </a:r>
            <a:endParaRPr sz="1400"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1400">
                <a:solidFill>
                  <a:srgbClr val="000000"/>
                </a:solidFill>
                <a:latin typeface="Times New Roman"/>
                <a:ea typeface="Times New Roman"/>
                <a:cs typeface="Times New Roman"/>
                <a:sym typeface="Times New Roman"/>
              </a:rPr>
              <a:t>AMD fue fundada por ingenieros de Fairchild Semiconductors, quienes crearon su propia compañía, inicialmente compitiendo con Fairchild y, actualmente, con Intel.</a:t>
            </a:r>
            <a:endParaRPr sz="1400">
              <a:solidFill>
                <a:srgbClr val="000000"/>
              </a:solidFill>
              <a:latin typeface="Times New Roman"/>
              <a:ea typeface="Times New Roman"/>
              <a:cs typeface="Times New Roman"/>
              <a:sym typeface="Times New Roman"/>
            </a:endParaRPr>
          </a:p>
          <a:p>
            <a:pPr indent="457200" lvl="0" marL="0" rtl="0" algn="l">
              <a:spcBef>
                <a:spcPts val="1200"/>
              </a:spcBef>
              <a:spcAft>
                <a:spcPts val="0"/>
              </a:spcAft>
              <a:buNone/>
            </a:pPr>
            <a:r>
              <a:rPr lang="es" sz="1400" u="sng">
                <a:solidFill>
                  <a:srgbClr val="000000"/>
                </a:solidFill>
                <a:latin typeface="Times New Roman"/>
                <a:ea typeface="Times New Roman"/>
                <a:cs typeface="Times New Roman"/>
                <a:sym typeface="Times New Roman"/>
              </a:rPr>
              <a:t>2.1.3 Progreso a lo largo de la historia.</a:t>
            </a:r>
            <a:endParaRPr sz="1400"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1400">
                <a:solidFill>
                  <a:srgbClr val="000000"/>
                </a:solidFill>
                <a:latin typeface="Times New Roman"/>
                <a:ea typeface="Times New Roman"/>
                <a:cs typeface="Times New Roman"/>
                <a:sym typeface="Times New Roman"/>
              </a:rPr>
              <a:t>AMD comenzó fabricando circuitos lógicos, luego RAM y en 1980 creó el clon del CPU Intel 8080, el AMD 9080, y desde entonces ha fabricado CPUs, incluyendo las series Ryzen 9000, además de CPUs ARM, FPGAs y GPUs.</a:t>
            </a:r>
            <a:endParaRPr sz="1400">
              <a:solidFill>
                <a:srgbClr val="000000"/>
              </a:solidFill>
              <a:latin typeface="Times New Roman"/>
              <a:ea typeface="Times New Roman"/>
              <a:cs typeface="Times New Roman"/>
              <a:sym typeface="Times New Roman"/>
            </a:endParaRPr>
          </a:p>
          <a:p>
            <a:pPr indent="457200" lvl="0" marL="0" rtl="0" algn="l">
              <a:spcBef>
                <a:spcPts val="1200"/>
              </a:spcBef>
              <a:spcAft>
                <a:spcPts val="1200"/>
              </a:spcAft>
              <a:buNone/>
            </a:pPr>
            <a:r>
              <a:t/>
            </a:r>
            <a:endParaRPr sz="1400" u="sng">
              <a:solidFill>
                <a:srgbClr val="434343"/>
              </a:solidFill>
              <a:latin typeface="Times New Roman"/>
              <a:ea typeface="Times New Roman"/>
              <a:cs typeface="Times New Roman"/>
              <a:sym typeface="Times New Roman"/>
            </a:endParaRPr>
          </a:p>
        </p:txBody>
      </p:sp>
    </p:spTree>
  </p:cSld>
  <p:clrMapOvr>
    <a:masterClrMapping/>
  </p:clrMapOvr>
  <mc:AlternateContent>
    <mc:Choice Requires="p14">
      <p:transition spd="slow" p14:dur="1100">
        <p14:prism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idx="1" type="body"/>
          </p:nvPr>
        </p:nvSpPr>
        <p:spPr>
          <a:xfrm>
            <a:off x="311700" y="1505700"/>
            <a:ext cx="3999900" cy="3076200"/>
          </a:xfrm>
          <a:prstGeom prst="rect">
            <a:avLst/>
          </a:prstGeom>
        </p:spPr>
        <p:txBody>
          <a:bodyPr anchorCtr="0" anchor="t" bIns="91425" lIns="91425" spcFirstLastPara="1" rIns="91425" wrap="square" tIns="91425">
            <a:normAutofit fontScale="32500" lnSpcReduction="20000"/>
          </a:bodyPr>
          <a:lstStyle/>
          <a:p>
            <a:pPr indent="0" lvl="0" marL="0" rtl="0" algn="just">
              <a:spcBef>
                <a:spcPts val="1200"/>
              </a:spcBef>
              <a:spcAft>
                <a:spcPts val="0"/>
              </a:spcAft>
              <a:buNone/>
            </a:pPr>
            <a:r>
              <a:rPr lang="es" sz="3925">
                <a:solidFill>
                  <a:srgbClr val="000000"/>
                </a:solidFill>
                <a:latin typeface="Times New Roman"/>
                <a:ea typeface="Times New Roman"/>
                <a:cs typeface="Times New Roman"/>
                <a:sym typeface="Times New Roman"/>
              </a:rPr>
              <a:t>La arquitectura AMD64, lanzada en 2003, es una extensión de la arquitectura de 32 bits x86 de Intel, que AMD licenciaba para sus procesadores.</a:t>
            </a:r>
            <a:endParaRPr sz="3925">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3925">
                <a:solidFill>
                  <a:srgbClr val="000000"/>
                </a:solidFill>
                <a:latin typeface="Times New Roman"/>
                <a:ea typeface="Times New Roman"/>
                <a:cs typeface="Times New Roman"/>
                <a:sym typeface="Times New Roman"/>
              </a:rPr>
              <a:t>Esta arquitectura es compatible con aplicaciones de 32 bits y ofrece mejoras para las de 64 bits.</a:t>
            </a:r>
            <a:endParaRPr sz="3925">
              <a:solidFill>
                <a:srgbClr val="000000"/>
              </a:solidFill>
              <a:latin typeface="Times New Roman"/>
              <a:ea typeface="Times New Roman"/>
              <a:cs typeface="Times New Roman"/>
              <a:sym typeface="Times New Roman"/>
            </a:endParaRPr>
          </a:p>
          <a:p>
            <a:pPr indent="0" lvl="0" marL="0" rtl="0" algn="ctr">
              <a:spcBef>
                <a:spcPts val="1200"/>
              </a:spcBef>
              <a:spcAft>
                <a:spcPts val="0"/>
              </a:spcAft>
              <a:buNone/>
            </a:pPr>
            <a:r>
              <a:rPr b="1" lang="es" sz="3925" u="sng">
                <a:solidFill>
                  <a:srgbClr val="000000"/>
                </a:solidFill>
                <a:latin typeface="Times New Roman"/>
                <a:ea typeface="Times New Roman"/>
                <a:cs typeface="Times New Roman"/>
                <a:sym typeface="Times New Roman"/>
              </a:rPr>
              <a:t>Bus de dirección ampliado.</a:t>
            </a:r>
            <a:endParaRPr b="1" sz="3925"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3925">
                <a:solidFill>
                  <a:srgbClr val="000000"/>
                </a:solidFill>
                <a:latin typeface="Times New Roman"/>
                <a:ea typeface="Times New Roman"/>
                <a:cs typeface="Times New Roman"/>
                <a:sym typeface="Times New Roman"/>
              </a:rPr>
              <a:t>La arquitectura AMD64, en comparación con la de 32 bits de Intel, permite direccionar más memoria, superando los 4GB típicos de la arquitectura i386, con un máximo teórico de 256TB debido a un bus de 48 bits.</a:t>
            </a:r>
            <a:endParaRPr sz="3925">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rgbClr val="000000"/>
              </a:solidFill>
              <a:latin typeface="Times New Roman"/>
              <a:ea typeface="Times New Roman"/>
              <a:cs typeface="Times New Roman"/>
              <a:sym typeface="Times New Roman"/>
            </a:endParaRPr>
          </a:p>
          <a:p>
            <a:pPr indent="457200" lvl="0" marL="0" rtl="0" algn="l">
              <a:spcBef>
                <a:spcPts val="1200"/>
              </a:spcBef>
              <a:spcAft>
                <a:spcPts val="1200"/>
              </a:spcAft>
              <a:buNone/>
            </a:pPr>
            <a:r>
              <a:t/>
            </a:r>
            <a:endParaRPr sz="1400" u="sng">
              <a:solidFill>
                <a:srgbClr val="434343"/>
              </a:solidFill>
              <a:latin typeface="Times New Roman"/>
              <a:ea typeface="Times New Roman"/>
              <a:cs typeface="Times New Roman"/>
              <a:sym typeface="Times New Roman"/>
            </a:endParaRPr>
          </a:p>
        </p:txBody>
      </p:sp>
      <p:sp>
        <p:nvSpPr>
          <p:cNvPr id="107" name="Google Shape;107;p19"/>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1200"/>
              </a:spcBef>
              <a:spcAft>
                <a:spcPts val="0"/>
              </a:spcAft>
              <a:buNone/>
            </a:pPr>
            <a:r>
              <a:rPr b="1" lang="es" sz="1500" u="sng">
                <a:solidFill>
                  <a:srgbClr val="000000"/>
                </a:solidFill>
                <a:latin typeface="Times New Roman"/>
                <a:ea typeface="Times New Roman"/>
                <a:cs typeface="Times New Roman"/>
                <a:sym typeface="Times New Roman"/>
              </a:rPr>
              <a:t>Tamaño de registros.</a:t>
            </a:r>
            <a:endParaRPr sz="1500"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1500">
                <a:solidFill>
                  <a:srgbClr val="000000"/>
                </a:solidFill>
                <a:latin typeface="Times New Roman"/>
                <a:ea typeface="Times New Roman"/>
                <a:cs typeface="Times New Roman"/>
                <a:sym typeface="Times New Roman"/>
              </a:rPr>
              <a:t>En la arquitectura AMD64, los registros de 64 bits permiten manipular datos más grandes en menos ciclos de reloj en comparación con los registros de 32 bits de las arquitecturas de 32 bits.</a:t>
            </a:r>
            <a:endParaRPr sz="1500">
              <a:solidFill>
                <a:srgbClr val="000000"/>
              </a:solidFill>
              <a:latin typeface="Times New Roman"/>
              <a:ea typeface="Times New Roman"/>
              <a:cs typeface="Times New Roman"/>
              <a:sym typeface="Times New Roman"/>
            </a:endParaRPr>
          </a:p>
          <a:p>
            <a:pPr indent="0" lvl="0" marL="0" rtl="0" algn="ctr">
              <a:spcBef>
                <a:spcPts val="1200"/>
              </a:spcBef>
              <a:spcAft>
                <a:spcPts val="0"/>
              </a:spcAft>
              <a:buNone/>
            </a:pPr>
            <a:r>
              <a:rPr b="1" lang="es" sz="1500" u="sng">
                <a:solidFill>
                  <a:srgbClr val="000000"/>
                </a:solidFill>
                <a:latin typeface="Times New Roman"/>
                <a:ea typeface="Times New Roman"/>
                <a:cs typeface="Times New Roman"/>
                <a:sym typeface="Times New Roman"/>
              </a:rPr>
              <a:t>Cantidad de registros.</a:t>
            </a:r>
            <a:endParaRPr b="1" sz="1500"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1500">
                <a:solidFill>
                  <a:srgbClr val="000000"/>
                </a:solidFill>
                <a:latin typeface="Times New Roman"/>
                <a:ea typeface="Times New Roman"/>
                <a:cs typeface="Times New Roman"/>
                <a:sym typeface="Times New Roman"/>
              </a:rPr>
              <a:t>En AMD64, la cantidad de registros se duplica respecto a x86, pasando de 8 a 16. permite almacenar más datos frecuentemente usados en memoria y reduce la necesidad de acceder continuamente a la pila, acelerando así muchas tareas.</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
        <p:nvSpPr>
          <p:cNvPr id="108" name="Google Shape;108;p19"/>
          <p:cNvSpPr txBox="1"/>
          <p:nvPr>
            <p:ph type="title"/>
          </p:nvPr>
        </p:nvSpPr>
        <p:spPr>
          <a:xfrm>
            <a:off x="311700" y="289375"/>
            <a:ext cx="8520600" cy="623700"/>
          </a:xfrm>
          <a:prstGeom prst="rect">
            <a:avLst/>
          </a:prstGeom>
        </p:spPr>
        <p:txBody>
          <a:bodyPr anchorCtr="0" anchor="t" bIns="91425" lIns="91425" spcFirstLastPara="1" rIns="91425" wrap="square" tIns="91425">
            <a:normAutofit/>
          </a:bodyPr>
          <a:lstStyle/>
          <a:p>
            <a:pPr indent="0" lvl="0" marL="0" rtl="0" algn="ctr">
              <a:lnSpc>
                <a:spcPct val="115000"/>
              </a:lnSpc>
              <a:spcBef>
                <a:spcPts val="2000"/>
              </a:spcBef>
              <a:spcAft>
                <a:spcPts val="600"/>
              </a:spcAft>
              <a:buNone/>
            </a:pPr>
            <a:r>
              <a:rPr b="1" lang="es">
                <a:solidFill>
                  <a:schemeClr val="accent6"/>
                </a:solidFill>
                <a:latin typeface="Times New Roman"/>
                <a:ea typeface="Times New Roman"/>
                <a:cs typeface="Times New Roman"/>
                <a:sym typeface="Times New Roman"/>
              </a:rPr>
              <a:t>2. AMD.</a:t>
            </a:r>
            <a:endParaRPr sz="3900">
              <a:solidFill>
                <a:schemeClr val="accent6"/>
              </a:solidFill>
            </a:endParaRPr>
          </a:p>
        </p:txBody>
      </p:sp>
      <p:sp>
        <p:nvSpPr>
          <p:cNvPr id="109" name="Google Shape;109;p19"/>
          <p:cNvSpPr txBox="1"/>
          <p:nvPr/>
        </p:nvSpPr>
        <p:spPr>
          <a:xfrm>
            <a:off x="1127550" y="811850"/>
            <a:ext cx="6888900" cy="436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600"/>
              </a:spcAft>
              <a:buNone/>
            </a:pPr>
            <a:r>
              <a:rPr b="1" lang="es" sz="1700">
                <a:solidFill>
                  <a:schemeClr val="lt1"/>
                </a:solidFill>
                <a:latin typeface="Times New Roman"/>
                <a:ea typeface="Times New Roman"/>
                <a:cs typeface="Times New Roman"/>
                <a:sym typeface="Times New Roman"/>
              </a:rPr>
              <a:t>2.2</a:t>
            </a:r>
            <a:r>
              <a:rPr b="1" lang="es" sz="1700">
                <a:solidFill>
                  <a:schemeClr val="lt1"/>
                </a:solidFill>
                <a:latin typeface="Times New Roman"/>
                <a:ea typeface="Times New Roman"/>
                <a:cs typeface="Times New Roman"/>
                <a:sym typeface="Times New Roman"/>
              </a:rPr>
              <a:t>. Características de su arquitectura.</a:t>
            </a:r>
            <a:endParaRPr sz="1700">
              <a:solidFill>
                <a:schemeClr val="l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idx="1" type="body"/>
          </p:nvPr>
        </p:nvSpPr>
        <p:spPr>
          <a:xfrm>
            <a:off x="311700" y="1505700"/>
            <a:ext cx="3999900" cy="3076200"/>
          </a:xfrm>
          <a:prstGeom prst="rect">
            <a:avLst/>
          </a:prstGeom>
        </p:spPr>
        <p:txBody>
          <a:bodyPr anchorCtr="0" anchor="t" bIns="91425" lIns="91425" spcFirstLastPara="1" rIns="91425" wrap="square" tIns="91425">
            <a:normAutofit lnSpcReduction="20000"/>
          </a:bodyPr>
          <a:lstStyle/>
          <a:p>
            <a:pPr indent="0" lvl="0" marL="0" rtl="0" algn="ctr">
              <a:spcBef>
                <a:spcPts val="1200"/>
              </a:spcBef>
              <a:spcAft>
                <a:spcPts val="0"/>
              </a:spcAft>
              <a:buNone/>
            </a:pPr>
            <a:r>
              <a:rPr b="1" lang="es" u="sng">
                <a:solidFill>
                  <a:srgbClr val="000000"/>
                </a:solidFill>
                <a:latin typeface="Times New Roman"/>
                <a:ea typeface="Times New Roman"/>
                <a:cs typeface="Times New Roman"/>
                <a:sym typeface="Times New Roman"/>
              </a:rPr>
              <a:t>Compatibilidad ampliada.</a:t>
            </a:r>
            <a:endParaRPr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a:solidFill>
                  <a:srgbClr val="000000"/>
                </a:solidFill>
                <a:latin typeface="Times New Roman"/>
                <a:ea typeface="Times New Roman"/>
                <a:cs typeface="Times New Roman"/>
                <a:sym typeface="Times New Roman"/>
              </a:rPr>
              <a:t>Las CPUs de AMD son completamente compatibles con el software de 32 bits de las CPUs x86 gracias a un modo de operación adicional.</a:t>
            </a:r>
            <a:endParaRPr>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a:solidFill>
                  <a:srgbClr val="000000"/>
                </a:solidFill>
                <a:latin typeface="Times New Roman"/>
                <a:ea typeface="Times New Roman"/>
                <a:cs typeface="Times New Roman"/>
                <a:sym typeface="Times New Roman"/>
              </a:rPr>
              <a:t>Las CPUs AMD incluyen un modo de compatibilidad que limita la CPU, desactivando los registros adicionales y reduciendo el ancho del bus a 32 bits, a diferencia de las CPUs x86 que tienen el modo real y el modo protegido.</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rgbClr val="000000"/>
              </a:solidFill>
              <a:latin typeface="Times New Roman"/>
              <a:ea typeface="Times New Roman"/>
              <a:cs typeface="Times New Roman"/>
              <a:sym typeface="Times New Roman"/>
            </a:endParaRPr>
          </a:p>
          <a:p>
            <a:pPr indent="457200" lvl="0" marL="0" rtl="0" algn="l">
              <a:spcBef>
                <a:spcPts val="1200"/>
              </a:spcBef>
              <a:spcAft>
                <a:spcPts val="1200"/>
              </a:spcAft>
              <a:buNone/>
            </a:pPr>
            <a:r>
              <a:t/>
            </a:r>
            <a:endParaRPr sz="1400" u="sng">
              <a:solidFill>
                <a:srgbClr val="434343"/>
              </a:solidFill>
              <a:latin typeface="Times New Roman"/>
              <a:ea typeface="Times New Roman"/>
              <a:cs typeface="Times New Roman"/>
              <a:sym typeface="Times New Roman"/>
            </a:endParaRPr>
          </a:p>
        </p:txBody>
      </p:sp>
      <p:sp>
        <p:nvSpPr>
          <p:cNvPr id="115" name="Google Shape;115;p20"/>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1200"/>
              </a:spcBef>
              <a:spcAft>
                <a:spcPts val="0"/>
              </a:spcAft>
              <a:buNone/>
            </a:pPr>
            <a:r>
              <a:rPr b="1" lang="es" sz="5307" u="sng">
                <a:solidFill>
                  <a:srgbClr val="000000"/>
                </a:solidFill>
                <a:latin typeface="Times New Roman"/>
                <a:ea typeface="Times New Roman"/>
                <a:cs typeface="Times New Roman"/>
                <a:sym typeface="Times New Roman"/>
              </a:rPr>
              <a:t>Mejoras de seguridad.</a:t>
            </a:r>
            <a:endParaRPr b="1" sz="5307"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5307">
                <a:solidFill>
                  <a:srgbClr val="000000"/>
                </a:solidFill>
                <a:latin typeface="Times New Roman"/>
                <a:ea typeface="Times New Roman"/>
                <a:cs typeface="Times New Roman"/>
                <a:sym typeface="Times New Roman"/>
              </a:rPr>
              <a:t>La arquitectura AMD64 introdujo el "no execute bit", que ayuda a evitar problemas de ejecución de código tras un buffer overrun al definir qué páginas de memoria contienen código ejecutable.</a:t>
            </a:r>
            <a:endParaRPr sz="5307">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br>
              <a:rPr lang="es" sz="5307">
                <a:solidFill>
                  <a:srgbClr val="000000"/>
                </a:solidFill>
                <a:latin typeface="Times New Roman"/>
                <a:ea typeface="Times New Roman"/>
                <a:cs typeface="Times New Roman"/>
                <a:sym typeface="Times New Roman"/>
              </a:rPr>
            </a:br>
            <a:r>
              <a:rPr lang="es" sz="5307">
                <a:solidFill>
                  <a:srgbClr val="000000"/>
                </a:solidFill>
                <a:latin typeface="Times New Roman"/>
                <a:ea typeface="Times New Roman"/>
                <a:cs typeface="Times New Roman"/>
                <a:sym typeface="Times New Roman"/>
              </a:rPr>
              <a:t>Intel tenía una característica similar desde el 286, pero no se usa actualmente debido a su complejidad y la necesidad de modificar los segmentos en memoria.</a:t>
            </a:r>
            <a:endParaRPr sz="5307">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5307">
                <a:solidFill>
                  <a:srgbClr val="000000"/>
                </a:solidFill>
                <a:latin typeface="Times New Roman"/>
                <a:ea typeface="Times New Roman"/>
                <a:cs typeface="Times New Roman"/>
                <a:sym typeface="Times New Roman"/>
              </a:rPr>
              <a:t> Intel intentó competir con AMD64 con su arquitectura IA64, pero al ser incompatible, se vio obligada a licenciar la arquitectura AMD para sus procesadores modernos.</a:t>
            </a:r>
            <a:endParaRPr b="1" sz="5307" u="sng">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
        <p:nvSpPr>
          <p:cNvPr id="116" name="Google Shape;116;p20"/>
          <p:cNvSpPr txBox="1"/>
          <p:nvPr>
            <p:ph type="title"/>
          </p:nvPr>
        </p:nvSpPr>
        <p:spPr>
          <a:xfrm>
            <a:off x="311700" y="289375"/>
            <a:ext cx="8520600" cy="623700"/>
          </a:xfrm>
          <a:prstGeom prst="rect">
            <a:avLst/>
          </a:prstGeom>
        </p:spPr>
        <p:txBody>
          <a:bodyPr anchorCtr="0" anchor="t" bIns="91425" lIns="91425" spcFirstLastPara="1" rIns="91425" wrap="square" tIns="91425">
            <a:normAutofit/>
          </a:bodyPr>
          <a:lstStyle/>
          <a:p>
            <a:pPr indent="0" lvl="0" marL="0" rtl="0" algn="ctr">
              <a:lnSpc>
                <a:spcPct val="115000"/>
              </a:lnSpc>
              <a:spcBef>
                <a:spcPts val="2000"/>
              </a:spcBef>
              <a:spcAft>
                <a:spcPts val="600"/>
              </a:spcAft>
              <a:buNone/>
            </a:pPr>
            <a:r>
              <a:rPr b="1" lang="es">
                <a:solidFill>
                  <a:schemeClr val="accent6"/>
                </a:solidFill>
                <a:latin typeface="Times New Roman"/>
                <a:ea typeface="Times New Roman"/>
                <a:cs typeface="Times New Roman"/>
                <a:sym typeface="Times New Roman"/>
              </a:rPr>
              <a:t>2. AMD.</a:t>
            </a:r>
            <a:endParaRPr sz="3900">
              <a:solidFill>
                <a:schemeClr val="accent6"/>
              </a:solidFill>
            </a:endParaRPr>
          </a:p>
        </p:txBody>
      </p:sp>
      <p:sp>
        <p:nvSpPr>
          <p:cNvPr id="117" name="Google Shape;117;p20"/>
          <p:cNvSpPr txBox="1"/>
          <p:nvPr/>
        </p:nvSpPr>
        <p:spPr>
          <a:xfrm>
            <a:off x="1127550" y="811850"/>
            <a:ext cx="6888900" cy="436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600"/>
              </a:spcAft>
              <a:buNone/>
            </a:pPr>
            <a:r>
              <a:rPr b="1" lang="es" sz="1700">
                <a:solidFill>
                  <a:schemeClr val="lt1"/>
                </a:solidFill>
                <a:latin typeface="Times New Roman"/>
                <a:ea typeface="Times New Roman"/>
                <a:cs typeface="Times New Roman"/>
                <a:sym typeface="Times New Roman"/>
              </a:rPr>
              <a:t>2.2. Características de su arquitectura.</a:t>
            </a:r>
            <a:endParaRPr sz="1700">
              <a:solidFill>
                <a:schemeClr val="lt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idx="1" type="body"/>
          </p:nvPr>
        </p:nvSpPr>
        <p:spPr>
          <a:xfrm>
            <a:off x="4147100" y="323125"/>
            <a:ext cx="4707300" cy="4152300"/>
          </a:xfrm>
          <a:prstGeom prst="rect">
            <a:avLst/>
          </a:prstGeom>
        </p:spPr>
        <p:txBody>
          <a:bodyPr anchorCtr="0" anchor="t" bIns="91425" lIns="91425" spcFirstLastPara="1" rIns="91425" wrap="square" tIns="91425">
            <a:normAutofit fontScale="25000" lnSpcReduction="20000"/>
          </a:bodyPr>
          <a:lstStyle/>
          <a:p>
            <a:pPr indent="0" lvl="0" marL="0" rtl="0" algn="l">
              <a:spcBef>
                <a:spcPts val="1800"/>
              </a:spcBef>
              <a:spcAft>
                <a:spcPts val="0"/>
              </a:spcAft>
              <a:buNone/>
            </a:pPr>
            <a:r>
              <a:rPr b="1" lang="es" sz="6800">
                <a:solidFill>
                  <a:srgbClr val="000000"/>
                </a:solidFill>
                <a:latin typeface="Times New Roman"/>
                <a:ea typeface="Times New Roman"/>
                <a:cs typeface="Times New Roman"/>
                <a:sym typeface="Times New Roman"/>
              </a:rPr>
              <a:t>3.1 Introducción a Intel.</a:t>
            </a:r>
            <a:endParaRPr b="1" sz="6800">
              <a:solidFill>
                <a:srgbClr val="000000"/>
              </a:solidFill>
              <a:latin typeface="Times New Roman"/>
              <a:ea typeface="Times New Roman"/>
              <a:cs typeface="Times New Roman"/>
              <a:sym typeface="Times New Roman"/>
            </a:endParaRPr>
          </a:p>
          <a:p>
            <a:pPr indent="457200" lvl="0" marL="0" rtl="0" algn="l">
              <a:spcBef>
                <a:spcPts val="1600"/>
              </a:spcBef>
              <a:spcAft>
                <a:spcPts val="0"/>
              </a:spcAft>
              <a:buNone/>
            </a:pPr>
            <a:r>
              <a:rPr lang="es" sz="5600" u="sng">
                <a:solidFill>
                  <a:srgbClr val="000000"/>
                </a:solidFill>
                <a:latin typeface="Times New Roman"/>
                <a:ea typeface="Times New Roman"/>
                <a:cs typeface="Times New Roman"/>
                <a:sym typeface="Times New Roman"/>
              </a:rPr>
              <a:t>3.1.1 ¿Cómo surgió?</a:t>
            </a:r>
            <a:endParaRPr b="1" sz="560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5600">
                <a:solidFill>
                  <a:srgbClr val="000000"/>
                </a:solidFill>
                <a:latin typeface="Times New Roman"/>
                <a:ea typeface="Times New Roman"/>
                <a:cs typeface="Times New Roman"/>
                <a:sym typeface="Times New Roman"/>
              </a:rPr>
              <a:t>Intel fue fundada el 18 de julio de 1968 por los ingenieros Robert Noyce y Gordon Moore, junto con el inversor Arthur Rock.</a:t>
            </a:r>
            <a:endParaRPr sz="5600">
              <a:solidFill>
                <a:srgbClr val="000000"/>
              </a:solidFill>
              <a:latin typeface="Times New Roman"/>
              <a:ea typeface="Times New Roman"/>
              <a:cs typeface="Times New Roman"/>
              <a:sym typeface="Times New Roman"/>
            </a:endParaRPr>
          </a:p>
          <a:p>
            <a:pPr indent="457200" lvl="0" marL="0" rtl="0" algn="l">
              <a:spcBef>
                <a:spcPts val="1600"/>
              </a:spcBef>
              <a:spcAft>
                <a:spcPts val="0"/>
              </a:spcAft>
              <a:buNone/>
            </a:pPr>
            <a:r>
              <a:rPr lang="es" sz="5600" u="sng">
                <a:solidFill>
                  <a:srgbClr val="000000"/>
                </a:solidFill>
                <a:latin typeface="Times New Roman"/>
                <a:ea typeface="Times New Roman"/>
                <a:cs typeface="Times New Roman"/>
                <a:sym typeface="Times New Roman"/>
              </a:rPr>
              <a:t>3.1.2 ¿Motivos por los que surgieron? </a:t>
            </a:r>
            <a:endParaRPr sz="5600"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5600">
                <a:solidFill>
                  <a:srgbClr val="000000"/>
                </a:solidFill>
                <a:latin typeface="Times New Roman"/>
                <a:ea typeface="Times New Roman"/>
                <a:cs typeface="Times New Roman"/>
                <a:sym typeface="Times New Roman"/>
              </a:rPr>
              <a:t>Intel quería aprovechar los avances en semiconductores para crear productos más pequeños, rápidos y eficientes que los existentes.</a:t>
            </a:r>
            <a:endParaRPr sz="5600">
              <a:solidFill>
                <a:srgbClr val="000000"/>
              </a:solidFill>
              <a:latin typeface="Times New Roman"/>
              <a:ea typeface="Times New Roman"/>
              <a:cs typeface="Times New Roman"/>
              <a:sym typeface="Times New Roman"/>
            </a:endParaRPr>
          </a:p>
          <a:p>
            <a:pPr indent="457200" lvl="0" marL="0" rtl="0" algn="l">
              <a:spcBef>
                <a:spcPts val="1600"/>
              </a:spcBef>
              <a:spcAft>
                <a:spcPts val="0"/>
              </a:spcAft>
              <a:buNone/>
            </a:pPr>
            <a:r>
              <a:rPr lang="es" sz="5600" u="sng">
                <a:solidFill>
                  <a:srgbClr val="000000"/>
                </a:solidFill>
                <a:latin typeface="Times New Roman"/>
                <a:ea typeface="Times New Roman"/>
                <a:cs typeface="Times New Roman"/>
                <a:sym typeface="Times New Roman"/>
              </a:rPr>
              <a:t>3.1.3 Progreso a lo largo de la historia.</a:t>
            </a:r>
            <a:endParaRPr sz="5600"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5600">
                <a:solidFill>
                  <a:srgbClr val="000000"/>
                </a:solidFill>
                <a:latin typeface="Times New Roman"/>
                <a:ea typeface="Times New Roman"/>
                <a:cs typeface="Times New Roman"/>
                <a:sym typeface="Times New Roman"/>
              </a:rPr>
              <a:t>En los años 80 y 90, Intel dominó el mercado de procesadores para PC con la arquitectura x86 y actualmente es una de las principales empresas de semiconductores, enfrentando competencia como la de AMD.</a:t>
            </a:r>
            <a:endParaRPr sz="5600">
              <a:solidFill>
                <a:srgbClr val="000000"/>
              </a:solidFill>
              <a:latin typeface="Times New Roman"/>
              <a:ea typeface="Times New Roman"/>
              <a:cs typeface="Times New Roman"/>
              <a:sym typeface="Times New Roman"/>
            </a:endParaRPr>
          </a:p>
          <a:p>
            <a:pPr indent="457200" lvl="0" marL="0" rtl="0" algn="l">
              <a:spcBef>
                <a:spcPts val="1600"/>
              </a:spcBef>
              <a:spcAft>
                <a:spcPts val="0"/>
              </a:spcAft>
              <a:buNone/>
            </a:pPr>
            <a:r>
              <a:t/>
            </a:r>
            <a:endParaRPr sz="1400" u="sng">
              <a:solidFill>
                <a:srgbClr val="000000"/>
              </a:solidFill>
              <a:latin typeface="Times New Roman"/>
              <a:ea typeface="Times New Roman"/>
              <a:cs typeface="Times New Roman"/>
              <a:sym typeface="Times New Roman"/>
            </a:endParaRPr>
          </a:p>
          <a:p>
            <a:pPr indent="457200" lvl="0" marL="0" rtl="0" algn="l">
              <a:spcBef>
                <a:spcPts val="1600"/>
              </a:spcBef>
              <a:spcAft>
                <a:spcPts val="400"/>
              </a:spcAft>
              <a:buNone/>
            </a:pPr>
            <a:r>
              <a:t/>
            </a:r>
            <a:endParaRPr sz="1400" u="sng">
              <a:solidFill>
                <a:srgbClr val="000000"/>
              </a:solidFill>
              <a:latin typeface="Times New Roman"/>
              <a:ea typeface="Times New Roman"/>
              <a:cs typeface="Times New Roman"/>
              <a:sym typeface="Times New Roman"/>
            </a:endParaRPr>
          </a:p>
        </p:txBody>
      </p:sp>
      <p:sp>
        <p:nvSpPr>
          <p:cNvPr id="123" name="Google Shape;123;p21"/>
          <p:cNvSpPr txBox="1"/>
          <p:nvPr>
            <p:ph type="title"/>
          </p:nvPr>
        </p:nvSpPr>
        <p:spPr>
          <a:xfrm>
            <a:off x="375225" y="1452875"/>
            <a:ext cx="3127500" cy="2468700"/>
          </a:xfrm>
          <a:prstGeom prst="rect">
            <a:avLst/>
          </a:prstGeom>
        </p:spPr>
        <p:txBody>
          <a:bodyPr anchorCtr="0" anchor="t" bIns="91425" lIns="91425" spcFirstLastPara="1" rIns="91425" wrap="square" tIns="91425">
            <a:normAutofit/>
          </a:bodyPr>
          <a:lstStyle/>
          <a:p>
            <a:pPr indent="0" lvl="0" marL="0" rtl="0" algn="ctr">
              <a:lnSpc>
                <a:spcPct val="115000"/>
              </a:lnSpc>
              <a:spcBef>
                <a:spcPts val="2000"/>
              </a:spcBef>
              <a:spcAft>
                <a:spcPts val="0"/>
              </a:spcAft>
              <a:buNone/>
            </a:pPr>
            <a:r>
              <a:t/>
            </a:r>
            <a:endParaRPr b="1" sz="2900">
              <a:solidFill>
                <a:schemeClr val="accent6"/>
              </a:solidFill>
              <a:latin typeface="Times New Roman"/>
              <a:ea typeface="Times New Roman"/>
              <a:cs typeface="Times New Roman"/>
              <a:sym typeface="Times New Roman"/>
            </a:endParaRPr>
          </a:p>
          <a:p>
            <a:pPr indent="0" lvl="0" marL="0" rtl="0" algn="ctr">
              <a:lnSpc>
                <a:spcPct val="115000"/>
              </a:lnSpc>
              <a:spcBef>
                <a:spcPts val="2000"/>
              </a:spcBef>
              <a:spcAft>
                <a:spcPts val="0"/>
              </a:spcAft>
              <a:buNone/>
            </a:pPr>
            <a:r>
              <a:rPr b="1" lang="es" sz="2900">
                <a:solidFill>
                  <a:schemeClr val="accent6"/>
                </a:solidFill>
                <a:latin typeface="Times New Roman"/>
                <a:ea typeface="Times New Roman"/>
                <a:cs typeface="Times New Roman"/>
                <a:sym typeface="Times New Roman"/>
              </a:rPr>
              <a:t>3. Intel.</a:t>
            </a:r>
            <a:endParaRPr b="1" sz="2900">
              <a:solidFill>
                <a:schemeClr val="accent6"/>
              </a:solidFill>
              <a:latin typeface="Times New Roman"/>
              <a:ea typeface="Times New Roman"/>
              <a:cs typeface="Times New Roman"/>
              <a:sym typeface="Times New Roman"/>
            </a:endParaRPr>
          </a:p>
          <a:p>
            <a:pPr indent="0" lvl="0" marL="0" rtl="0" algn="ctr">
              <a:lnSpc>
                <a:spcPct val="115000"/>
              </a:lnSpc>
              <a:spcBef>
                <a:spcPts val="2000"/>
              </a:spcBef>
              <a:spcAft>
                <a:spcPts val="600"/>
              </a:spcAft>
              <a:buNone/>
            </a:pPr>
            <a:r>
              <a:t/>
            </a:r>
            <a:endParaRPr b="1" sz="1700">
              <a:latin typeface="Times New Roman"/>
              <a:ea typeface="Times New Roman"/>
              <a:cs typeface="Times New Roman"/>
              <a:sym typeface="Times New Roman"/>
            </a:endParaRPr>
          </a:p>
        </p:txBody>
      </p:sp>
    </p:spTree>
  </p:cSld>
  <p:clrMapOvr>
    <a:masterClrMapping/>
  </p:clrMapOvr>
  <mc:AlternateContent>
    <mc:Choice Requires="p14">
      <p:transition spd="slow" p14:dur="1100">
        <p14:prism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idx="1" type="body"/>
          </p:nvPr>
        </p:nvSpPr>
        <p:spPr>
          <a:xfrm>
            <a:off x="311700" y="1505700"/>
            <a:ext cx="4260300" cy="3452400"/>
          </a:xfrm>
          <a:prstGeom prst="rect">
            <a:avLst/>
          </a:prstGeom>
        </p:spPr>
        <p:txBody>
          <a:bodyPr anchorCtr="0" anchor="t" bIns="91425" lIns="91425" spcFirstLastPara="1" rIns="91425" wrap="square" tIns="91425">
            <a:normAutofit fontScale="25000" lnSpcReduction="20000"/>
          </a:bodyPr>
          <a:lstStyle/>
          <a:p>
            <a:pPr indent="0" lvl="0" marL="0" rtl="0" algn="just">
              <a:spcBef>
                <a:spcPts val="1200"/>
              </a:spcBef>
              <a:spcAft>
                <a:spcPts val="0"/>
              </a:spcAft>
              <a:buNone/>
            </a:pPr>
            <a:r>
              <a:rPr lang="es" sz="5065">
                <a:solidFill>
                  <a:srgbClr val="000000"/>
                </a:solidFill>
                <a:latin typeface="Times New Roman"/>
                <a:ea typeface="Times New Roman"/>
                <a:cs typeface="Times New Roman"/>
                <a:sym typeface="Times New Roman"/>
              </a:rPr>
              <a:t>Intel lanzó su primera arquitectura de 32 bits con el 80386 en 1985, mejorando el rendimiento y la capacidad de manejo de memoria en comparación con los modelos anteriores de 16 bits.</a:t>
            </a:r>
            <a:endParaRPr sz="5065">
              <a:solidFill>
                <a:srgbClr val="000000"/>
              </a:solidFill>
              <a:latin typeface="Times New Roman"/>
              <a:ea typeface="Times New Roman"/>
              <a:cs typeface="Times New Roman"/>
              <a:sym typeface="Times New Roman"/>
            </a:endParaRPr>
          </a:p>
          <a:p>
            <a:pPr indent="0" lvl="0" marL="0" rtl="0" algn="ctr">
              <a:spcBef>
                <a:spcPts val="1200"/>
              </a:spcBef>
              <a:spcAft>
                <a:spcPts val="0"/>
              </a:spcAft>
              <a:buNone/>
            </a:pPr>
            <a:r>
              <a:rPr b="1" lang="es" sz="5065" u="sng">
                <a:solidFill>
                  <a:srgbClr val="000000"/>
                </a:solidFill>
                <a:latin typeface="Times New Roman"/>
                <a:ea typeface="Times New Roman"/>
                <a:cs typeface="Times New Roman"/>
                <a:sym typeface="Times New Roman"/>
              </a:rPr>
              <a:t>Conjunto de instrucciones.</a:t>
            </a:r>
            <a:endParaRPr b="1" sz="5065"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5065">
                <a:solidFill>
                  <a:srgbClr val="000000"/>
                </a:solidFill>
                <a:latin typeface="Times New Roman"/>
                <a:ea typeface="Times New Roman"/>
                <a:cs typeface="Times New Roman"/>
                <a:sym typeface="Times New Roman"/>
              </a:rPr>
              <a:t>La arquitectura x86 de Intel, inicialmente diseñada para procesadores de 16 bits con el 8086, evolucionó a 32 bits con el 80386. Este conjunto de instrucciones incluye operaciones matemáticas, de control y de memoria, permitiendo una mayor capacidad y rendimiento en los procesadores.</a:t>
            </a:r>
            <a:endParaRPr sz="5065">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5065">
                <a:solidFill>
                  <a:srgbClr val="000000"/>
                </a:solidFill>
                <a:latin typeface="Times New Roman"/>
                <a:ea typeface="Times New Roman"/>
                <a:cs typeface="Times New Roman"/>
                <a:sym typeface="Times New Roman"/>
              </a:rPr>
              <a:t>Con el 80386, Intel también introdujo el "modo protegido", el cual proporcionaba un acceso más seguro a la memoria y mayor protección contra fallos del sistema, mejorando la estabilidad y seguridad en la ejecución de programas.</a:t>
            </a:r>
            <a:endParaRPr sz="5065">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rgbClr val="000000"/>
              </a:solidFill>
              <a:latin typeface="Times New Roman"/>
              <a:ea typeface="Times New Roman"/>
              <a:cs typeface="Times New Roman"/>
              <a:sym typeface="Times New Roman"/>
            </a:endParaRPr>
          </a:p>
          <a:p>
            <a:pPr indent="457200" lvl="0" marL="0" rtl="0" algn="l">
              <a:spcBef>
                <a:spcPts val="1200"/>
              </a:spcBef>
              <a:spcAft>
                <a:spcPts val="1200"/>
              </a:spcAft>
              <a:buNone/>
            </a:pPr>
            <a:r>
              <a:t/>
            </a:r>
            <a:endParaRPr sz="1400" u="sng">
              <a:solidFill>
                <a:srgbClr val="434343"/>
              </a:solidFill>
              <a:latin typeface="Times New Roman"/>
              <a:ea typeface="Times New Roman"/>
              <a:cs typeface="Times New Roman"/>
              <a:sym typeface="Times New Roman"/>
            </a:endParaRPr>
          </a:p>
        </p:txBody>
      </p:sp>
      <p:sp>
        <p:nvSpPr>
          <p:cNvPr id="129" name="Google Shape;129;p22"/>
          <p:cNvSpPr txBox="1"/>
          <p:nvPr>
            <p:ph idx="2" type="body"/>
          </p:nvPr>
        </p:nvSpPr>
        <p:spPr>
          <a:xfrm>
            <a:off x="4832400" y="1505700"/>
            <a:ext cx="4174500" cy="3350700"/>
          </a:xfrm>
          <a:prstGeom prst="rect">
            <a:avLst/>
          </a:prstGeom>
        </p:spPr>
        <p:txBody>
          <a:bodyPr anchorCtr="0" anchor="t" bIns="91425" lIns="91425" spcFirstLastPara="1" rIns="91425" wrap="square" tIns="91425">
            <a:normAutofit fontScale="25000" lnSpcReduction="10000"/>
          </a:bodyPr>
          <a:lstStyle/>
          <a:p>
            <a:pPr indent="0" lvl="0" marL="0" rtl="0" algn="ctr">
              <a:spcBef>
                <a:spcPts val="1200"/>
              </a:spcBef>
              <a:spcAft>
                <a:spcPts val="0"/>
              </a:spcAft>
              <a:buNone/>
            </a:pPr>
            <a:r>
              <a:rPr b="1" lang="es" sz="5002" u="sng">
                <a:solidFill>
                  <a:srgbClr val="000000"/>
                </a:solidFill>
                <a:latin typeface="Times New Roman"/>
                <a:ea typeface="Times New Roman"/>
                <a:cs typeface="Times New Roman"/>
                <a:sym typeface="Times New Roman"/>
              </a:rPr>
              <a:t>Capacidad de direcciones.</a:t>
            </a:r>
            <a:endParaRPr b="1" sz="5002"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5002">
                <a:solidFill>
                  <a:srgbClr val="000000"/>
                </a:solidFill>
                <a:latin typeface="Times New Roman"/>
                <a:ea typeface="Times New Roman"/>
                <a:cs typeface="Times New Roman"/>
                <a:sym typeface="Times New Roman"/>
              </a:rPr>
              <a:t>En los procesadores de 32 bits se pueden direccionar hasta 4 GB de memoria, aunque los sistemas operativos de 32 bits no siempre aprovechan toda esta capacidad debido a limitaciones de software o hardware.</a:t>
            </a:r>
            <a:endParaRPr sz="5002">
              <a:solidFill>
                <a:srgbClr val="000000"/>
              </a:solidFill>
              <a:latin typeface="Times New Roman"/>
              <a:ea typeface="Times New Roman"/>
              <a:cs typeface="Times New Roman"/>
              <a:sym typeface="Times New Roman"/>
            </a:endParaRPr>
          </a:p>
          <a:p>
            <a:pPr indent="0" lvl="0" marL="0" rtl="0" algn="ctr">
              <a:spcBef>
                <a:spcPts val="1200"/>
              </a:spcBef>
              <a:spcAft>
                <a:spcPts val="0"/>
              </a:spcAft>
              <a:buNone/>
            </a:pPr>
            <a:r>
              <a:rPr b="1" lang="es" sz="5002" u="sng">
                <a:solidFill>
                  <a:srgbClr val="000000"/>
                </a:solidFill>
                <a:latin typeface="Times New Roman"/>
                <a:ea typeface="Times New Roman"/>
                <a:cs typeface="Times New Roman"/>
                <a:sym typeface="Times New Roman"/>
              </a:rPr>
              <a:t>Registros de 32 bits.</a:t>
            </a:r>
            <a:endParaRPr b="1" sz="5002"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5002">
                <a:solidFill>
                  <a:srgbClr val="000000"/>
                </a:solidFill>
                <a:latin typeface="Times New Roman"/>
                <a:ea typeface="Times New Roman"/>
                <a:cs typeface="Times New Roman"/>
                <a:sym typeface="Times New Roman"/>
              </a:rPr>
              <a:t>Los registros pueden almacenar  32 bits. Estos registros permiten realizar operaciones rápidas de manipulación de dato</a:t>
            </a:r>
            <a:endParaRPr sz="5002">
              <a:solidFill>
                <a:srgbClr val="000000"/>
              </a:solidFill>
              <a:latin typeface="Times New Roman"/>
              <a:ea typeface="Times New Roman"/>
              <a:cs typeface="Times New Roman"/>
              <a:sym typeface="Times New Roman"/>
            </a:endParaRPr>
          </a:p>
          <a:p>
            <a:pPr indent="0" lvl="0" marL="0" rtl="0" algn="ctr">
              <a:spcBef>
                <a:spcPts val="1200"/>
              </a:spcBef>
              <a:spcAft>
                <a:spcPts val="0"/>
              </a:spcAft>
              <a:buNone/>
            </a:pPr>
            <a:r>
              <a:rPr b="1" lang="es" sz="5002" u="sng">
                <a:solidFill>
                  <a:srgbClr val="000000"/>
                </a:solidFill>
                <a:latin typeface="Times New Roman"/>
                <a:ea typeface="Times New Roman"/>
                <a:cs typeface="Times New Roman"/>
                <a:sym typeface="Times New Roman"/>
              </a:rPr>
              <a:t>Interrupciones y manejo de excepciones.</a:t>
            </a:r>
            <a:endParaRPr b="1" sz="5002"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5002">
                <a:solidFill>
                  <a:srgbClr val="000000"/>
                </a:solidFill>
                <a:latin typeface="Times New Roman"/>
                <a:ea typeface="Times New Roman"/>
                <a:cs typeface="Times New Roman"/>
                <a:sym typeface="Times New Roman"/>
              </a:rPr>
              <a:t>Son manejadas de forma más eficiente, permitiendo que el procesador reaccione rápidamente ante eventos externos.</a:t>
            </a:r>
            <a:endParaRPr b="1" sz="4902" u="sng">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
        <p:nvSpPr>
          <p:cNvPr id="130" name="Google Shape;130;p22"/>
          <p:cNvSpPr txBox="1"/>
          <p:nvPr>
            <p:ph type="title"/>
          </p:nvPr>
        </p:nvSpPr>
        <p:spPr>
          <a:xfrm>
            <a:off x="311700" y="289375"/>
            <a:ext cx="8520600" cy="623700"/>
          </a:xfrm>
          <a:prstGeom prst="rect">
            <a:avLst/>
          </a:prstGeom>
        </p:spPr>
        <p:txBody>
          <a:bodyPr anchorCtr="0" anchor="t" bIns="91425" lIns="91425" spcFirstLastPara="1" rIns="91425" wrap="square" tIns="91425">
            <a:normAutofit/>
          </a:bodyPr>
          <a:lstStyle/>
          <a:p>
            <a:pPr indent="0" lvl="0" marL="0" rtl="0" algn="ctr">
              <a:lnSpc>
                <a:spcPct val="115000"/>
              </a:lnSpc>
              <a:spcBef>
                <a:spcPts val="2000"/>
              </a:spcBef>
              <a:spcAft>
                <a:spcPts val="600"/>
              </a:spcAft>
              <a:buNone/>
            </a:pPr>
            <a:r>
              <a:rPr b="1" lang="es">
                <a:solidFill>
                  <a:schemeClr val="accent6"/>
                </a:solidFill>
                <a:latin typeface="Times New Roman"/>
                <a:ea typeface="Times New Roman"/>
                <a:cs typeface="Times New Roman"/>
                <a:sym typeface="Times New Roman"/>
              </a:rPr>
              <a:t>3</a:t>
            </a:r>
            <a:r>
              <a:rPr b="1" lang="es">
                <a:solidFill>
                  <a:schemeClr val="accent6"/>
                </a:solidFill>
                <a:latin typeface="Times New Roman"/>
                <a:ea typeface="Times New Roman"/>
                <a:cs typeface="Times New Roman"/>
                <a:sym typeface="Times New Roman"/>
              </a:rPr>
              <a:t>. Intel.</a:t>
            </a:r>
            <a:endParaRPr sz="3900">
              <a:solidFill>
                <a:schemeClr val="accent6"/>
              </a:solidFill>
            </a:endParaRPr>
          </a:p>
        </p:txBody>
      </p:sp>
      <p:sp>
        <p:nvSpPr>
          <p:cNvPr id="131" name="Google Shape;131;p22"/>
          <p:cNvSpPr txBox="1"/>
          <p:nvPr/>
        </p:nvSpPr>
        <p:spPr>
          <a:xfrm>
            <a:off x="1127550" y="811850"/>
            <a:ext cx="6888900" cy="436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600"/>
              </a:spcAft>
              <a:buNone/>
            </a:pPr>
            <a:r>
              <a:rPr b="1" lang="es" sz="1700">
                <a:solidFill>
                  <a:schemeClr val="lt1"/>
                </a:solidFill>
                <a:latin typeface="Times New Roman"/>
                <a:ea typeface="Times New Roman"/>
                <a:cs typeface="Times New Roman"/>
                <a:sym typeface="Times New Roman"/>
              </a:rPr>
              <a:t>3</a:t>
            </a:r>
            <a:r>
              <a:rPr b="1" lang="es" sz="1700">
                <a:solidFill>
                  <a:schemeClr val="lt1"/>
                </a:solidFill>
                <a:latin typeface="Times New Roman"/>
                <a:ea typeface="Times New Roman"/>
                <a:cs typeface="Times New Roman"/>
                <a:sym typeface="Times New Roman"/>
              </a:rPr>
              <a:t>.2. Características de su arquitectura.</a:t>
            </a:r>
            <a:endParaRPr sz="1700">
              <a:solidFill>
                <a:schemeClr val="lt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idx="1" type="body"/>
          </p:nvPr>
        </p:nvSpPr>
        <p:spPr>
          <a:xfrm>
            <a:off x="311700" y="1505700"/>
            <a:ext cx="4260300" cy="3452400"/>
          </a:xfrm>
          <a:prstGeom prst="rect">
            <a:avLst/>
          </a:prstGeom>
        </p:spPr>
        <p:txBody>
          <a:bodyPr anchorCtr="0" anchor="t" bIns="91425" lIns="91425" spcFirstLastPara="1" rIns="91425" wrap="square" tIns="91425">
            <a:normAutofit/>
          </a:bodyPr>
          <a:lstStyle/>
          <a:p>
            <a:pPr indent="0" lvl="0" marL="0" rtl="0" algn="ctr">
              <a:spcBef>
                <a:spcPts val="1200"/>
              </a:spcBef>
              <a:spcAft>
                <a:spcPts val="0"/>
              </a:spcAft>
              <a:buNone/>
            </a:pPr>
            <a:r>
              <a:rPr b="1" lang="es" sz="1450" u="sng">
                <a:solidFill>
                  <a:srgbClr val="000000"/>
                </a:solidFill>
                <a:latin typeface="Times New Roman"/>
                <a:ea typeface="Times New Roman"/>
                <a:cs typeface="Times New Roman"/>
                <a:sym typeface="Times New Roman"/>
              </a:rPr>
              <a:t>Modos de operación.</a:t>
            </a:r>
            <a:endParaRPr b="1" sz="1450"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b="1" lang="es" sz="1450">
                <a:solidFill>
                  <a:srgbClr val="000000"/>
                </a:solidFill>
                <a:latin typeface="Times New Roman"/>
                <a:ea typeface="Times New Roman"/>
                <a:cs typeface="Times New Roman"/>
                <a:sym typeface="Times New Roman"/>
              </a:rPr>
              <a:t>Modo real</a:t>
            </a:r>
            <a:r>
              <a:rPr lang="es" sz="1450">
                <a:solidFill>
                  <a:srgbClr val="000000"/>
                </a:solidFill>
                <a:latin typeface="Times New Roman"/>
                <a:ea typeface="Times New Roman"/>
                <a:cs typeface="Times New Roman"/>
                <a:sym typeface="Times New Roman"/>
              </a:rPr>
              <a:t>: Este es un modo de operación en el que el procesador puede acceder directamente a toda la memoria, pero tiene muchas limitaciones en cuanto a protección de memoria y multitarea.</a:t>
            </a:r>
            <a:endParaRPr sz="145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br>
              <a:rPr lang="es" sz="1450">
                <a:solidFill>
                  <a:srgbClr val="000000"/>
                </a:solidFill>
                <a:latin typeface="Times New Roman"/>
                <a:ea typeface="Times New Roman"/>
                <a:cs typeface="Times New Roman"/>
                <a:sym typeface="Times New Roman"/>
              </a:rPr>
            </a:br>
            <a:r>
              <a:rPr b="1" lang="es" sz="1450">
                <a:solidFill>
                  <a:srgbClr val="000000"/>
                </a:solidFill>
                <a:latin typeface="Times New Roman"/>
                <a:ea typeface="Times New Roman"/>
                <a:cs typeface="Times New Roman"/>
                <a:sym typeface="Times New Roman"/>
              </a:rPr>
              <a:t>Modo protegido</a:t>
            </a:r>
            <a:r>
              <a:rPr lang="es" sz="1450">
                <a:solidFill>
                  <a:srgbClr val="000000"/>
                </a:solidFill>
                <a:latin typeface="Times New Roman"/>
                <a:ea typeface="Times New Roman"/>
                <a:cs typeface="Times New Roman"/>
                <a:sym typeface="Times New Roman"/>
              </a:rPr>
              <a:t>: Introducido con el 80386, permite un acceso seguro a la memoria, protección entre procesos y ejecución de programas más complejos.</a:t>
            </a:r>
            <a:endParaRPr sz="1450">
              <a:solidFill>
                <a:srgbClr val="000000"/>
              </a:solidFill>
              <a:latin typeface="Times New Roman"/>
              <a:ea typeface="Times New Roman"/>
              <a:cs typeface="Times New Roman"/>
              <a:sym typeface="Times New Roman"/>
            </a:endParaRPr>
          </a:p>
          <a:p>
            <a:pPr indent="457200" lvl="0" marL="0" rtl="0" algn="l">
              <a:spcBef>
                <a:spcPts val="1200"/>
              </a:spcBef>
              <a:spcAft>
                <a:spcPts val="1200"/>
              </a:spcAft>
              <a:buNone/>
            </a:pPr>
            <a:r>
              <a:t/>
            </a:r>
            <a:endParaRPr sz="1400" u="sng">
              <a:solidFill>
                <a:srgbClr val="434343"/>
              </a:solidFill>
              <a:latin typeface="Times New Roman"/>
              <a:ea typeface="Times New Roman"/>
              <a:cs typeface="Times New Roman"/>
              <a:sym typeface="Times New Roman"/>
            </a:endParaRPr>
          </a:p>
        </p:txBody>
      </p:sp>
      <p:sp>
        <p:nvSpPr>
          <p:cNvPr id="137" name="Google Shape;137;p23"/>
          <p:cNvSpPr txBox="1"/>
          <p:nvPr>
            <p:ph idx="2" type="body"/>
          </p:nvPr>
        </p:nvSpPr>
        <p:spPr>
          <a:xfrm>
            <a:off x="4832400" y="1505700"/>
            <a:ext cx="4174500" cy="3350700"/>
          </a:xfrm>
          <a:prstGeom prst="rect">
            <a:avLst/>
          </a:prstGeom>
        </p:spPr>
        <p:txBody>
          <a:bodyPr anchorCtr="0" anchor="t" bIns="91425" lIns="91425" spcFirstLastPara="1" rIns="91425" wrap="square" tIns="91425">
            <a:normAutofit fontScale="32500" lnSpcReduction="20000"/>
          </a:bodyPr>
          <a:lstStyle/>
          <a:p>
            <a:pPr indent="0" lvl="0" marL="0" rtl="0" algn="ctr">
              <a:spcBef>
                <a:spcPts val="1200"/>
              </a:spcBef>
              <a:spcAft>
                <a:spcPts val="0"/>
              </a:spcAft>
              <a:buNone/>
            </a:pPr>
            <a:r>
              <a:rPr b="1" lang="es" sz="4563" u="sng">
                <a:solidFill>
                  <a:srgbClr val="000000"/>
                </a:solidFill>
                <a:latin typeface="Times New Roman"/>
                <a:ea typeface="Times New Roman"/>
                <a:cs typeface="Times New Roman"/>
                <a:sym typeface="Times New Roman"/>
              </a:rPr>
              <a:t>Caché y su arquitectura.</a:t>
            </a:r>
            <a:endParaRPr b="1" sz="4563" u="sng">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lang="es" sz="4563">
                <a:solidFill>
                  <a:srgbClr val="000000"/>
                </a:solidFill>
                <a:latin typeface="Times New Roman"/>
                <a:ea typeface="Times New Roman"/>
                <a:cs typeface="Times New Roman"/>
                <a:sym typeface="Times New Roman"/>
              </a:rPr>
              <a:t>Los procesadores de 32 bits de Intel suelen incluir </a:t>
            </a:r>
            <a:r>
              <a:rPr b="1" lang="es" sz="4563">
                <a:solidFill>
                  <a:srgbClr val="000000"/>
                </a:solidFill>
                <a:latin typeface="Times New Roman"/>
                <a:ea typeface="Times New Roman"/>
                <a:cs typeface="Times New Roman"/>
                <a:sym typeface="Times New Roman"/>
              </a:rPr>
              <a:t>cachés L1 y L2</a:t>
            </a:r>
            <a:r>
              <a:rPr lang="es" sz="4563">
                <a:solidFill>
                  <a:srgbClr val="000000"/>
                </a:solidFill>
                <a:latin typeface="Times New Roman"/>
                <a:ea typeface="Times New Roman"/>
                <a:cs typeface="Times New Roman"/>
                <a:sym typeface="Times New Roman"/>
              </a:rPr>
              <a:t> para mejorar la velocidad de acceso a la memoria.</a:t>
            </a:r>
            <a:endParaRPr sz="4563">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4563">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rPr b="1" lang="es" sz="4563">
                <a:solidFill>
                  <a:srgbClr val="000000"/>
                </a:solidFill>
                <a:latin typeface="Times New Roman"/>
                <a:ea typeface="Times New Roman"/>
                <a:cs typeface="Times New Roman"/>
                <a:sym typeface="Times New Roman"/>
              </a:rPr>
              <a:t>Pipeline</a:t>
            </a:r>
            <a:r>
              <a:rPr lang="es" sz="4563">
                <a:solidFill>
                  <a:srgbClr val="000000"/>
                </a:solidFill>
                <a:latin typeface="Times New Roman"/>
                <a:ea typeface="Times New Roman"/>
                <a:cs typeface="Times New Roman"/>
                <a:sym typeface="Times New Roman"/>
              </a:rPr>
              <a:t>: Los procesadores Intel de 32 bits suelen tener un pipeline de múltiples etapas que permite ejecutar más de una instrucción al mismo tiempo.</a:t>
            </a:r>
            <a:endParaRPr sz="4563">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rgbClr val="000000"/>
              </a:solidFill>
              <a:latin typeface="Times New Roman"/>
              <a:ea typeface="Times New Roman"/>
              <a:cs typeface="Times New Roman"/>
              <a:sym typeface="Times New Roman"/>
            </a:endParaRPr>
          </a:p>
          <a:p>
            <a:pPr indent="0" lvl="0" marL="0" rtl="0" algn="just">
              <a:spcBef>
                <a:spcPts val="1200"/>
              </a:spcBef>
              <a:spcAft>
                <a:spcPts val="0"/>
              </a:spcAft>
              <a:buNone/>
            </a:pPr>
            <a:r>
              <a:t/>
            </a:r>
            <a:endParaRPr b="1" sz="5002" u="sng">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
        <p:nvSpPr>
          <p:cNvPr id="138" name="Google Shape;138;p23"/>
          <p:cNvSpPr txBox="1"/>
          <p:nvPr>
            <p:ph type="title"/>
          </p:nvPr>
        </p:nvSpPr>
        <p:spPr>
          <a:xfrm>
            <a:off x="311700" y="289375"/>
            <a:ext cx="8520600" cy="623700"/>
          </a:xfrm>
          <a:prstGeom prst="rect">
            <a:avLst/>
          </a:prstGeom>
        </p:spPr>
        <p:txBody>
          <a:bodyPr anchorCtr="0" anchor="t" bIns="91425" lIns="91425" spcFirstLastPara="1" rIns="91425" wrap="square" tIns="91425">
            <a:normAutofit/>
          </a:bodyPr>
          <a:lstStyle/>
          <a:p>
            <a:pPr indent="0" lvl="0" marL="0" rtl="0" algn="ctr">
              <a:lnSpc>
                <a:spcPct val="115000"/>
              </a:lnSpc>
              <a:spcBef>
                <a:spcPts val="2000"/>
              </a:spcBef>
              <a:spcAft>
                <a:spcPts val="600"/>
              </a:spcAft>
              <a:buNone/>
            </a:pPr>
            <a:r>
              <a:rPr b="1" lang="es">
                <a:solidFill>
                  <a:schemeClr val="accent6"/>
                </a:solidFill>
                <a:latin typeface="Times New Roman"/>
                <a:ea typeface="Times New Roman"/>
                <a:cs typeface="Times New Roman"/>
                <a:sym typeface="Times New Roman"/>
              </a:rPr>
              <a:t>3. Intel.</a:t>
            </a:r>
            <a:endParaRPr sz="3900">
              <a:solidFill>
                <a:schemeClr val="accent6"/>
              </a:solidFill>
            </a:endParaRPr>
          </a:p>
        </p:txBody>
      </p:sp>
      <p:sp>
        <p:nvSpPr>
          <p:cNvPr id="139" name="Google Shape;139;p23"/>
          <p:cNvSpPr txBox="1"/>
          <p:nvPr/>
        </p:nvSpPr>
        <p:spPr>
          <a:xfrm>
            <a:off x="1127550" y="811850"/>
            <a:ext cx="6888900" cy="436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600"/>
              </a:spcAft>
              <a:buNone/>
            </a:pPr>
            <a:r>
              <a:rPr b="1" lang="es" sz="1700">
                <a:solidFill>
                  <a:schemeClr val="lt1"/>
                </a:solidFill>
                <a:latin typeface="Times New Roman"/>
                <a:ea typeface="Times New Roman"/>
                <a:cs typeface="Times New Roman"/>
                <a:sym typeface="Times New Roman"/>
              </a:rPr>
              <a:t>3.2. Características de su arquitectura.</a:t>
            </a:r>
            <a:endParaRPr sz="1700">
              <a:solidFill>
                <a:schemeClr val="lt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 type="body"/>
          </p:nvPr>
        </p:nvSpPr>
        <p:spPr>
          <a:xfrm>
            <a:off x="4147100" y="323125"/>
            <a:ext cx="4707300" cy="41523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s" sz="1891">
                <a:solidFill>
                  <a:srgbClr val="000000"/>
                </a:solidFill>
                <a:latin typeface="Times New Roman"/>
                <a:ea typeface="Times New Roman"/>
                <a:cs typeface="Times New Roman"/>
                <a:sym typeface="Times New Roman"/>
              </a:rPr>
              <a:t>4.1 Introducción al benchmark.</a:t>
            </a:r>
            <a:endParaRPr sz="1100">
              <a:solidFill>
                <a:srgbClr val="1F1F1F"/>
              </a:solidFill>
              <a:latin typeface="Arial"/>
              <a:ea typeface="Arial"/>
              <a:cs typeface="Arial"/>
              <a:sym typeface="Arial"/>
            </a:endParaRPr>
          </a:p>
          <a:p>
            <a:pPr indent="0" lvl="0" marL="0" rtl="0" algn="l">
              <a:spcBef>
                <a:spcPts val="600"/>
              </a:spcBef>
              <a:spcAft>
                <a:spcPts val="0"/>
              </a:spcAft>
              <a:buNone/>
            </a:pPr>
            <a:r>
              <a:rPr lang="es" sz="1100">
                <a:solidFill>
                  <a:srgbClr val="1F1F1F"/>
                </a:solidFill>
                <a:latin typeface="Arial"/>
                <a:ea typeface="Arial"/>
                <a:cs typeface="Arial"/>
                <a:sym typeface="Arial"/>
              </a:rPr>
              <a:t>El benchmarking evalúa las arquitecturas AMD de 32 y 64 bits para medir las mejoras recientes.</a:t>
            </a:r>
            <a:endParaRPr sz="1100">
              <a:solidFill>
                <a:srgbClr val="1F1F1F"/>
              </a:solidFill>
              <a:latin typeface="Arial"/>
              <a:ea typeface="Arial"/>
              <a:cs typeface="Arial"/>
              <a:sym typeface="Arial"/>
            </a:endParaRPr>
          </a:p>
          <a:p>
            <a:pPr indent="0" lvl="0" marL="0" rtl="0" algn="l">
              <a:spcBef>
                <a:spcPts val="1200"/>
              </a:spcBef>
              <a:spcAft>
                <a:spcPts val="0"/>
              </a:spcAft>
              <a:buNone/>
            </a:pPr>
            <a:r>
              <a:rPr lang="es" sz="1100">
                <a:solidFill>
                  <a:srgbClr val="1F1F1F"/>
                </a:solidFill>
                <a:latin typeface="Arial"/>
                <a:ea typeface="Arial"/>
                <a:cs typeface="Arial"/>
                <a:sym typeface="Arial"/>
              </a:rPr>
              <a:t>La arquitectura de 32 bits está siendo marginada, lo que obliga a usar hardware antiguo y específico para las pruebas.</a:t>
            </a:r>
            <a:endParaRPr sz="1100">
              <a:solidFill>
                <a:srgbClr val="1F1F1F"/>
              </a:solidFill>
              <a:latin typeface="Arial"/>
              <a:ea typeface="Arial"/>
              <a:cs typeface="Arial"/>
              <a:sym typeface="Arial"/>
            </a:endParaRPr>
          </a:p>
          <a:p>
            <a:pPr indent="0" lvl="0" marL="0" rtl="0" algn="l">
              <a:spcBef>
                <a:spcPts val="1200"/>
              </a:spcBef>
              <a:spcAft>
                <a:spcPts val="0"/>
              </a:spcAft>
              <a:buNone/>
            </a:pPr>
            <a:r>
              <a:rPr lang="es" sz="1100">
                <a:solidFill>
                  <a:srgbClr val="1F1F1F"/>
                </a:solidFill>
                <a:latin typeface="Arial"/>
                <a:ea typeface="Arial"/>
                <a:cs typeface="Arial"/>
                <a:sym typeface="Arial"/>
              </a:rPr>
              <a:t>La herramienta elegida para la prueba de rendimiento de CPU es 7zip, debido a la intensa carga que genera al comprimir archivos.</a:t>
            </a:r>
            <a:endParaRPr sz="1100">
              <a:solidFill>
                <a:srgbClr val="1F1F1F"/>
              </a:solidFill>
              <a:latin typeface="Arial"/>
              <a:ea typeface="Arial"/>
              <a:cs typeface="Arial"/>
              <a:sym typeface="Arial"/>
            </a:endParaRPr>
          </a:p>
          <a:p>
            <a:pPr indent="0" lvl="0" marL="0" rtl="0" algn="l">
              <a:spcBef>
                <a:spcPts val="1200"/>
              </a:spcBef>
              <a:spcAft>
                <a:spcPts val="0"/>
              </a:spcAft>
              <a:buNone/>
            </a:pPr>
            <a:r>
              <a:rPr lang="es" sz="1100">
                <a:solidFill>
                  <a:srgbClr val="1F1F1F"/>
                </a:solidFill>
                <a:latin typeface="Arial"/>
                <a:ea typeface="Arial"/>
                <a:cs typeface="Arial"/>
                <a:sym typeface="Arial"/>
              </a:rPr>
              <a:t>7zip es ideal para el benchmarking ya que viene preinstalada en todas las distribuciones de Linux, incluyendo las de 32 bits sin soporte actual.</a:t>
            </a:r>
            <a:endParaRPr sz="1100">
              <a:solidFill>
                <a:srgbClr val="1F1F1F"/>
              </a:solidFill>
              <a:latin typeface="Arial"/>
              <a:ea typeface="Arial"/>
              <a:cs typeface="Arial"/>
              <a:sym typeface="Arial"/>
            </a:endParaRPr>
          </a:p>
          <a:p>
            <a:pPr indent="0" lvl="0" marL="0" rtl="0" algn="l">
              <a:spcBef>
                <a:spcPts val="1200"/>
              </a:spcBef>
              <a:spcAft>
                <a:spcPts val="0"/>
              </a:spcAft>
              <a:buNone/>
            </a:pPr>
            <a:r>
              <a:rPr lang="es" sz="1100">
                <a:solidFill>
                  <a:srgbClr val="1F1F1F"/>
                </a:solidFill>
                <a:latin typeface="Arial"/>
                <a:ea typeface="Arial"/>
                <a:cs typeface="Arial"/>
                <a:sym typeface="Arial"/>
              </a:rPr>
              <a:t>Se utilizaron distintos tipos de hardware para llevar a cabo las pruebas de rendimiento.</a:t>
            </a:r>
            <a:endParaRPr sz="1100">
              <a:solidFill>
                <a:srgbClr val="1F1F1F"/>
              </a:solidFill>
              <a:latin typeface="Arial"/>
              <a:ea typeface="Arial"/>
              <a:cs typeface="Arial"/>
              <a:sym typeface="Arial"/>
            </a:endParaRPr>
          </a:p>
          <a:p>
            <a:pPr indent="457200" lvl="0" marL="0" rtl="0" algn="l">
              <a:spcBef>
                <a:spcPts val="1600"/>
              </a:spcBef>
              <a:spcAft>
                <a:spcPts val="0"/>
              </a:spcAft>
              <a:buNone/>
            </a:pPr>
            <a:r>
              <a:t/>
            </a:r>
            <a:endParaRPr sz="1100">
              <a:solidFill>
                <a:srgbClr val="000000"/>
              </a:solidFill>
              <a:latin typeface="Arial"/>
              <a:ea typeface="Arial"/>
              <a:cs typeface="Arial"/>
              <a:sym typeface="Arial"/>
            </a:endParaRPr>
          </a:p>
          <a:p>
            <a:pPr indent="457200" lvl="0" marL="0" rtl="0" algn="l">
              <a:spcBef>
                <a:spcPts val="1600"/>
              </a:spcBef>
              <a:spcAft>
                <a:spcPts val="400"/>
              </a:spcAft>
              <a:buNone/>
            </a:pPr>
            <a:r>
              <a:t/>
            </a:r>
            <a:endParaRPr sz="1400" u="sng">
              <a:solidFill>
                <a:srgbClr val="000000"/>
              </a:solidFill>
              <a:latin typeface="Times New Roman"/>
              <a:ea typeface="Times New Roman"/>
              <a:cs typeface="Times New Roman"/>
              <a:sym typeface="Times New Roman"/>
            </a:endParaRPr>
          </a:p>
        </p:txBody>
      </p:sp>
      <p:sp>
        <p:nvSpPr>
          <p:cNvPr id="145" name="Google Shape;145;p24"/>
          <p:cNvSpPr txBox="1"/>
          <p:nvPr>
            <p:ph type="title"/>
          </p:nvPr>
        </p:nvSpPr>
        <p:spPr>
          <a:xfrm>
            <a:off x="375225" y="1452875"/>
            <a:ext cx="3127500" cy="2468700"/>
          </a:xfrm>
          <a:prstGeom prst="rect">
            <a:avLst/>
          </a:prstGeom>
        </p:spPr>
        <p:txBody>
          <a:bodyPr anchorCtr="0" anchor="t" bIns="91425" lIns="91425" spcFirstLastPara="1" rIns="91425" wrap="square" tIns="91425">
            <a:normAutofit/>
          </a:bodyPr>
          <a:lstStyle/>
          <a:p>
            <a:pPr indent="0" lvl="0" marL="0" rtl="0" algn="ctr">
              <a:lnSpc>
                <a:spcPct val="115000"/>
              </a:lnSpc>
              <a:spcBef>
                <a:spcPts val="2000"/>
              </a:spcBef>
              <a:spcAft>
                <a:spcPts val="0"/>
              </a:spcAft>
              <a:buNone/>
            </a:pPr>
            <a:r>
              <a:t/>
            </a:r>
            <a:endParaRPr b="1" sz="2900">
              <a:solidFill>
                <a:schemeClr val="accent6"/>
              </a:solidFill>
              <a:latin typeface="Times New Roman"/>
              <a:ea typeface="Times New Roman"/>
              <a:cs typeface="Times New Roman"/>
              <a:sym typeface="Times New Roman"/>
            </a:endParaRPr>
          </a:p>
          <a:p>
            <a:pPr indent="0" lvl="0" marL="0" rtl="0" algn="ctr">
              <a:lnSpc>
                <a:spcPct val="115000"/>
              </a:lnSpc>
              <a:spcBef>
                <a:spcPts val="2000"/>
              </a:spcBef>
              <a:spcAft>
                <a:spcPts val="0"/>
              </a:spcAft>
              <a:buNone/>
            </a:pPr>
            <a:r>
              <a:rPr b="1" lang="es" sz="2900">
                <a:solidFill>
                  <a:schemeClr val="accent6"/>
                </a:solidFill>
                <a:latin typeface="Times New Roman"/>
                <a:ea typeface="Times New Roman"/>
                <a:cs typeface="Times New Roman"/>
                <a:sym typeface="Times New Roman"/>
              </a:rPr>
              <a:t>4.Benchmarking.</a:t>
            </a:r>
            <a:endParaRPr b="1" sz="2900">
              <a:solidFill>
                <a:schemeClr val="accent6"/>
              </a:solidFill>
              <a:latin typeface="Times New Roman"/>
              <a:ea typeface="Times New Roman"/>
              <a:cs typeface="Times New Roman"/>
              <a:sym typeface="Times New Roman"/>
            </a:endParaRPr>
          </a:p>
          <a:p>
            <a:pPr indent="0" lvl="0" marL="0" rtl="0" algn="ctr">
              <a:lnSpc>
                <a:spcPct val="115000"/>
              </a:lnSpc>
              <a:spcBef>
                <a:spcPts val="2000"/>
              </a:spcBef>
              <a:spcAft>
                <a:spcPts val="600"/>
              </a:spcAft>
              <a:buNone/>
            </a:pPr>
            <a:r>
              <a:t/>
            </a:r>
            <a:endParaRPr b="1" sz="1700">
              <a:latin typeface="Times New Roman"/>
              <a:ea typeface="Times New Roman"/>
              <a:cs typeface="Times New Roman"/>
              <a:sym typeface="Times New Roman"/>
            </a:endParaRPr>
          </a:p>
        </p:txBody>
      </p:sp>
    </p:spTree>
  </p:cSld>
  <p:clrMapOvr>
    <a:masterClrMapping/>
  </p:clrMapOvr>
  <mc:AlternateContent>
    <mc:Choice Requires="p14">
      <p:transition spd="slow" p14:dur="1100">
        <p14:prism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289375"/>
            <a:ext cx="8520600" cy="623700"/>
          </a:xfrm>
          <a:prstGeom prst="rect">
            <a:avLst/>
          </a:prstGeom>
        </p:spPr>
        <p:txBody>
          <a:bodyPr anchorCtr="0" anchor="t" bIns="91425" lIns="91425" spcFirstLastPara="1" rIns="91425" wrap="square" tIns="91425">
            <a:normAutofit/>
          </a:bodyPr>
          <a:lstStyle/>
          <a:p>
            <a:pPr indent="0" lvl="0" marL="0" rtl="0" algn="ctr">
              <a:lnSpc>
                <a:spcPct val="115000"/>
              </a:lnSpc>
              <a:spcBef>
                <a:spcPts val="2000"/>
              </a:spcBef>
              <a:spcAft>
                <a:spcPts val="600"/>
              </a:spcAft>
              <a:buNone/>
            </a:pPr>
            <a:r>
              <a:rPr b="1" lang="es">
                <a:solidFill>
                  <a:schemeClr val="accent6"/>
                </a:solidFill>
                <a:latin typeface="Times New Roman"/>
                <a:ea typeface="Times New Roman"/>
                <a:cs typeface="Times New Roman"/>
                <a:sym typeface="Times New Roman"/>
              </a:rPr>
              <a:t>4</a:t>
            </a:r>
            <a:r>
              <a:rPr b="1" lang="es">
                <a:solidFill>
                  <a:schemeClr val="accent6"/>
                </a:solidFill>
                <a:latin typeface="Times New Roman"/>
                <a:ea typeface="Times New Roman"/>
                <a:cs typeface="Times New Roman"/>
                <a:sym typeface="Times New Roman"/>
              </a:rPr>
              <a:t>. Intel.</a:t>
            </a:r>
            <a:endParaRPr sz="3900">
              <a:solidFill>
                <a:schemeClr val="accent6"/>
              </a:solidFill>
            </a:endParaRPr>
          </a:p>
        </p:txBody>
      </p:sp>
      <p:sp>
        <p:nvSpPr>
          <p:cNvPr id="151" name="Google Shape;151;p25"/>
          <p:cNvSpPr txBox="1"/>
          <p:nvPr/>
        </p:nvSpPr>
        <p:spPr>
          <a:xfrm>
            <a:off x="1127550" y="811850"/>
            <a:ext cx="6888900" cy="436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600"/>
              </a:spcAft>
              <a:buNone/>
            </a:pPr>
            <a:r>
              <a:rPr b="1" lang="es" sz="1700">
                <a:solidFill>
                  <a:schemeClr val="lt1"/>
                </a:solidFill>
                <a:latin typeface="Times New Roman"/>
                <a:ea typeface="Times New Roman"/>
                <a:cs typeface="Times New Roman"/>
                <a:sym typeface="Times New Roman"/>
              </a:rPr>
              <a:t>4</a:t>
            </a:r>
            <a:r>
              <a:rPr b="1" lang="es" sz="1700">
                <a:solidFill>
                  <a:schemeClr val="lt1"/>
                </a:solidFill>
                <a:latin typeface="Times New Roman"/>
                <a:ea typeface="Times New Roman"/>
                <a:cs typeface="Times New Roman"/>
                <a:sym typeface="Times New Roman"/>
              </a:rPr>
              <a:t>.2. Análisis de datos</a:t>
            </a:r>
            <a:endParaRPr sz="1700">
              <a:solidFill>
                <a:schemeClr val="lt1"/>
              </a:solidFill>
              <a:latin typeface="Roboto"/>
              <a:ea typeface="Roboto"/>
              <a:cs typeface="Roboto"/>
              <a:sym typeface="Roboto"/>
            </a:endParaRPr>
          </a:p>
        </p:txBody>
      </p:sp>
      <p:graphicFrame>
        <p:nvGraphicFramePr>
          <p:cNvPr id="152" name="Google Shape;152;p25"/>
          <p:cNvGraphicFramePr/>
          <p:nvPr/>
        </p:nvGraphicFramePr>
        <p:xfrm>
          <a:off x="952500" y="1809750"/>
          <a:ext cx="3000000" cy="3000000"/>
        </p:xfrm>
        <a:graphic>
          <a:graphicData uri="http://schemas.openxmlformats.org/drawingml/2006/table">
            <a:tbl>
              <a:tblPr>
                <a:noFill/>
                <a:tableStyleId>{91E53B37-68C5-494E-BB81-6EE6FAB3ED8F}</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s" sz="1100"/>
                        <a:t>32 bits</a:t>
                      </a:r>
                      <a:endParaRPr/>
                    </a:p>
                  </a:txBody>
                  <a:tcPr marT="91425" marB="91425" marR="91425" marL="91425"/>
                </a:tc>
                <a:tc>
                  <a:txBody>
                    <a:bodyPr/>
                    <a:lstStyle/>
                    <a:p>
                      <a:pPr indent="0" lvl="0" marL="0" rtl="0" algn="l">
                        <a:spcBef>
                          <a:spcPts val="0"/>
                        </a:spcBef>
                        <a:spcAft>
                          <a:spcPts val="0"/>
                        </a:spcAft>
                        <a:buNone/>
                      </a:pPr>
                      <a:r>
                        <a:rPr lang="es" sz="1100"/>
                        <a:t>64 bits</a:t>
                      </a:r>
                      <a:endParaRPr/>
                    </a:p>
                  </a:txBody>
                  <a:tcPr marT="91425" marB="91425" marR="91425" marL="91425"/>
                </a:tc>
              </a:tr>
              <a:tr h="365800">
                <a:tc>
                  <a:txBody>
                    <a:bodyPr/>
                    <a:lstStyle/>
                    <a:p>
                      <a:pPr indent="0" lvl="0" marL="0" rtl="0" algn="l">
                        <a:spcBef>
                          <a:spcPts val="0"/>
                        </a:spcBef>
                        <a:spcAft>
                          <a:spcPts val="0"/>
                        </a:spcAft>
                        <a:buNone/>
                      </a:pPr>
                      <a:r>
                        <a:rPr lang="es" sz="1100"/>
                        <a:t>Intel Core 2 Duo T7500</a:t>
                      </a:r>
                      <a:endParaRPr/>
                    </a:p>
                  </a:txBody>
                  <a:tcPr marT="91425" marB="91425" marR="91425" marL="91425"/>
                </a:tc>
                <a:tc>
                  <a:txBody>
                    <a:bodyPr/>
                    <a:lstStyle/>
                    <a:p>
                      <a:pPr indent="0" lvl="0" marL="0" rtl="0" algn="l">
                        <a:spcBef>
                          <a:spcPts val="0"/>
                        </a:spcBef>
                        <a:spcAft>
                          <a:spcPts val="0"/>
                        </a:spcAft>
                        <a:buNone/>
                      </a:pPr>
                      <a:r>
                        <a:rPr lang="es" sz="1100"/>
                        <a:t>175</a:t>
                      </a:r>
                      <a:endParaRPr/>
                    </a:p>
                  </a:txBody>
                  <a:tcPr marT="91425" marB="91425" marR="91425" marL="91425"/>
                </a:tc>
                <a:tc>
                  <a:txBody>
                    <a:bodyPr/>
                    <a:lstStyle/>
                    <a:p>
                      <a:pPr indent="0" lvl="0" marL="0" rtl="0" algn="l">
                        <a:spcBef>
                          <a:spcPts val="0"/>
                        </a:spcBef>
                        <a:spcAft>
                          <a:spcPts val="0"/>
                        </a:spcAft>
                        <a:buNone/>
                      </a:pPr>
                      <a:r>
                        <a:rPr lang="es" sz="1100"/>
                        <a:t>187</a:t>
                      </a:r>
                      <a:endParaRPr/>
                    </a:p>
                  </a:txBody>
                  <a:tcPr marT="91425" marB="91425" marR="91425" marL="91425"/>
                </a:tc>
              </a:tr>
              <a:tr h="381000">
                <a:tc>
                  <a:txBody>
                    <a:bodyPr/>
                    <a:lstStyle/>
                    <a:p>
                      <a:pPr indent="0" lvl="0" marL="0" rtl="0" algn="l">
                        <a:spcBef>
                          <a:spcPts val="0"/>
                        </a:spcBef>
                        <a:spcAft>
                          <a:spcPts val="0"/>
                        </a:spcAft>
                        <a:buNone/>
                      </a:pPr>
                      <a:r>
                        <a:rPr lang="es" sz="1100"/>
                        <a:t>AMD Ryzen 5 3500U</a:t>
                      </a:r>
                      <a:endParaRPr/>
                    </a:p>
                  </a:txBody>
                  <a:tcPr marT="91425" marB="91425" marR="91425" marL="91425"/>
                </a:tc>
                <a:tc>
                  <a:txBody>
                    <a:bodyPr/>
                    <a:lstStyle/>
                    <a:p>
                      <a:pPr indent="0" lvl="0" marL="0" rtl="0" algn="l">
                        <a:spcBef>
                          <a:spcPts val="0"/>
                        </a:spcBef>
                        <a:spcAft>
                          <a:spcPts val="0"/>
                        </a:spcAft>
                        <a:buNone/>
                      </a:pPr>
                      <a:r>
                        <a:rPr lang="es"/>
                        <a:t>-</a:t>
                      </a:r>
                      <a:endParaRPr/>
                    </a:p>
                  </a:txBody>
                  <a:tcPr marT="91425" marB="91425" marR="91425" marL="91425"/>
                </a:tc>
                <a:tc>
                  <a:txBody>
                    <a:bodyPr/>
                    <a:lstStyle/>
                    <a:p>
                      <a:pPr indent="0" lvl="0" marL="0" rtl="0" algn="l">
                        <a:spcBef>
                          <a:spcPts val="0"/>
                        </a:spcBef>
                        <a:spcAft>
                          <a:spcPts val="0"/>
                        </a:spcAft>
                        <a:buNone/>
                      </a:pPr>
                      <a:r>
                        <a:rPr lang="es" sz="1100"/>
                        <a:t>748</a:t>
                      </a:r>
                      <a:endParaRPr/>
                    </a:p>
                  </a:txBody>
                  <a:tcPr marT="91425" marB="91425" marR="91425" marL="91425"/>
                </a:tc>
              </a:tr>
              <a:tr h="381000">
                <a:tc>
                  <a:txBody>
                    <a:bodyPr/>
                    <a:lstStyle/>
                    <a:p>
                      <a:pPr indent="0" lvl="0" marL="0" rtl="0" algn="l">
                        <a:spcBef>
                          <a:spcPts val="0"/>
                        </a:spcBef>
                        <a:spcAft>
                          <a:spcPts val="0"/>
                        </a:spcAft>
                        <a:buNone/>
                      </a:pPr>
                      <a:r>
                        <a:rPr lang="es" sz="1100"/>
                        <a:t>Intel Core i5 9400F</a:t>
                      </a:r>
                      <a:endParaRPr/>
                    </a:p>
                  </a:txBody>
                  <a:tcPr marT="91425" marB="91425" marR="91425" marL="91425"/>
                </a:tc>
                <a:tc>
                  <a:txBody>
                    <a:bodyPr/>
                    <a:lstStyle/>
                    <a:p>
                      <a:pPr indent="0" lvl="0" marL="0" rtl="0" algn="l">
                        <a:spcBef>
                          <a:spcPts val="0"/>
                        </a:spcBef>
                        <a:spcAft>
                          <a:spcPts val="0"/>
                        </a:spcAft>
                        <a:buNone/>
                      </a:pPr>
                      <a:r>
                        <a:rPr lang="es"/>
                        <a:t>-</a:t>
                      </a:r>
                      <a:endParaRPr/>
                    </a:p>
                  </a:txBody>
                  <a:tcPr marT="91425" marB="91425" marR="91425" marL="91425"/>
                </a:tc>
                <a:tc>
                  <a:txBody>
                    <a:bodyPr/>
                    <a:lstStyle/>
                    <a:p>
                      <a:pPr indent="0" lvl="0" marL="0" rtl="0" algn="l">
                        <a:spcBef>
                          <a:spcPts val="0"/>
                        </a:spcBef>
                        <a:spcAft>
                          <a:spcPts val="0"/>
                        </a:spcAft>
                        <a:buNone/>
                      </a:pPr>
                      <a:r>
                        <a:rPr lang="es" sz="1100"/>
                        <a:t>546</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69125"/>
            <a:ext cx="8520600" cy="623700"/>
          </a:xfrm>
          <a:prstGeom prst="rect">
            <a:avLst/>
          </a:prstGeom>
        </p:spPr>
        <p:txBody>
          <a:bodyPr anchorCtr="0" anchor="ctr" bIns="91425" lIns="91425" spcFirstLastPara="1" rIns="91425" wrap="square" tIns="91425">
            <a:normAutofit/>
          </a:bodyPr>
          <a:lstStyle/>
          <a:p>
            <a:pPr indent="0" lvl="0" marL="0" rtl="0" algn="just">
              <a:lnSpc>
                <a:spcPct val="115000"/>
              </a:lnSpc>
              <a:spcBef>
                <a:spcPts val="2000"/>
              </a:spcBef>
              <a:spcAft>
                <a:spcPts val="600"/>
              </a:spcAft>
              <a:buNone/>
            </a:pPr>
            <a:r>
              <a:rPr b="1" lang="es" sz="2700">
                <a:solidFill>
                  <a:schemeClr val="dk1"/>
                </a:solidFill>
                <a:latin typeface="Times New Roman"/>
                <a:ea typeface="Times New Roman"/>
                <a:cs typeface="Times New Roman"/>
                <a:sym typeface="Times New Roman"/>
              </a:rPr>
              <a:t>4. Webgrafía.</a:t>
            </a:r>
            <a:endParaRPr sz="2700">
              <a:solidFill>
                <a:schemeClr val="dk1"/>
              </a:solidFill>
            </a:endParaRPr>
          </a:p>
        </p:txBody>
      </p:sp>
      <p:sp>
        <p:nvSpPr>
          <p:cNvPr id="158" name="Google Shape;158;p26"/>
          <p:cNvSpPr txBox="1"/>
          <p:nvPr>
            <p:ph idx="4294967295" type="body"/>
          </p:nvPr>
        </p:nvSpPr>
        <p:spPr>
          <a:xfrm>
            <a:off x="262500" y="465450"/>
            <a:ext cx="8619000" cy="4060200"/>
          </a:xfrm>
          <a:prstGeom prst="rect">
            <a:avLst/>
          </a:prstGeom>
        </p:spPr>
        <p:txBody>
          <a:bodyPr anchorCtr="0" anchor="t" bIns="91425" lIns="91425" spcFirstLastPara="1" rIns="91425" wrap="square" tIns="91425">
            <a:normAutofit fontScale="25000" lnSpcReduction="20000"/>
          </a:bodyPr>
          <a:lstStyle/>
          <a:p>
            <a:pPr indent="-317500" lvl="0" marL="457200" rtl="0" algn="l">
              <a:spcBef>
                <a:spcPts val="0"/>
              </a:spcBef>
              <a:spcAft>
                <a:spcPts val="0"/>
              </a:spcAft>
              <a:buClr>
                <a:srgbClr val="000000"/>
              </a:buClr>
              <a:buSzPct val="100000"/>
              <a:buFont typeface="Times New Roman"/>
              <a:buChar char="●"/>
            </a:pPr>
            <a:r>
              <a:rPr lang="es" sz="5600">
                <a:solidFill>
                  <a:srgbClr val="000000"/>
                </a:solidFill>
                <a:latin typeface="Times New Roman"/>
                <a:ea typeface="Times New Roman"/>
                <a:cs typeface="Times New Roman"/>
                <a:sym typeface="Times New Roman"/>
              </a:rPr>
              <a:t>Bigelow, S. J. (7 de marzo de 2022). </a:t>
            </a:r>
            <a:r>
              <a:rPr i="1" lang="es" sz="5600">
                <a:solidFill>
                  <a:srgbClr val="000000"/>
                </a:solidFill>
                <a:latin typeface="Times New Roman"/>
                <a:ea typeface="Times New Roman"/>
                <a:cs typeface="Times New Roman"/>
                <a:sym typeface="Times New Roman"/>
              </a:rPr>
              <a:t>Definition: multicore processor</a:t>
            </a:r>
            <a:r>
              <a:rPr lang="es" sz="5600">
                <a:solidFill>
                  <a:srgbClr val="000000"/>
                </a:solidFill>
                <a:latin typeface="Times New Roman"/>
                <a:ea typeface="Times New Roman"/>
                <a:cs typeface="Times New Roman"/>
                <a:sym typeface="Times New Roman"/>
              </a:rPr>
              <a:t>. TechTarget. </a:t>
            </a:r>
            <a:r>
              <a:rPr lang="es" sz="5600" u="sng">
                <a:solidFill>
                  <a:schemeClr val="hlink"/>
                </a:solidFill>
                <a:latin typeface="Times New Roman"/>
                <a:ea typeface="Times New Roman"/>
                <a:cs typeface="Times New Roman"/>
                <a:sym typeface="Times New Roman"/>
                <a:hlinkClick r:id="rId3"/>
              </a:rPr>
              <a:t>https://www.techtarget.com/searchdatacenter/definition/multi-core-processor</a:t>
            </a:r>
            <a:endParaRPr sz="56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ct val="100000"/>
              <a:buFont typeface="Times New Roman"/>
              <a:buChar char="●"/>
            </a:pPr>
            <a:r>
              <a:rPr lang="es" sz="5600">
                <a:solidFill>
                  <a:srgbClr val="000000"/>
                </a:solidFill>
                <a:latin typeface="Times New Roman"/>
                <a:ea typeface="Times New Roman"/>
                <a:cs typeface="Times New Roman"/>
                <a:sym typeface="Times New Roman"/>
              </a:rPr>
              <a:t>Bellis, M. (29 de abril de 2025). </a:t>
            </a:r>
            <a:r>
              <a:rPr i="1" lang="es" sz="5600">
                <a:solidFill>
                  <a:srgbClr val="000000"/>
                </a:solidFill>
                <a:latin typeface="Times New Roman"/>
                <a:ea typeface="Times New Roman"/>
                <a:cs typeface="Times New Roman"/>
                <a:sym typeface="Times New Roman"/>
              </a:rPr>
              <a:t>Intel Company History.</a:t>
            </a:r>
            <a:r>
              <a:rPr lang="es" sz="5600">
                <a:solidFill>
                  <a:srgbClr val="000000"/>
                </a:solidFill>
                <a:latin typeface="Times New Roman"/>
                <a:ea typeface="Times New Roman"/>
                <a:cs typeface="Times New Roman"/>
                <a:sym typeface="Times New Roman"/>
              </a:rPr>
              <a:t> ThoughtCo. </a:t>
            </a:r>
            <a:r>
              <a:rPr lang="es" sz="5600" u="sng">
                <a:solidFill>
                  <a:schemeClr val="hlink"/>
                </a:solidFill>
                <a:latin typeface="Times New Roman"/>
                <a:ea typeface="Times New Roman"/>
                <a:cs typeface="Times New Roman"/>
                <a:sym typeface="Times New Roman"/>
                <a:hlinkClick r:id="rId4"/>
              </a:rPr>
              <a:t>https://www.thoughtco.com/intel-history-1991923</a:t>
            </a:r>
            <a:endParaRPr sz="56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ct val="100000"/>
              <a:buFont typeface="Times New Roman"/>
              <a:buChar char="●"/>
            </a:pPr>
            <a:r>
              <a:rPr lang="es" sz="5600">
                <a:solidFill>
                  <a:srgbClr val="000000"/>
                </a:solidFill>
                <a:latin typeface="Times New Roman"/>
                <a:ea typeface="Times New Roman"/>
                <a:cs typeface="Times New Roman"/>
                <a:sym typeface="Times New Roman"/>
              </a:rPr>
              <a:t>Intel. (s.f.). </a:t>
            </a:r>
            <a:r>
              <a:rPr i="1" lang="es" sz="5600">
                <a:solidFill>
                  <a:srgbClr val="000000"/>
                </a:solidFill>
                <a:latin typeface="Times New Roman"/>
                <a:ea typeface="Times New Roman"/>
                <a:cs typeface="Times New Roman"/>
                <a:sym typeface="Times New Roman"/>
              </a:rPr>
              <a:t>Intel’s founding</a:t>
            </a:r>
            <a:r>
              <a:rPr lang="es" sz="5600">
                <a:solidFill>
                  <a:srgbClr val="000000"/>
                </a:solidFill>
                <a:latin typeface="Times New Roman"/>
                <a:ea typeface="Times New Roman"/>
                <a:cs typeface="Times New Roman"/>
                <a:sym typeface="Times New Roman"/>
              </a:rPr>
              <a:t>.  </a:t>
            </a:r>
            <a:r>
              <a:rPr lang="es" sz="5600" u="sng">
                <a:solidFill>
                  <a:schemeClr val="hlink"/>
                </a:solidFill>
                <a:latin typeface="Times New Roman"/>
                <a:ea typeface="Times New Roman"/>
                <a:cs typeface="Times New Roman"/>
                <a:sym typeface="Times New Roman"/>
                <a:hlinkClick r:id="rId5"/>
              </a:rPr>
              <a:t>https://www.intel.com/content/www/us/en/history/virtual-vault/articles/intels-founding.html</a:t>
            </a:r>
            <a:endParaRPr sz="56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ct val="100000"/>
              <a:buFont typeface="Times New Roman"/>
              <a:buChar char="●"/>
            </a:pPr>
            <a:r>
              <a:rPr lang="es" sz="5600">
                <a:solidFill>
                  <a:srgbClr val="000000"/>
                </a:solidFill>
                <a:latin typeface="Times New Roman"/>
                <a:ea typeface="Times New Roman"/>
                <a:cs typeface="Times New Roman"/>
                <a:sym typeface="Times New Roman"/>
              </a:rPr>
              <a:t>Karpov, A., Ryzhkov E. (2 de octubre de 2008). </a:t>
            </a:r>
            <a:r>
              <a:rPr i="1" lang="es" sz="5600">
                <a:solidFill>
                  <a:srgbClr val="000000"/>
                </a:solidFill>
                <a:latin typeface="Times New Roman"/>
                <a:ea typeface="Times New Roman"/>
                <a:cs typeface="Times New Roman"/>
                <a:sym typeface="Times New Roman"/>
              </a:rPr>
              <a:t>AMD64 (EM64T) architecture</a:t>
            </a:r>
            <a:r>
              <a:rPr lang="es" sz="5600">
                <a:solidFill>
                  <a:srgbClr val="000000"/>
                </a:solidFill>
                <a:latin typeface="Times New Roman"/>
                <a:ea typeface="Times New Roman"/>
                <a:cs typeface="Times New Roman"/>
                <a:sym typeface="Times New Roman"/>
              </a:rPr>
              <a:t>. </a:t>
            </a:r>
            <a:r>
              <a:rPr lang="es" sz="5600" u="sng">
                <a:solidFill>
                  <a:schemeClr val="hlink"/>
                </a:solidFill>
                <a:latin typeface="Times New Roman"/>
                <a:ea typeface="Times New Roman"/>
                <a:cs typeface="Times New Roman"/>
                <a:sym typeface="Times New Roman"/>
                <a:hlinkClick r:id="rId6"/>
              </a:rPr>
              <a:t>https://pvs-studio.com/en/blog/posts/a0029/</a:t>
            </a:r>
            <a:endParaRPr sz="56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ct val="100000"/>
              <a:buFont typeface="Times New Roman"/>
              <a:buChar char="●"/>
            </a:pPr>
            <a:r>
              <a:rPr i="1" lang="es" sz="5600">
                <a:solidFill>
                  <a:srgbClr val="000000"/>
                </a:solidFill>
                <a:latin typeface="Times New Roman"/>
                <a:ea typeface="Times New Roman"/>
                <a:cs typeface="Times New Roman"/>
                <a:sym typeface="Times New Roman"/>
              </a:rPr>
              <a:t>Microprocessor, Intel x86 evolution and main features. </a:t>
            </a:r>
            <a:r>
              <a:rPr lang="es" sz="5600">
                <a:solidFill>
                  <a:srgbClr val="000000"/>
                </a:solidFill>
                <a:latin typeface="Times New Roman"/>
                <a:ea typeface="Times New Roman"/>
                <a:cs typeface="Times New Roman"/>
                <a:sym typeface="Times New Roman"/>
              </a:rPr>
              <a:t>(6 de mayo de 2023). Geeksforgeeks. </a:t>
            </a:r>
            <a:r>
              <a:rPr lang="es" sz="5600" u="sng">
                <a:solidFill>
                  <a:schemeClr val="hlink"/>
                </a:solidFill>
                <a:latin typeface="Times New Roman"/>
                <a:ea typeface="Times New Roman"/>
                <a:cs typeface="Times New Roman"/>
                <a:sym typeface="Times New Roman"/>
                <a:hlinkClick r:id="rId7"/>
              </a:rPr>
              <a:t>https://www.geeksforgeeks.org/computer-organization-architecture/microprocessor-intel-x86-evolution-and-main-features/</a:t>
            </a:r>
            <a:endParaRPr sz="56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ct val="100000"/>
              <a:buFont typeface="Times New Roman"/>
              <a:buChar char="●"/>
            </a:pPr>
            <a:r>
              <a:rPr i="1" lang="es" sz="5600">
                <a:solidFill>
                  <a:srgbClr val="000000"/>
                </a:solidFill>
                <a:latin typeface="Times New Roman"/>
                <a:ea typeface="Times New Roman"/>
                <a:cs typeface="Times New Roman"/>
                <a:sym typeface="Times New Roman"/>
              </a:rPr>
              <a:t>Multicore Programming Guide. </a:t>
            </a:r>
            <a:r>
              <a:rPr lang="es" sz="5600">
                <a:solidFill>
                  <a:srgbClr val="000000"/>
                </a:solidFill>
                <a:latin typeface="Times New Roman"/>
                <a:ea typeface="Times New Roman"/>
                <a:cs typeface="Times New Roman"/>
                <a:sym typeface="Times New Roman"/>
              </a:rPr>
              <a:t>(2012). Texas Instruments. </a:t>
            </a:r>
            <a:r>
              <a:rPr lang="es" sz="5600" u="sng">
                <a:solidFill>
                  <a:schemeClr val="hlink"/>
                </a:solidFill>
                <a:latin typeface="Times New Roman"/>
                <a:ea typeface="Times New Roman"/>
                <a:cs typeface="Times New Roman"/>
                <a:sym typeface="Times New Roman"/>
                <a:hlinkClick r:id="rId8"/>
              </a:rPr>
              <a:t>https://www.ti.com/lit/an/sprab27b/sprab27b.pdf?&amp;ts=1763397440006&amp;ref_url=https%253A%252F%252F%252F</a:t>
            </a:r>
            <a:endParaRPr sz="56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ct val="100000"/>
              <a:buFont typeface="Times New Roman"/>
              <a:buChar char="●"/>
            </a:pPr>
            <a:r>
              <a:rPr lang="es" sz="5600">
                <a:solidFill>
                  <a:srgbClr val="000000"/>
                </a:solidFill>
                <a:latin typeface="Times New Roman"/>
                <a:ea typeface="Times New Roman"/>
                <a:cs typeface="Times New Roman"/>
                <a:sym typeface="Times New Roman"/>
              </a:rPr>
              <a:t>ScienceDirect. (s.f.). </a:t>
            </a:r>
            <a:r>
              <a:rPr i="1" lang="es" sz="5600">
                <a:solidFill>
                  <a:srgbClr val="000000"/>
                </a:solidFill>
                <a:latin typeface="Times New Roman"/>
                <a:ea typeface="Times New Roman"/>
                <a:cs typeface="Times New Roman"/>
                <a:sym typeface="Times New Roman"/>
              </a:rPr>
              <a:t>Intel Architecture. </a:t>
            </a:r>
            <a:r>
              <a:rPr lang="es" sz="5600" u="sng">
                <a:solidFill>
                  <a:schemeClr val="hlink"/>
                </a:solidFill>
                <a:latin typeface="Times New Roman"/>
                <a:ea typeface="Times New Roman"/>
                <a:cs typeface="Times New Roman"/>
                <a:sym typeface="Times New Roman"/>
                <a:hlinkClick r:id="rId9"/>
              </a:rPr>
              <a:t>https://www.sciencedirect.com/topics/computer-science/intel-architecture</a:t>
            </a:r>
            <a:endParaRPr sz="56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ct val="100000"/>
              <a:buFont typeface="Times New Roman"/>
              <a:buChar char="●"/>
            </a:pPr>
            <a:r>
              <a:rPr i="1" lang="es" sz="5600">
                <a:solidFill>
                  <a:srgbClr val="000000"/>
                </a:solidFill>
                <a:latin typeface="Times New Roman"/>
                <a:ea typeface="Times New Roman"/>
                <a:cs typeface="Times New Roman"/>
                <a:sym typeface="Times New Roman"/>
              </a:rPr>
              <a:t>What is a Multicore Processor?</a:t>
            </a:r>
            <a:r>
              <a:rPr lang="es" sz="5600">
                <a:solidFill>
                  <a:srgbClr val="000000"/>
                </a:solidFill>
                <a:latin typeface="Times New Roman"/>
                <a:ea typeface="Times New Roman"/>
                <a:cs typeface="Times New Roman"/>
                <a:sym typeface="Times New Roman"/>
              </a:rPr>
              <a:t> (23 de julio de 2025). Geeksforgeeks.</a:t>
            </a:r>
            <a:r>
              <a:rPr lang="es" sz="5600" u="sng">
                <a:solidFill>
                  <a:schemeClr val="hlink"/>
                </a:solidFill>
                <a:latin typeface="Times New Roman"/>
                <a:ea typeface="Times New Roman"/>
                <a:cs typeface="Times New Roman"/>
                <a:sym typeface="Times New Roman"/>
                <a:hlinkClick r:id="rId10"/>
              </a:rPr>
              <a:t>https://www.geeksforgeeks.org/computer-organization-architecture/what-is-a-multicore-processor/</a:t>
            </a:r>
            <a:endParaRPr sz="56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ct val="100000"/>
              <a:buFont typeface="Times New Roman"/>
              <a:buChar char="●"/>
            </a:pPr>
            <a:r>
              <a:rPr lang="es" sz="5600">
                <a:solidFill>
                  <a:srgbClr val="000000"/>
                </a:solidFill>
                <a:latin typeface="Times New Roman"/>
                <a:ea typeface="Times New Roman"/>
                <a:cs typeface="Times New Roman"/>
                <a:sym typeface="Times New Roman"/>
              </a:rPr>
              <a:t>Wikipedia. (17 de noviembre de 2025). </a:t>
            </a:r>
            <a:r>
              <a:rPr i="1" lang="es" sz="5600">
                <a:solidFill>
                  <a:srgbClr val="000000"/>
                </a:solidFill>
                <a:latin typeface="Times New Roman"/>
                <a:ea typeface="Times New Roman"/>
                <a:cs typeface="Times New Roman"/>
                <a:sym typeface="Times New Roman"/>
              </a:rPr>
              <a:t>Multi-core processor</a:t>
            </a:r>
            <a:r>
              <a:rPr lang="es" sz="5600">
                <a:solidFill>
                  <a:srgbClr val="000000"/>
                </a:solidFill>
                <a:latin typeface="Times New Roman"/>
                <a:ea typeface="Times New Roman"/>
                <a:cs typeface="Times New Roman"/>
                <a:sym typeface="Times New Roman"/>
              </a:rPr>
              <a:t>. </a:t>
            </a:r>
            <a:r>
              <a:rPr lang="es" sz="5600" u="sng">
                <a:solidFill>
                  <a:schemeClr val="hlink"/>
                </a:solidFill>
                <a:latin typeface="Times New Roman"/>
                <a:ea typeface="Times New Roman"/>
                <a:cs typeface="Times New Roman"/>
                <a:sym typeface="Times New Roman"/>
                <a:hlinkClick r:id="rId11"/>
              </a:rPr>
              <a:t>https://en.wikipedia.org/wiki/Multi-core_processor</a:t>
            </a:r>
            <a:endParaRPr sz="56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ct val="100000"/>
              <a:buChar char="●"/>
            </a:pPr>
            <a:r>
              <a:rPr lang="es" sz="5600">
                <a:solidFill>
                  <a:srgbClr val="000000"/>
                </a:solidFill>
                <a:latin typeface="Times New Roman"/>
                <a:ea typeface="Times New Roman"/>
                <a:cs typeface="Times New Roman"/>
                <a:sym typeface="Times New Roman"/>
              </a:rPr>
              <a:t>Wikipedia. (19 de noviembre 2025). </a:t>
            </a:r>
            <a:r>
              <a:rPr i="1" lang="es" sz="5600">
                <a:solidFill>
                  <a:srgbClr val="000000"/>
                </a:solidFill>
                <a:latin typeface="Times New Roman"/>
                <a:ea typeface="Times New Roman"/>
                <a:cs typeface="Times New Roman"/>
                <a:sym typeface="Times New Roman"/>
              </a:rPr>
              <a:t>x86-64</a:t>
            </a:r>
            <a:r>
              <a:rPr lang="es" sz="5600">
                <a:solidFill>
                  <a:srgbClr val="000000"/>
                </a:solidFill>
                <a:latin typeface="Times New Roman"/>
                <a:ea typeface="Times New Roman"/>
                <a:cs typeface="Times New Roman"/>
                <a:sym typeface="Times New Roman"/>
              </a:rPr>
              <a:t>. </a:t>
            </a:r>
            <a:r>
              <a:rPr lang="es" sz="5600" u="sng">
                <a:solidFill>
                  <a:schemeClr val="hlink"/>
                </a:solidFill>
                <a:latin typeface="Times New Roman"/>
                <a:ea typeface="Times New Roman"/>
                <a:cs typeface="Times New Roman"/>
                <a:sym typeface="Times New Roman"/>
                <a:hlinkClick r:id="rId12"/>
              </a:rPr>
              <a:t>https://en.wikipedia.org/wiki/X86-64</a:t>
            </a:r>
            <a:r>
              <a:rPr lang="es" sz="5600">
                <a:solidFill>
                  <a:srgbClr val="000000"/>
                </a:solidFill>
                <a:latin typeface="Arial"/>
                <a:ea typeface="Arial"/>
                <a:cs typeface="Arial"/>
                <a:sym typeface="Arial"/>
              </a:rPr>
              <a:t> 	</a:t>
            </a:r>
            <a:endParaRPr sz="5600">
              <a:solidFill>
                <a:srgbClr val="000000"/>
              </a:solidFill>
              <a:latin typeface="Arial"/>
              <a:ea typeface="Arial"/>
              <a:cs typeface="Arial"/>
              <a:sym typeface="Arial"/>
            </a:endParaRPr>
          </a:p>
          <a:p>
            <a:pPr indent="0" lvl="0" marL="457200" rtl="0" algn="just">
              <a:spcBef>
                <a:spcPts val="1200"/>
              </a:spcBef>
              <a:spcAft>
                <a:spcPts val="0"/>
              </a:spcAft>
              <a:buNone/>
            </a:pPr>
            <a:r>
              <a:t/>
            </a:r>
            <a:endParaRPr b="1" sz="1641">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700">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1100">
        <p14:prism dir="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311700" y="876725"/>
            <a:ext cx="7920300" cy="1244700"/>
          </a:xfrm>
          <a:prstGeom prst="rect">
            <a:avLst/>
          </a:prstGeom>
        </p:spPr>
        <p:txBody>
          <a:bodyPr anchorCtr="0" anchor="b" bIns="91425" lIns="91425" spcFirstLastPara="1" rIns="91425" wrap="square" tIns="91425">
            <a:normAutofit/>
          </a:bodyPr>
          <a:lstStyle/>
          <a:p>
            <a:pPr indent="0" lvl="0" marL="0" rtl="0" algn="just">
              <a:spcBef>
                <a:spcPts val="0"/>
              </a:spcBef>
              <a:spcAft>
                <a:spcPts val="0"/>
              </a:spcAft>
              <a:buNone/>
            </a:pPr>
            <a:r>
              <a:rPr lang="es" sz="5000"/>
              <a:t>Muchas gracias.</a:t>
            </a:r>
            <a:endParaRPr sz="5000"/>
          </a:p>
        </p:txBody>
      </p:sp>
      <p:sp>
        <p:nvSpPr>
          <p:cNvPr id="164" name="Google Shape;164;p27"/>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 sz="1700">
                <a:latin typeface="Times New Roman"/>
                <a:ea typeface="Times New Roman"/>
                <a:cs typeface="Times New Roman"/>
                <a:sym typeface="Times New Roman"/>
              </a:rPr>
              <a:t>P</a:t>
            </a:r>
            <a:r>
              <a:rPr lang="es" sz="1700">
                <a:latin typeface="Times New Roman"/>
                <a:ea typeface="Times New Roman"/>
                <a:cs typeface="Times New Roman"/>
                <a:sym typeface="Times New Roman"/>
              </a:rPr>
              <a:t>or vuestro tiempo y atención.</a:t>
            </a:r>
            <a:endParaRPr sz="1700">
              <a:latin typeface="Times New Roman"/>
              <a:ea typeface="Times New Roman"/>
              <a:cs typeface="Times New Roman"/>
              <a:sym typeface="Times New Roman"/>
            </a:endParaRPr>
          </a:p>
        </p:txBody>
      </p:sp>
    </p:spTree>
  </p:cSld>
  <p:clrMapOvr>
    <a:masterClrMapping/>
  </p:clrMapOvr>
  <mc:AlternateContent>
    <mc:Choice Requires="p14">
      <p:transition spd="slow" p14:dur="1100">
        <p14:prism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